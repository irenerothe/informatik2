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325" r:id="rId2"/>
    <p:sldId id="536" r:id="rId3"/>
    <p:sldId id="602" r:id="rId4"/>
    <p:sldId id="566" r:id="rId5"/>
    <p:sldId id="612" r:id="rId6"/>
    <p:sldId id="599" r:id="rId7"/>
    <p:sldId id="534" r:id="rId8"/>
    <p:sldId id="496" r:id="rId9"/>
    <p:sldId id="525" r:id="rId10"/>
    <p:sldId id="538" r:id="rId11"/>
    <p:sldId id="600" r:id="rId12"/>
    <p:sldId id="495" r:id="rId13"/>
    <p:sldId id="611" r:id="rId14"/>
    <p:sldId id="524" r:id="rId15"/>
    <p:sldId id="499" r:id="rId16"/>
    <p:sldId id="460" r:id="rId17"/>
    <p:sldId id="515" r:id="rId18"/>
    <p:sldId id="516" r:id="rId19"/>
    <p:sldId id="519" r:id="rId20"/>
    <p:sldId id="617" r:id="rId21"/>
    <p:sldId id="465" r:id="rId22"/>
    <p:sldId id="539" r:id="rId23"/>
    <p:sldId id="545" r:id="rId24"/>
    <p:sldId id="500" r:id="rId25"/>
    <p:sldId id="528" r:id="rId26"/>
    <p:sldId id="601" r:id="rId27"/>
    <p:sldId id="526" r:id="rId28"/>
    <p:sldId id="473" r:id="rId29"/>
    <p:sldId id="474" r:id="rId30"/>
    <p:sldId id="501" r:id="rId31"/>
    <p:sldId id="475" r:id="rId32"/>
    <p:sldId id="478" r:id="rId33"/>
    <p:sldId id="605" r:id="rId34"/>
    <p:sldId id="537" r:id="rId35"/>
    <p:sldId id="606" r:id="rId36"/>
    <p:sldId id="607" r:id="rId37"/>
    <p:sldId id="604" r:id="rId38"/>
    <p:sldId id="482" r:id="rId39"/>
    <p:sldId id="483" r:id="rId40"/>
    <p:sldId id="484" r:id="rId41"/>
    <p:sldId id="485" r:id="rId42"/>
    <p:sldId id="486" r:id="rId43"/>
    <p:sldId id="609" r:id="rId44"/>
    <p:sldId id="610" r:id="rId45"/>
    <p:sldId id="489" r:id="rId46"/>
    <p:sldId id="618" r:id="rId47"/>
    <p:sldId id="619" r:id="rId48"/>
    <p:sldId id="620" r:id="rId49"/>
    <p:sldId id="621" r:id="rId50"/>
    <p:sldId id="622" r:id="rId51"/>
    <p:sldId id="490" r:id="rId52"/>
    <p:sldId id="491" r:id="rId53"/>
    <p:sldId id="492" r:id="rId54"/>
    <p:sldId id="493" r:id="rId55"/>
    <p:sldId id="494" r:id="rId56"/>
    <p:sldId id="502" r:id="rId57"/>
    <p:sldId id="507" r:id="rId58"/>
    <p:sldId id="510" r:id="rId59"/>
    <p:sldId id="511" r:id="rId60"/>
    <p:sldId id="521" r:id="rId61"/>
    <p:sldId id="616" r:id="rId62"/>
    <p:sldId id="542" r:id="rId63"/>
    <p:sldId id="615" r:id="rId64"/>
    <p:sldId id="529" r:id="rId65"/>
    <p:sldId id="548" r:id="rId66"/>
    <p:sldId id="512" r:id="rId67"/>
    <p:sldId id="522" r:id="rId68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31">
          <p15:clr>
            <a:srgbClr val="A4A3A4"/>
          </p15:clr>
        </p15:guide>
        <p15:guide id="2" orient="horz" pos="3368">
          <p15:clr>
            <a:srgbClr val="A4A3A4"/>
          </p15:clr>
        </p15:guide>
        <p15:guide id="3" pos="471">
          <p15:clr>
            <a:srgbClr val="A4A3A4"/>
          </p15:clr>
        </p15:guide>
        <p15:guide id="4" pos="275">
          <p15:clr>
            <a:srgbClr val="A4A3A4"/>
          </p15:clr>
        </p15:guide>
        <p15:guide id="5" pos="4932">
          <p15:clr>
            <a:srgbClr val="A4A3A4"/>
          </p15:clr>
        </p15:guide>
        <p15:guide id="6" pos="25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0066"/>
    <a:srgbClr val="FF99CC"/>
    <a:srgbClr val="FFCCCC"/>
    <a:srgbClr val="990099"/>
    <a:srgbClr val="FFFFCC"/>
    <a:srgbClr val="CCFFCC"/>
    <a:srgbClr val="FFFFFF"/>
    <a:srgbClr val="C0C0C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97537" autoAdjust="0"/>
  </p:normalViewPr>
  <p:slideViewPr>
    <p:cSldViewPr snapToGrid="0">
      <p:cViewPr varScale="1">
        <p:scale>
          <a:sx n="63" d="100"/>
          <a:sy n="63" d="100"/>
        </p:scale>
        <p:origin x="1428" y="64"/>
      </p:cViewPr>
      <p:guideLst>
        <p:guide orient="horz" pos="2631"/>
        <p:guide orient="horz" pos="3368"/>
        <p:guide pos="471"/>
        <p:guide pos="275"/>
        <p:guide pos="4932"/>
        <p:guide pos="250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1.xml"/><Relationship Id="rId2" Type="http://schemas.openxmlformats.org/officeDocument/2006/relationships/slide" Target="slides/slide7.xml"/><Relationship Id="rId1" Type="http://schemas.openxmlformats.org/officeDocument/2006/relationships/slide" Target="slides/slide3.xml"/><Relationship Id="rId4" Type="http://schemas.openxmlformats.org/officeDocument/2006/relationships/slide" Target="slides/slide2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>
            <a:extLst>
              <a:ext uri="{FF2B5EF4-FFF2-40B4-BE49-F238E27FC236}">
                <a16:creationId xmlns:a16="http://schemas.microsoft.com/office/drawing/2014/main" id="{5158ADCD-B171-4973-A95E-53E1D9C411D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5491" name="Rectangle 3">
            <a:extLst>
              <a:ext uri="{FF2B5EF4-FFF2-40B4-BE49-F238E27FC236}">
                <a16:creationId xmlns:a16="http://schemas.microsoft.com/office/drawing/2014/main" id="{77148BBE-4246-43C2-A5F5-C2D0F59AD1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5492" name="Rectangle 4">
            <a:extLst>
              <a:ext uri="{FF2B5EF4-FFF2-40B4-BE49-F238E27FC236}">
                <a16:creationId xmlns:a16="http://schemas.microsoft.com/office/drawing/2014/main" id="{859702B1-1F3F-4B79-8834-4C5D81559FB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3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5493" name="Rectangle 5">
            <a:extLst>
              <a:ext uri="{FF2B5EF4-FFF2-40B4-BE49-F238E27FC236}">
                <a16:creationId xmlns:a16="http://schemas.microsoft.com/office/drawing/2014/main" id="{68F29812-8EA7-4B75-832E-36E4D576076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38600" y="9753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0B13F7B-DAC2-41D4-83D8-D29A3DEAA940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>
            <a:extLst>
              <a:ext uri="{FF2B5EF4-FFF2-40B4-BE49-F238E27FC236}">
                <a16:creationId xmlns:a16="http://schemas.microsoft.com/office/drawing/2014/main" id="{E84DF576-E5D2-4D47-BB9B-67B9C8B42CC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4307" name="Rectangle 3">
            <a:extLst>
              <a:ext uri="{FF2B5EF4-FFF2-40B4-BE49-F238E27FC236}">
                <a16:creationId xmlns:a16="http://schemas.microsoft.com/office/drawing/2014/main" id="{DB73C813-CADC-4A63-9A20-8BBE05D33CC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F41A000-04FA-4FE7-B883-2208542D43D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62000"/>
            <a:ext cx="5080000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4309" name="Rectangle 5">
            <a:extLst>
              <a:ext uri="{FF2B5EF4-FFF2-40B4-BE49-F238E27FC236}">
                <a16:creationId xmlns:a16="http://schemas.microsoft.com/office/drawing/2014/main" id="{42C14781-444F-4866-BC3B-BA69CDFBD24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54310" name="Rectangle 6">
            <a:extLst>
              <a:ext uri="{FF2B5EF4-FFF2-40B4-BE49-F238E27FC236}">
                <a16:creationId xmlns:a16="http://schemas.microsoft.com/office/drawing/2014/main" id="{6EA71036-2F83-4EAA-BC49-D9E4132E61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53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4311" name="Rectangle 7">
            <a:extLst>
              <a:ext uri="{FF2B5EF4-FFF2-40B4-BE49-F238E27FC236}">
                <a16:creationId xmlns:a16="http://schemas.microsoft.com/office/drawing/2014/main" id="{63BB897A-8961-4C68-B0A4-4ED80638ED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753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E200DD8-0200-448D-A879-C99458C285A6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5A9D6B16-88D1-4F5E-867F-9E531C5F73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1117E4-60BE-4BCA-A1A9-C41D9B4AF4DA}" type="slidenum">
              <a:rPr lang="de-DE" altLang="de-DE" smtClean="0"/>
              <a:pPr>
                <a:spcBef>
                  <a:spcPct val="0"/>
                </a:spcBef>
              </a:pPr>
              <a:t>1</a:t>
            </a:fld>
            <a:endParaRPr lang="de-DE" altLang="de-DE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0CDFA48-282B-4910-9AED-FEE6C992E9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0D20890-044A-466E-AE77-B991500C7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BB62A05-42F1-46CC-9AD2-5D76EB77625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38600" y="9753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6DA2B5-DD48-4EA1-9D6B-B1D0CC4081FD}" type="slidenum">
              <a:rPr lang="de-DE" altLang="de-DE"/>
              <a:pPr algn="r" eaLnBrk="1" hangingPunct="1">
                <a:spcBef>
                  <a:spcPct val="0"/>
                </a:spcBef>
              </a:pPr>
              <a:t>2</a:t>
            </a:fld>
            <a:endParaRPr lang="de-DE" altLang="de-DE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026C144-D359-4602-BE4D-8E77F4E26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5AA45F64-2482-4067-806D-7029B1387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496CCF30-FE06-4BCD-80F8-D3B8164219D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D923C45-5859-4FE9-B073-97B06A2A1F2B}" type="slidenum">
              <a:rPr lang="de-DE" altLang="de-DE" sz="1300"/>
              <a:pPr algn="r" eaLnBrk="1" hangingPunct="1">
                <a:spcBef>
                  <a:spcPct val="0"/>
                </a:spcBef>
              </a:pPr>
              <a:t>3</a:t>
            </a:fld>
            <a:endParaRPr lang="de-DE" altLang="de-DE" sz="1300"/>
          </a:p>
        </p:txBody>
      </p:sp>
      <p:sp>
        <p:nvSpPr>
          <p:cNvPr id="58371" name="Rectangle 7">
            <a:extLst>
              <a:ext uri="{FF2B5EF4-FFF2-40B4-BE49-F238E27FC236}">
                <a16:creationId xmlns:a16="http://schemas.microsoft.com/office/drawing/2014/main" id="{A9CD1717-527E-42CA-A341-555FE511CB0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B83472-0A9F-484E-AD92-87D8935A23D0}" type="slidenum">
              <a:rPr lang="de-DE" altLang="de-DE" sz="1300"/>
              <a:pPr algn="r" eaLnBrk="1" hangingPunct="1">
                <a:spcBef>
                  <a:spcPct val="0"/>
                </a:spcBef>
              </a:pPr>
              <a:t>3</a:t>
            </a:fld>
            <a:endParaRPr lang="de-DE" altLang="de-DE" sz="1300"/>
          </a:p>
        </p:txBody>
      </p:sp>
      <p:sp>
        <p:nvSpPr>
          <p:cNvPr id="58372" name="Rectangle 2">
            <a:extLst>
              <a:ext uri="{FF2B5EF4-FFF2-40B4-BE49-F238E27FC236}">
                <a16:creationId xmlns:a16="http://schemas.microsoft.com/office/drawing/2014/main" id="{F488E195-46BC-44D8-BE5C-67D9E4EDD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id="{65AC6E95-8202-4A16-9CFF-F5F2D4F51C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02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ACFA4762-77FE-4E5A-A2A9-C372F38C5C6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38600" y="9753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6AA2F7F-3E2D-48DD-86F6-383B6F2820A8}" type="slidenum">
              <a:rPr lang="de-DE" altLang="de-DE"/>
              <a:pPr algn="r" eaLnBrk="1" hangingPunct="1">
                <a:spcBef>
                  <a:spcPct val="0"/>
                </a:spcBef>
              </a:pPr>
              <a:t>4</a:t>
            </a:fld>
            <a:endParaRPr lang="de-DE" altLang="de-DE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0EF3E03-8D40-4FF3-A05C-AC6F7B8604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EE41E5E8-6280-41E0-91C6-C14EF39212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D34F7E98-CD4A-48CE-B663-453361F519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4F6F2B-14E2-4DAB-92BD-50021547898B}" type="slidenum">
              <a:rPr lang="de-DE" altLang="de-DE" smtClean="0"/>
              <a:pPr>
                <a:spcBef>
                  <a:spcPct val="0"/>
                </a:spcBef>
              </a:pPr>
              <a:t>5</a:t>
            </a:fld>
            <a:endParaRPr lang="de-DE" altLang="de-DE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09E06DA-5762-42FD-9FF1-C9D26ACEFA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81C98BD2-417B-44D2-BC9D-8CA7AD813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463" y="4714875"/>
            <a:ext cx="4984750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655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C3964E3-F045-409B-8E66-71CEB7A6606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38600" y="9753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fld id="{2254FC75-C0E9-4531-A61F-546E810D2D58}" type="slidenum">
              <a:rPr lang="de-DE" altLang="de-DE">
                <a:solidFill>
                  <a:srgbClr val="000000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6</a:t>
            </a:fld>
            <a:endParaRPr lang="de-DE" altLang="de-DE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C868A54-EABC-45CD-8FBC-260CE2CA8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1400" y="762000"/>
            <a:ext cx="5080000" cy="3810000"/>
          </a:xfrm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3D57234C-6F4F-4C54-B646-9FCB5DFB1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876800"/>
            <a:ext cx="5257800" cy="457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164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53F14159-255B-44CB-AB64-7BE7CD99EF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97E15FB-4F99-4745-B9BA-5632D5B2558E}" type="slidenum">
              <a:rPr lang="de-DE" altLang="de-DE" sz="1300"/>
              <a:pPr algn="r" eaLnBrk="1" hangingPunct="1">
                <a:spcBef>
                  <a:spcPct val="0"/>
                </a:spcBef>
              </a:pPr>
              <a:t>7</a:t>
            </a:fld>
            <a:endParaRPr lang="de-DE" altLang="de-DE" sz="13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6B9E23DA-2049-4902-8C4D-2FB5A1458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5668562-7B7E-4203-998C-B2D4F5BE5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B2E76DBC-1DD2-476E-A994-943D0F0937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85A15F-41BD-4FA3-AE21-18D0CD2C5328}" type="slidenum">
              <a:rPr lang="de-DE" altLang="de-DE" smtClean="0"/>
              <a:pPr>
                <a:spcBef>
                  <a:spcPct val="0"/>
                </a:spcBef>
              </a:pPr>
              <a:t>8</a:t>
            </a:fld>
            <a:endParaRPr lang="de-DE" altLang="de-DE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6BE103D8-5578-4253-8A73-38D681B3FB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4C7E69FD-6D88-4C27-A1DE-E8AA1FFE0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1A1889A4-B1B1-49D4-A609-7886BF1127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F32AF1B-C9FE-4FE8-B702-0AC93681095A}" type="slidenum">
              <a:rPr lang="de-DE" altLang="de-DE" smtClean="0"/>
              <a:pPr>
                <a:spcBef>
                  <a:spcPct val="0"/>
                </a:spcBef>
              </a:pPr>
              <a:t>9</a:t>
            </a:fld>
            <a:endParaRPr lang="de-DE" altLang="de-DE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CB0E36C-872B-451B-8546-F2B57BFFB8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80EED57-6DA8-45A2-89E8-23E37B108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865B1977-DCB6-4A98-923E-04A9ACA7CD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EEBC08-8F9B-4C6E-B350-3EF846B18F2F}" type="slidenum">
              <a:rPr lang="de-DE" altLang="de-DE" smtClean="0"/>
              <a:pPr>
                <a:spcBef>
                  <a:spcPct val="0"/>
                </a:spcBef>
              </a:pPr>
              <a:t>10</a:t>
            </a:fld>
            <a:endParaRPr lang="de-DE" altLang="de-DE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4FF86F2-B811-40B8-9B8C-6CAFF5CD91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3ACCD589-78F8-42B7-8267-1DD23B674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53F14159-255B-44CB-AB64-7BE7CD99EF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97E15FB-4F99-4745-B9BA-5632D5B2558E}" type="slidenum">
              <a:rPr lang="de-DE" altLang="de-DE" sz="1300"/>
              <a:pPr algn="r" eaLnBrk="1" hangingPunct="1">
                <a:spcBef>
                  <a:spcPct val="0"/>
                </a:spcBef>
              </a:pPr>
              <a:t>11</a:t>
            </a:fld>
            <a:endParaRPr lang="de-DE" altLang="de-DE" sz="13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6B9E23DA-2049-4902-8C4D-2FB5A1458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5668562-7B7E-4203-998C-B2D4F5BE5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271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9C198A03-416F-4AF6-9C4D-203A3E2C2A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09ECEF-239B-4A4F-8A8F-C4BC53364D88}" type="slidenum">
              <a:rPr lang="de-DE" altLang="de-DE" smtClean="0"/>
              <a:pPr>
                <a:spcBef>
                  <a:spcPct val="0"/>
                </a:spcBef>
              </a:pPr>
              <a:t>12</a:t>
            </a:fld>
            <a:endParaRPr lang="de-DE" altLang="de-DE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219AB54-9B95-4BBF-A6C5-43D2DAA18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9B7656A7-4CC3-41A1-AAA5-7C4367DE8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49ABA9DC-DEF0-4439-AEF6-0A5F588EC0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B0A8E7-0969-43E6-8724-0D1A2C7590AA}" type="slidenum">
              <a:rPr lang="de-DE" altLang="de-DE" smtClean="0"/>
              <a:pPr>
                <a:spcBef>
                  <a:spcPct val="0"/>
                </a:spcBef>
              </a:pPr>
              <a:t>13</a:t>
            </a:fld>
            <a:endParaRPr lang="de-DE" altLang="de-DE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08B30CF-AF64-49CF-BF7C-0937F2888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94B1AD98-1916-4B38-A519-1196AA4A2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190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FC419DCB-72B3-4F45-9860-41541A77D1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6494B3-C9E5-4D5A-BE60-C4072B417BB6}" type="slidenum">
              <a:rPr lang="de-DE" altLang="de-DE" smtClean="0"/>
              <a:pPr>
                <a:spcBef>
                  <a:spcPct val="0"/>
                </a:spcBef>
              </a:pPr>
              <a:t>14</a:t>
            </a:fld>
            <a:endParaRPr lang="de-DE" altLang="de-DE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A9B48CF-37C4-4045-B164-CAE8855F12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AE615643-36B6-4876-932D-8E49DDFFB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91097E3E-90AB-4F4F-AA4F-80CC844FBC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3E382D-3F4D-41BA-994A-E0F850AD022F}" type="slidenum">
              <a:rPr lang="de-DE" altLang="de-DE" smtClean="0"/>
              <a:pPr>
                <a:spcBef>
                  <a:spcPct val="0"/>
                </a:spcBef>
              </a:pPr>
              <a:t>15</a:t>
            </a:fld>
            <a:endParaRPr lang="de-DE" altLang="de-DE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C35DBB7-7F54-4DD5-A29C-D891EAD817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D5DE3680-F12E-4DFA-AA12-981011F12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BB3C5BBB-D789-415A-B822-EEDF997E19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A2F543-2D09-4D9D-9C83-719E5D7BEBD9}" type="slidenum">
              <a:rPr lang="de-DE" altLang="de-DE" smtClean="0"/>
              <a:pPr>
                <a:spcBef>
                  <a:spcPct val="0"/>
                </a:spcBef>
              </a:pPr>
              <a:t>16</a:t>
            </a:fld>
            <a:endParaRPr lang="de-DE" altLang="de-DE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8305D13-14BE-4C93-92F1-69A305401A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20BA984-0C4F-4C9B-9EAE-9092A671DB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4F755C62-4827-4620-8928-D07ED95664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CD47FE-D52F-4A74-9A7A-778D06ACEF59}" type="slidenum">
              <a:rPr lang="de-DE" altLang="de-DE" smtClean="0"/>
              <a:pPr>
                <a:spcBef>
                  <a:spcPct val="0"/>
                </a:spcBef>
              </a:pPr>
              <a:t>17</a:t>
            </a:fld>
            <a:endParaRPr lang="de-DE" altLang="de-DE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741066E-5ED6-43C0-B9CF-78E087E262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FA22BB8-5CA1-4222-AEE4-654B8B7022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E3F5D500-BD7F-499A-B888-FD827EF29E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428B51-A62D-4FEC-980F-6E4EBABFE8C5}" type="slidenum">
              <a:rPr lang="de-DE" altLang="de-DE" smtClean="0"/>
              <a:pPr>
                <a:spcBef>
                  <a:spcPct val="0"/>
                </a:spcBef>
              </a:pPr>
              <a:t>18</a:t>
            </a:fld>
            <a:endParaRPr lang="de-DE" altLang="de-DE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839FFCA-B4DC-49DD-9490-1914E33A8D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8974F4A1-2646-4403-B265-37B682AA1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CCE7916-D2F1-4F2B-B859-88A671F62A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E1428E-DC84-4177-831F-3FFEC2491EC5}" type="slidenum">
              <a:rPr lang="de-DE" altLang="de-DE" smtClean="0"/>
              <a:pPr>
                <a:spcBef>
                  <a:spcPct val="0"/>
                </a:spcBef>
              </a:pPr>
              <a:t>19</a:t>
            </a:fld>
            <a:endParaRPr lang="de-DE" altLang="de-DE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ADF59A3-CC2E-4E37-BBAB-468F45233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7208E7F-1230-4797-A04B-B73ADAD8F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CCE7916-D2F1-4F2B-B859-88A671F62A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E1428E-DC84-4177-831F-3FFEC2491EC5}" type="slidenum">
              <a:rPr lang="de-DE" altLang="de-DE" smtClean="0"/>
              <a:pPr>
                <a:spcBef>
                  <a:spcPct val="0"/>
                </a:spcBef>
              </a:pPr>
              <a:t>20</a:t>
            </a:fld>
            <a:endParaRPr lang="de-DE" altLang="de-DE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ADF59A3-CC2E-4E37-BBAB-468F45233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7208E7F-1230-4797-A04B-B73ADAD8F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105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DE245164-39CF-4335-9B77-2E6C3B2C1E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2FFE531-9F16-4D15-A1A1-39A5369879C8}" type="slidenum">
              <a:rPr lang="de-DE" altLang="de-DE" smtClean="0"/>
              <a:pPr>
                <a:spcBef>
                  <a:spcPct val="0"/>
                </a:spcBef>
              </a:pPr>
              <a:t>21</a:t>
            </a:fld>
            <a:endParaRPr lang="de-DE" altLang="de-DE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CA9A56A-45EC-4DB0-9A14-4FD02C1699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3716B46-E606-47C3-81A9-DEE6C4283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BDB3ED59-0D9F-4E4C-BE65-4848D95345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FE89E9-BDB2-4A84-9846-8C4BCE94491F}" type="slidenum">
              <a:rPr lang="de-DE" altLang="de-DE" smtClean="0"/>
              <a:pPr>
                <a:spcBef>
                  <a:spcPct val="0"/>
                </a:spcBef>
              </a:pPr>
              <a:t>22</a:t>
            </a:fld>
            <a:endParaRPr lang="de-DE" altLang="de-DE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5FEBD2B1-3EE8-4DE1-B7F9-5601EA3F17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E79CC0A-671D-4D85-8512-F49991EA33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96242E2D-D2A3-4BA7-8967-467BDF8F47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1AEB4C-8CE1-4D28-BFAB-183E9182C376}" type="slidenum">
              <a:rPr lang="de-DE" altLang="de-DE" smtClean="0"/>
              <a:pPr>
                <a:spcBef>
                  <a:spcPct val="0"/>
                </a:spcBef>
              </a:pPr>
              <a:t>23</a:t>
            </a:fld>
            <a:endParaRPr lang="de-DE" altLang="de-DE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51531908-1D25-4881-A2D5-63041B8CA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3E8C2284-4D5D-421F-AAE8-4FFBFA2E5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00BCB827-D542-4348-95F9-817CFA28B7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090B96-7AD5-48F5-B249-C06F5EB55E47}" type="slidenum">
              <a:rPr lang="de-DE" altLang="de-DE" smtClean="0"/>
              <a:pPr>
                <a:spcBef>
                  <a:spcPct val="0"/>
                </a:spcBef>
              </a:pPr>
              <a:t>24</a:t>
            </a:fld>
            <a:endParaRPr lang="de-DE" altLang="de-DE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16EB84DA-3FD4-48AD-9E6E-2A7C5795B6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9BCA2266-F91D-47D2-B300-C2CEE02D3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15E2894A-DEBB-4708-9276-984EA4A79F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549D7-5BEC-49AC-8F0D-27FAA6B7DDA9}" type="slidenum">
              <a:rPr lang="de-DE" altLang="de-DE" smtClean="0"/>
              <a:pPr>
                <a:spcBef>
                  <a:spcPct val="0"/>
                </a:spcBef>
              </a:pPr>
              <a:t>25</a:t>
            </a:fld>
            <a:endParaRPr lang="de-DE" altLang="de-DE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B4232D66-ADA6-42F3-9443-888EEC82D1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2081B18B-3B8C-4E24-82BC-3D30B68A6E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53F14159-255B-44CB-AB64-7BE7CD99EF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97E15FB-4F99-4745-B9BA-5632D5B2558E}" type="slidenum">
              <a:rPr lang="de-DE" altLang="de-DE" sz="1300"/>
              <a:pPr algn="r" eaLnBrk="1" hangingPunct="1">
                <a:spcBef>
                  <a:spcPct val="0"/>
                </a:spcBef>
              </a:pPr>
              <a:t>26</a:t>
            </a:fld>
            <a:endParaRPr lang="de-DE" altLang="de-DE" sz="13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6B9E23DA-2049-4902-8C4D-2FB5A1458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5668562-7B7E-4203-998C-B2D4F5BE5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380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5EE8E3B5-F3CD-43F6-9FFC-6CDE54D09F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A40CED-384D-4E3B-AE00-0B10EF4E6DEB}" type="slidenum">
              <a:rPr lang="de-DE" altLang="de-DE" smtClean="0"/>
              <a:pPr>
                <a:spcBef>
                  <a:spcPct val="0"/>
                </a:spcBef>
              </a:pPr>
              <a:t>27</a:t>
            </a:fld>
            <a:endParaRPr lang="de-DE" altLang="de-DE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80F87E6-DDBF-4348-8561-B21AF6759D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2E88F1D8-A91F-427E-80E0-62FD17DC87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DEDF4756-1F65-47FC-BD76-FBCAEFC2B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E877F1-F8D9-422A-9876-49C058275BCF}" type="slidenum">
              <a:rPr lang="de-DE" altLang="de-DE" smtClean="0"/>
              <a:pPr>
                <a:spcBef>
                  <a:spcPct val="0"/>
                </a:spcBef>
              </a:pPr>
              <a:t>28</a:t>
            </a:fld>
            <a:endParaRPr lang="de-DE" altLang="de-DE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BAC84A21-B62E-498C-B149-2305BDE1A2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90CC249F-9F30-40C2-98EF-EAFAFA3B4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097413EE-0F99-4571-92F9-5CF723F76B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9D45FC-CC33-488F-BE58-1DDC298BDA31}" type="slidenum">
              <a:rPr lang="de-DE" altLang="de-DE" smtClean="0"/>
              <a:pPr>
                <a:spcBef>
                  <a:spcPct val="0"/>
                </a:spcBef>
              </a:pPr>
              <a:t>29</a:t>
            </a:fld>
            <a:endParaRPr lang="de-DE" altLang="de-DE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DD1691E4-986A-4355-BEF6-EC07D94DF0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EAEEDC7-0FF8-490A-AFAF-9B8E79459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E5F82496-1E4C-48B9-A25E-E7413E979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47EC83-E27F-4F5E-B15F-068F9A69302F}" type="slidenum">
              <a:rPr lang="de-DE" altLang="de-DE" smtClean="0"/>
              <a:pPr>
                <a:spcBef>
                  <a:spcPct val="0"/>
                </a:spcBef>
              </a:pPr>
              <a:t>30</a:t>
            </a:fld>
            <a:endParaRPr lang="de-DE" altLang="de-DE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BA61082-D1D3-4AC2-BE86-370DB0DC38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DC50E485-AC62-4F8E-AB26-08EF07F4E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35096DE3-80D9-4754-A936-29B7AEBA16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E615E3-4B9E-4677-91AD-253C6AAA6027}" type="slidenum">
              <a:rPr lang="de-DE" altLang="de-DE" smtClean="0"/>
              <a:pPr>
                <a:spcBef>
                  <a:spcPct val="0"/>
                </a:spcBef>
              </a:pPr>
              <a:t>31</a:t>
            </a:fld>
            <a:endParaRPr lang="de-DE" altLang="de-DE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B5FACEA7-35D8-4829-9825-E3365F9DD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8451DC8E-9EEA-45E9-BD0D-B88CB20AE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C3A81E16-9517-4FA9-AD03-94F0A122D1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33E278-9FA4-4E33-8ED2-87D9589E7F7E}" type="slidenum">
              <a:rPr lang="de-DE" altLang="de-DE" smtClean="0"/>
              <a:pPr>
                <a:spcBef>
                  <a:spcPct val="0"/>
                </a:spcBef>
              </a:pPr>
              <a:t>32</a:t>
            </a:fld>
            <a:endParaRPr lang="de-DE" altLang="de-DE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C93E69F0-5EDF-434A-8391-1B9EB057B0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FDC23718-A01F-4D5A-81E7-9F03352514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C3A81E16-9517-4FA9-AD03-94F0A122D1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33E278-9FA4-4E33-8ED2-87D9589E7F7E}" type="slidenum">
              <a:rPr lang="de-DE" altLang="de-DE" smtClean="0"/>
              <a:pPr>
                <a:spcBef>
                  <a:spcPct val="0"/>
                </a:spcBef>
              </a:pPr>
              <a:t>33</a:t>
            </a:fld>
            <a:endParaRPr lang="de-DE" altLang="de-DE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C93E69F0-5EDF-434A-8391-1B9EB057B0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FDC23718-A01F-4D5A-81E7-9F03352514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5235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2C542701-2FF6-4634-9BBB-5032FA38B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4ADF7B-E0B8-4715-9416-073C507AE2AC}" type="slidenum">
              <a:rPr lang="de-DE" altLang="de-DE" smtClean="0"/>
              <a:pPr>
                <a:spcBef>
                  <a:spcPct val="0"/>
                </a:spcBef>
              </a:pPr>
              <a:t>34</a:t>
            </a:fld>
            <a:endParaRPr lang="de-DE" altLang="de-DE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EEC4AF29-F4FE-400A-9FAC-2B5912CB9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D9041FBE-3EB5-4F36-B01F-050265671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2C542701-2FF6-4634-9BBB-5032FA38B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4ADF7B-E0B8-4715-9416-073C507AE2AC}" type="slidenum">
              <a:rPr lang="de-DE" altLang="de-DE" smtClean="0"/>
              <a:pPr>
                <a:spcBef>
                  <a:spcPct val="0"/>
                </a:spcBef>
              </a:pPr>
              <a:t>35</a:t>
            </a:fld>
            <a:endParaRPr lang="de-DE" altLang="de-DE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EEC4AF29-F4FE-400A-9FAC-2B5912CB9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D9041FBE-3EB5-4F36-B01F-050265671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0493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2C542701-2FF6-4634-9BBB-5032FA38B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4ADF7B-E0B8-4715-9416-073C507AE2AC}" type="slidenum">
              <a:rPr lang="de-DE" altLang="de-DE" smtClean="0"/>
              <a:pPr>
                <a:spcBef>
                  <a:spcPct val="0"/>
                </a:spcBef>
              </a:pPr>
              <a:t>36</a:t>
            </a:fld>
            <a:endParaRPr lang="de-DE" altLang="de-DE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EEC4AF29-F4FE-400A-9FAC-2B5912CB9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D9041FBE-3EB5-4F36-B01F-050265671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6536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2C542701-2FF6-4634-9BBB-5032FA38B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4ADF7B-E0B8-4715-9416-073C507AE2AC}" type="slidenum">
              <a:rPr lang="de-DE" altLang="de-DE" smtClean="0"/>
              <a:pPr>
                <a:spcBef>
                  <a:spcPct val="0"/>
                </a:spcBef>
              </a:pPr>
              <a:t>37</a:t>
            </a:fld>
            <a:endParaRPr lang="de-DE" altLang="de-DE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EEC4AF29-F4FE-400A-9FAC-2B5912CB9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D9041FBE-3EB5-4F36-B01F-050265671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0596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50276E52-7F4A-4844-A04D-7AB79EA88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A644BA-9A2D-436A-9821-C8EE86A8062F}" type="slidenum">
              <a:rPr lang="de-DE" altLang="de-DE" smtClean="0"/>
              <a:pPr>
                <a:spcBef>
                  <a:spcPct val="0"/>
                </a:spcBef>
              </a:pPr>
              <a:t>38</a:t>
            </a:fld>
            <a:endParaRPr lang="de-DE" altLang="de-DE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97CABD36-9257-43D5-BCBB-C3229C2A7E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1F275B0A-D3D2-4CAC-BCC3-08C6C1B9B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F871AD63-6BE3-48D2-9E24-7A8B77CCD0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D00AD0-F6F5-4337-8212-82134BD0274F}" type="slidenum">
              <a:rPr lang="de-DE" altLang="de-DE" smtClean="0"/>
              <a:pPr>
                <a:spcBef>
                  <a:spcPct val="0"/>
                </a:spcBef>
              </a:pPr>
              <a:t>39</a:t>
            </a:fld>
            <a:endParaRPr lang="de-DE" altLang="de-DE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5A5BB776-4BCE-41EA-AE33-4B57D995B1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585FE72C-26D1-4047-A5B5-05416CC67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432908F6-5BF3-484D-8898-408F060AB4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DDACE9A-B545-4D39-9A22-99674FD8E151}" type="slidenum">
              <a:rPr lang="de-DE" altLang="de-DE" smtClean="0"/>
              <a:pPr>
                <a:spcBef>
                  <a:spcPct val="0"/>
                </a:spcBef>
              </a:pPr>
              <a:t>40</a:t>
            </a:fld>
            <a:endParaRPr lang="de-DE" altLang="de-DE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1A4F895-4B3C-4187-B7FC-026D2782F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DB8C976-EC85-4E6C-9604-BC6D0B244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BAC25A3C-01DB-4B7C-8CF6-1A0EDC92B5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F0EA1D-B70A-423E-B70F-97767CECB3FF}" type="slidenum">
              <a:rPr lang="de-DE" altLang="de-DE" smtClean="0"/>
              <a:pPr>
                <a:spcBef>
                  <a:spcPct val="0"/>
                </a:spcBef>
              </a:pPr>
              <a:t>41</a:t>
            </a:fld>
            <a:endParaRPr lang="de-DE" altLang="de-DE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D5E84E6D-9B40-4E58-906E-1B19A29869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7A9592E6-D396-4537-A342-EC66AE2E4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10CE9001-0BF5-4C3E-B5F4-DA58ED97A2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2F48C6-0A26-4D23-AAA7-5CE914B9DFD2}" type="slidenum">
              <a:rPr lang="de-DE" altLang="de-DE" smtClean="0"/>
              <a:pPr>
                <a:spcBef>
                  <a:spcPct val="0"/>
                </a:spcBef>
              </a:pPr>
              <a:t>42</a:t>
            </a:fld>
            <a:endParaRPr lang="de-DE" altLang="de-DE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2C05359D-D0C7-4138-8438-35CEEED592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9E1AE48-9F05-446D-92E3-AF4A6F1A32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23E9D4C7-6375-4CCF-BF2B-F911DAB551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3D4833-2EDD-4CF5-9008-FFDB6FAAA5DB}" type="slidenum">
              <a:rPr lang="de-DE" altLang="de-DE" smtClean="0"/>
              <a:pPr>
                <a:spcBef>
                  <a:spcPct val="0"/>
                </a:spcBef>
              </a:pPr>
              <a:t>43</a:t>
            </a:fld>
            <a:endParaRPr lang="de-DE" altLang="de-DE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C0E93AAF-BEF6-43EE-A914-646B7DB6A0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A1C69B5F-B540-4343-9198-29A7DD2C0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23E9D4C7-6375-4CCF-BF2B-F911DAB551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3D4833-2EDD-4CF5-9008-FFDB6FAAA5DB}" type="slidenum">
              <a:rPr lang="de-DE" altLang="de-DE" smtClean="0"/>
              <a:pPr>
                <a:spcBef>
                  <a:spcPct val="0"/>
                </a:spcBef>
              </a:pPr>
              <a:t>44</a:t>
            </a:fld>
            <a:endParaRPr lang="de-DE" altLang="de-DE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C0E93AAF-BEF6-43EE-A914-646B7DB6A0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A1C69B5F-B540-4343-9198-29A7DD2C0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FE7DADDE-E52F-4848-B52E-5B79B92E91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5A455C-D83D-46FC-B141-604BB1ABDFF5}" type="slidenum">
              <a:rPr lang="de-DE" altLang="de-DE" smtClean="0"/>
              <a:pPr>
                <a:spcBef>
                  <a:spcPct val="0"/>
                </a:spcBef>
              </a:pPr>
              <a:t>45</a:t>
            </a:fld>
            <a:endParaRPr lang="de-DE" altLang="de-DE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EE59B691-80C9-47C3-BAB2-121D5DBE50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004A15B4-83D8-404A-AA09-9A5F193154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66BD978-F39A-4FA6-BB04-837A085AEA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923D1D3-45E9-4E91-B380-4B9B6610A872}" type="slidenum">
              <a:rPr lang="de-DE" altLang="de-DE" smtClean="0"/>
              <a:pPr>
                <a:spcBef>
                  <a:spcPct val="0"/>
                </a:spcBef>
              </a:pPr>
              <a:t>46</a:t>
            </a:fld>
            <a:endParaRPr lang="de-DE" altLang="de-DE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0AC2D41-9CAE-4464-9B32-35D49F0971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D16A6A2-8DF7-40C6-8AE3-B4F069E0BE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00891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92AB4972-8224-4E3B-9DE6-8EAB43A2C6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4578C3-6CB2-46E7-9462-8C9925A9F320}" type="slidenum">
              <a:rPr lang="de-DE" altLang="de-DE" smtClean="0"/>
              <a:pPr>
                <a:spcBef>
                  <a:spcPct val="0"/>
                </a:spcBef>
              </a:pPr>
              <a:t>47</a:t>
            </a:fld>
            <a:endParaRPr lang="de-DE" altLang="de-DE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7DB52B06-E79A-471A-A138-6E0727BB7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2516AD80-24DA-41E7-82CB-6E4DA43EA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7148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B11043DD-A12F-491A-9D55-4B8BE24D6D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83F366-09B0-4CFB-BE70-D651AB9FB7AA}" type="slidenum">
              <a:rPr lang="de-DE" altLang="de-DE" smtClean="0"/>
              <a:pPr>
                <a:spcBef>
                  <a:spcPct val="0"/>
                </a:spcBef>
              </a:pPr>
              <a:t>48</a:t>
            </a:fld>
            <a:endParaRPr lang="de-DE" altLang="de-DE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D6702EBE-5C3F-4416-B498-957C1F2341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F0C0350D-1EDF-4104-A979-37C3E621A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092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A129F478-02CF-43B8-91D7-2798A2297E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018EE2B-2F55-43FC-BE72-68EAA8E1940D}" type="slidenum">
              <a:rPr lang="de-DE" altLang="de-DE" smtClean="0"/>
              <a:pPr>
                <a:spcBef>
                  <a:spcPct val="0"/>
                </a:spcBef>
              </a:pPr>
              <a:t>49</a:t>
            </a:fld>
            <a:endParaRPr lang="de-DE" altLang="de-DE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D2A24CA2-6316-4E20-BC7D-0F217CE5D0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6B904FEA-FDCF-44FD-BEBE-AAC85E4B4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8507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D7D2E3C2-E2EC-44CB-963D-73B2C00AD3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3F5E7A-8F17-4F66-9E82-A9264E254624}" type="slidenum">
              <a:rPr lang="de-DE" altLang="de-DE" smtClean="0"/>
              <a:pPr>
                <a:spcBef>
                  <a:spcPct val="0"/>
                </a:spcBef>
              </a:pPr>
              <a:t>50</a:t>
            </a:fld>
            <a:endParaRPr lang="de-DE" altLang="de-DE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C6538C00-02E2-440C-8B8F-7190E92C1C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E5A66A39-3ABA-4B8E-AEF2-2E8A92C17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483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66BD978-F39A-4FA6-BB04-837A085AEA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923D1D3-45E9-4E91-B380-4B9B6610A872}" type="slidenum">
              <a:rPr lang="de-DE" altLang="de-DE" smtClean="0"/>
              <a:pPr>
                <a:spcBef>
                  <a:spcPct val="0"/>
                </a:spcBef>
              </a:pPr>
              <a:t>51</a:t>
            </a:fld>
            <a:endParaRPr lang="de-DE" altLang="de-DE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0AC2D41-9CAE-4464-9B32-35D49F0971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D16A6A2-8DF7-40C6-8AE3-B4F069E0BE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23062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92AB4972-8224-4E3B-9DE6-8EAB43A2C6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4578C3-6CB2-46E7-9462-8C9925A9F320}" type="slidenum">
              <a:rPr lang="de-DE" altLang="de-DE" smtClean="0"/>
              <a:pPr>
                <a:spcBef>
                  <a:spcPct val="0"/>
                </a:spcBef>
              </a:pPr>
              <a:t>52</a:t>
            </a:fld>
            <a:endParaRPr lang="de-DE" altLang="de-DE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7DB52B06-E79A-471A-A138-6E0727BB7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2516AD80-24DA-41E7-82CB-6E4DA43EA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7348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B11043DD-A12F-491A-9D55-4B8BE24D6D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83F366-09B0-4CFB-BE70-D651AB9FB7AA}" type="slidenum">
              <a:rPr lang="de-DE" altLang="de-DE" smtClean="0"/>
              <a:pPr>
                <a:spcBef>
                  <a:spcPct val="0"/>
                </a:spcBef>
              </a:pPr>
              <a:t>53</a:t>
            </a:fld>
            <a:endParaRPr lang="de-DE" altLang="de-DE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D6702EBE-5C3F-4416-B498-957C1F2341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F0C0350D-1EDF-4104-A979-37C3E621A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9075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A129F478-02CF-43B8-91D7-2798A2297E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018EE2B-2F55-43FC-BE72-68EAA8E1940D}" type="slidenum">
              <a:rPr lang="de-DE" altLang="de-DE" smtClean="0"/>
              <a:pPr>
                <a:spcBef>
                  <a:spcPct val="0"/>
                </a:spcBef>
              </a:pPr>
              <a:t>54</a:t>
            </a:fld>
            <a:endParaRPr lang="de-DE" altLang="de-DE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D2A24CA2-6316-4E20-BC7D-0F217CE5D0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6B904FEA-FDCF-44FD-BEBE-AAC85E4B4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3744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D7D2E3C2-E2EC-44CB-963D-73B2C00AD3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3F5E7A-8F17-4F66-9E82-A9264E254624}" type="slidenum">
              <a:rPr lang="de-DE" altLang="de-DE" smtClean="0"/>
              <a:pPr>
                <a:spcBef>
                  <a:spcPct val="0"/>
                </a:spcBef>
              </a:pPr>
              <a:t>55</a:t>
            </a:fld>
            <a:endParaRPr lang="de-DE" altLang="de-DE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C6538C00-02E2-440C-8B8F-7190E92C1C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E5A66A39-3ABA-4B8E-AEF2-2E8A92C17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8007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33FD1535-A1EA-4A32-BF11-A1149C85CE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BDDE3D-E6B4-407F-8351-AFA6736970D9}" type="slidenum">
              <a:rPr lang="de-DE" altLang="de-DE" smtClean="0"/>
              <a:pPr>
                <a:spcBef>
                  <a:spcPct val="0"/>
                </a:spcBef>
              </a:pPr>
              <a:t>56</a:t>
            </a:fld>
            <a:endParaRPr lang="de-DE" altLang="de-DE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D985E968-227A-4C52-AD16-C405F91AC3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EC324E1-0204-4EB6-91C0-2CDC51DFF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4438DCE2-1875-45CE-B5A3-817895EAE4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53994A-5727-4927-9FC7-CA78B11E7C93}" type="slidenum">
              <a:rPr lang="de-DE" altLang="de-DE" smtClean="0"/>
              <a:pPr>
                <a:spcBef>
                  <a:spcPct val="0"/>
                </a:spcBef>
              </a:pPr>
              <a:t>57</a:t>
            </a:fld>
            <a:endParaRPr lang="de-DE" altLang="de-DE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AC251965-3311-47C7-8A9C-38FE682E5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2B10191B-0BF2-4484-B6CA-E1C41BEBA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0B67A1BF-6AF1-4A83-948B-E06CD7AE0E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C818CA-B868-44CE-AAE3-2A0430A37CAC}" type="slidenum">
              <a:rPr lang="de-DE" altLang="de-DE" smtClean="0"/>
              <a:pPr>
                <a:spcBef>
                  <a:spcPct val="0"/>
                </a:spcBef>
              </a:pPr>
              <a:t>58</a:t>
            </a:fld>
            <a:endParaRPr lang="de-DE" altLang="de-DE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596DB75A-A102-457B-A369-9AB9B90483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5535FF5F-0BDC-4DA8-93BB-432035C81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C2A16667-DD6E-4852-8F0C-910F066C78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C06C86-6964-454D-BD34-6326385277AF}" type="slidenum">
              <a:rPr lang="de-DE" altLang="de-DE" smtClean="0"/>
              <a:pPr>
                <a:spcBef>
                  <a:spcPct val="0"/>
                </a:spcBef>
              </a:pPr>
              <a:t>59</a:t>
            </a:fld>
            <a:endParaRPr lang="de-DE" altLang="de-DE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393C96B4-7127-4479-8A20-ED2CC9D247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7123A18B-10F1-4048-B84C-4636F0064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7A0EBAA7-8D67-4A43-938E-E2EE41B28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0F9DA7-347B-45EB-9E26-FE5D3F65336A}" type="slidenum">
              <a:rPr lang="de-DE" altLang="de-DE" smtClean="0"/>
              <a:pPr>
                <a:spcBef>
                  <a:spcPct val="0"/>
                </a:spcBef>
              </a:pPr>
              <a:t>60</a:t>
            </a:fld>
            <a:endParaRPr lang="de-DE" altLang="de-DE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92D21A68-E20F-4F55-A1D1-9A8DF71E9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E020ACBE-548E-4F76-970A-711CCE6D9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7A0EBAA7-8D67-4A43-938E-E2EE41B28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0F9DA7-347B-45EB-9E26-FE5D3F65336A}" type="slidenum">
              <a:rPr lang="de-DE" altLang="de-DE" smtClean="0"/>
              <a:pPr>
                <a:spcBef>
                  <a:spcPct val="0"/>
                </a:spcBef>
              </a:pPr>
              <a:t>61</a:t>
            </a:fld>
            <a:endParaRPr lang="de-DE" altLang="de-DE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92D21A68-E20F-4F55-A1D1-9A8DF71E9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E020ACBE-548E-4F76-970A-711CCE6D9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19136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113C675B-30D7-48B3-A8D5-33F592BDDE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C8A2A1-AA76-4407-970F-EF807BBAFB39}" type="slidenum">
              <a:rPr lang="de-DE" altLang="de-DE" smtClean="0"/>
              <a:pPr>
                <a:spcBef>
                  <a:spcPct val="0"/>
                </a:spcBef>
              </a:pPr>
              <a:t>62</a:t>
            </a:fld>
            <a:endParaRPr lang="de-DE" altLang="de-DE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5EF2A9C0-070C-429A-87B8-D78B6CEF0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95088126-A770-469D-98D5-3F097A8ED3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4707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113C675B-30D7-48B3-A8D5-33F592BDDE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C8A2A1-AA76-4407-970F-EF807BBAFB39}" type="slidenum">
              <a:rPr lang="de-DE" altLang="de-DE" smtClean="0"/>
              <a:pPr>
                <a:spcBef>
                  <a:spcPct val="0"/>
                </a:spcBef>
              </a:pPr>
              <a:t>63</a:t>
            </a:fld>
            <a:endParaRPr lang="de-DE" altLang="de-DE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5EF2A9C0-070C-429A-87B8-D78B6CEF0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95088126-A770-469D-98D5-3F097A8ED3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9BBD2179-A9F5-440B-A88B-BC5B90EE19C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38600" y="9753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33C8ED7-9FBA-4C69-B866-90F600CFADA3}" type="slidenum">
              <a:rPr lang="de-DE" altLang="de-DE"/>
              <a:pPr algn="r" eaLnBrk="1" hangingPunct="1">
                <a:spcBef>
                  <a:spcPct val="0"/>
                </a:spcBef>
              </a:pPr>
              <a:t>64</a:t>
            </a:fld>
            <a:endParaRPr lang="de-DE" altLang="de-DE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8A191540-354B-4C79-B4D3-96410CA246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B36FBA96-6E98-4EF2-9575-E75EFB1FB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BB604DF5-3DB1-4631-82A4-E92D8EDC53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38600" y="9753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7F1CC7F-6353-43C2-9119-278D04CF9554}" type="slidenum">
              <a:rPr lang="de-DE" altLang="de-DE"/>
              <a:pPr algn="r" eaLnBrk="1" hangingPunct="1">
                <a:spcBef>
                  <a:spcPct val="0"/>
                </a:spcBef>
              </a:pPr>
              <a:t>65</a:t>
            </a:fld>
            <a:endParaRPr lang="de-DE" altLang="de-DE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F5CCBD06-1BC2-4E29-8E1A-A313303BF7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788D402C-C63C-40A8-8378-5788111ED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09667934-8BDC-4489-B854-D8C340EC37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80ACED-BD49-4662-8932-1EFFCDEE2C8E}" type="slidenum">
              <a:rPr lang="de-DE" altLang="de-DE" smtClean="0"/>
              <a:pPr>
                <a:spcBef>
                  <a:spcPct val="0"/>
                </a:spcBef>
              </a:pPr>
              <a:t>66</a:t>
            </a:fld>
            <a:endParaRPr lang="de-DE" altLang="de-DE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19F8787B-0F13-458D-8DDA-0DDAEF9FAE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95C1B50-E99A-452E-80C3-F933F4C07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EE906D2-0D79-4A7D-9596-FC3DF7F931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98715F7-8F1A-4C31-8873-D20F5FDC362C}" type="slidenum">
              <a:rPr lang="de-DE" altLang="de-DE" smtClean="0"/>
              <a:pPr>
                <a:spcBef>
                  <a:spcPct val="0"/>
                </a:spcBef>
              </a:pPr>
              <a:t>67</a:t>
            </a:fld>
            <a:endParaRPr lang="de-DE" altLang="de-DE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E00456EC-341E-4D19-B421-47E752B1DD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7E2F20A9-0DAD-4A1C-BCEA-04299EDE4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4EC21-63B1-4AC9-94BE-612678196B7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AF131-E2CD-44E0-8A12-2FF67BA99A5E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6492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8DA2560-E6C7-4C74-AAC3-45A7EFFC8E0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32819-51E9-4217-A613-1DC2570C461E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99922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4EC7739-7DF7-4C84-AF6A-66EA7D9A85D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0007CA-4698-494D-B5CC-11A43089635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2485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981075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B39543F-A881-478D-A12D-FF7FA59155B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05B9C-8302-4AB3-8F7D-F94159F9034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9795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9C942-414A-4115-A23E-AAECD4C4F7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8BB14-E063-4D3A-AF62-CF7FCA4B712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825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21D813A-11B6-4729-AB1E-0CADB9EB6B2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7A49A2-87C5-4EA0-96C1-D6C712AABF11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1434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F798B733-9D8A-4DE9-83AD-13A4528C9F3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635A4-A53F-4487-A55F-F6A340182C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668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471D5F-B6ED-46E9-8E70-8178D2879F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AD9DB-B450-4E17-9664-4D23154B3056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4786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EEE1685-5CFB-4214-835E-3F0156591A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5CA7E-2F98-4FF2-BF9F-A70C3E31D1D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21190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DD39ED3-805F-4709-9C88-1A7FDD161F1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7F52B-875A-46E7-B833-23E7A3BCB48E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0433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3247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3247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2114738-13E7-4E6D-B2EB-43175C96B7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314AB-9C1C-42D7-83E5-20795B9867F8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85170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63341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981075"/>
            <a:ext cx="8229600" cy="5111750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675A4A8-2DE0-4AB0-AD72-FF7D55CB92D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26B0C7-D98F-4C56-82ED-951B8CC83A78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781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FEF7DA6-54D7-449C-8E70-CADF99B61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8229600" cy="6334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AF3D540-3046-4AF1-9096-2557DE794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81075"/>
            <a:ext cx="822960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0AB8EDC-AE69-4604-9297-A51A4C7777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210300"/>
            <a:ext cx="200183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0DF63E9-9DA4-4FE1-8115-382A48771EF6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029" name="Oval 8">
            <a:extLst>
              <a:ext uri="{FF2B5EF4-FFF2-40B4-BE49-F238E27FC236}">
                <a16:creationId xmlns:a16="http://schemas.microsoft.com/office/drawing/2014/main" id="{93BC8912-9F83-4699-B952-701077711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3" y="6265863"/>
            <a:ext cx="312737" cy="331787"/>
          </a:xfrm>
          <a:prstGeom prst="ellipse">
            <a:avLst/>
          </a:prstGeom>
          <a:solidFill>
            <a:srgbClr val="0094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2" name="Oval 9">
            <a:extLst>
              <a:ext uri="{FF2B5EF4-FFF2-40B4-BE49-F238E27FC236}">
                <a16:creationId xmlns:a16="http://schemas.microsoft.com/office/drawing/2014/main" id="{9CE479E8-2062-4A51-963E-414ECF129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6332538"/>
            <a:ext cx="188912" cy="1984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1031" name="Rectangle 11">
            <a:extLst>
              <a:ext uri="{FF2B5EF4-FFF2-40B4-BE49-F238E27FC236}">
                <a16:creationId xmlns:a16="http://schemas.microsoft.com/office/drawing/2014/main" id="{A8C64491-B1A3-4EF8-95DF-EB9E839C6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188" y="6165850"/>
            <a:ext cx="230981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defRPr/>
            </a:pPr>
            <a:r>
              <a:rPr lang="de-DE" altLang="de-DE" sz="1200" b="1">
                <a:solidFill>
                  <a:srgbClr val="919191"/>
                </a:solidFill>
              </a:rPr>
              <a:t>Hochschule</a:t>
            </a:r>
            <a:endParaRPr lang="de-DE" altLang="de-DE" sz="1200"/>
          </a:p>
          <a:p>
            <a:pPr eaLnBrk="1" hangingPunct="1">
              <a:lnSpc>
                <a:spcPct val="115000"/>
              </a:lnSpc>
              <a:defRPr/>
            </a:pPr>
            <a:r>
              <a:rPr lang="de-DE" altLang="de-DE" sz="1200" b="1">
                <a:solidFill>
                  <a:srgbClr val="919191"/>
                </a:solidFill>
                <a:latin typeface="Frutiger 45 Light" panose="020B0500000000000000" pitchFamily="34" charset="0"/>
              </a:rPr>
              <a:t>Bonn-Rhein-Sieg</a:t>
            </a:r>
          </a:p>
        </p:txBody>
      </p:sp>
      <p:sp>
        <p:nvSpPr>
          <p:cNvPr id="1032" name="Oval 12">
            <a:extLst>
              <a:ext uri="{FF2B5EF4-FFF2-40B4-BE49-F238E27FC236}">
                <a16:creationId xmlns:a16="http://schemas.microsoft.com/office/drawing/2014/main" id="{832FF260-2646-4915-A84D-9C06CA55C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6265863"/>
            <a:ext cx="311150" cy="331787"/>
          </a:xfrm>
          <a:prstGeom prst="ellipse">
            <a:avLst/>
          </a:prstGeom>
          <a:solidFill>
            <a:srgbClr val="0094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1033" name="Line 20">
            <a:extLst>
              <a:ext uri="{FF2B5EF4-FFF2-40B4-BE49-F238E27FC236}">
                <a16:creationId xmlns:a16="http://schemas.microsoft.com/office/drawing/2014/main" id="{B376186B-04A3-41E2-8A7C-F4BD4A0C60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6165850"/>
            <a:ext cx="8196262" cy="0"/>
          </a:xfrm>
          <a:prstGeom prst="line">
            <a:avLst/>
          </a:prstGeom>
          <a:noFill/>
          <a:ln w="12700">
            <a:solidFill>
              <a:srgbClr val="0094DD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34" name="Rectangle 21">
            <a:extLst>
              <a:ext uri="{FF2B5EF4-FFF2-40B4-BE49-F238E27FC236}">
                <a16:creationId xmlns:a16="http://schemas.microsoft.com/office/drawing/2014/main" id="{76F4452C-9BD4-48FF-A2B1-82F8A7BA7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050" y="15621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endParaRPr lang="de-DE" altLang="de-DE"/>
          </a:p>
        </p:txBody>
      </p:sp>
      <p:sp>
        <p:nvSpPr>
          <p:cNvPr id="1035" name="Text Box 22">
            <a:extLst>
              <a:ext uri="{FF2B5EF4-FFF2-40B4-BE49-F238E27FC236}">
                <a16:creationId xmlns:a16="http://schemas.microsoft.com/office/drawing/2014/main" id="{0F7A80CB-1774-4FEC-9ADF-9007EE772B2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36963" y="6229350"/>
            <a:ext cx="2625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de-DE" altLang="de-DE" sz="1400" b="1" dirty="0" err="1"/>
              <a:t>Vorlesung_L</a:t>
            </a:r>
            <a:r>
              <a:rPr lang="de-DE" altLang="de-DE" sz="1400" b="1" err="1"/>
              <a:t>_</a:t>
            </a:r>
            <a:r>
              <a:rPr lang="de-DE" altLang="de-DE" sz="1400" b="1"/>
              <a:t>SpeicherListen</a:t>
            </a:r>
            <a:endParaRPr lang="de-DE" altLang="de-DE" sz="14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fukc0Qbn60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Mp0H8fRstuo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8ZLiDG1WnY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liennummernplatzhalter 3">
            <a:extLst>
              <a:ext uri="{FF2B5EF4-FFF2-40B4-BE49-F238E27FC236}">
                <a16:creationId xmlns:a16="http://schemas.microsoft.com/office/drawing/2014/main" id="{938757FD-2A2E-4DCD-BED5-9EC608284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7D9D31-6D68-482B-ACEE-DC3C5FCBD75E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de-DE" altLang="de-DE" sz="14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EC541730-5421-4375-98FD-CEEF2866A9D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7388" y="1287463"/>
            <a:ext cx="7772400" cy="1470025"/>
          </a:xfrm>
        </p:spPr>
        <p:txBody>
          <a:bodyPr/>
          <a:lstStyle/>
          <a:p>
            <a:pPr algn="ctr" eaLnBrk="1" hangingPunct="1"/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Informatik II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9DF8473C-EE52-4DA3-A027-796645FBDC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16038" y="2487613"/>
            <a:ext cx="6400800" cy="1752600"/>
          </a:xfrm>
        </p:spPr>
        <p:txBody>
          <a:bodyPr/>
          <a:lstStyle/>
          <a:p>
            <a:pPr eaLnBrk="1" hangingPunct="1"/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Speicher und Listen</a:t>
            </a:r>
          </a:p>
          <a:p>
            <a:pPr eaLnBrk="1" hangingPunct="1"/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Letzte Änderung</a:t>
            </a:r>
            <a:r>
              <a:rPr lang="de-DE" altLang="de-DE" sz="1600">
                <a:latin typeface="Calibri" panose="020F0502020204030204" pitchFamily="34" charset="0"/>
                <a:cs typeface="Calibri" panose="020F0502020204030204" pitchFamily="34" charset="0"/>
              </a:rPr>
              <a:t>: 14.5.25</a:t>
            </a:r>
            <a:endParaRPr lang="de-DE" altLang="de-D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de-DE" altLang="de-DE" dirty="0"/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4C849BEA-DBEE-4999-A565-4ACC76215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4732338"/>
            <a:ext cx="26052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/>
              <a:t>Irene Rothe</a:t>
            </a:r>
            <a:br>
              <a:rPr lang="de-DE" altLang="de-DE" sz="1800" b="1" dirty="0"/>
            </a:br>
            <a:endParaRPr lang="de-DE" altLang="de-DE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Zi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. B 241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irene.rothe@h-brs.de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Instagram: </a:t>
            </a:r>
            <a:r>
              <a:rPr lang="de-DE" alt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irenerothedesign</a:t>
            </a:r>
            <a:endParaRPr lang="de-DE" altLang="de-D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liennummernplatzhalter 3">
            <a:extLst>
              <a:ext uri="{FF2B5EF4-FFF2-40B4-BE49-F238E27FC236}">
                <a16:creationId xmlns:a16="http://schemas.microsoft.com/office/drawing/2014/main" id="{69425559-AE4C-49DC-A2AC-DC9D55C4E0D6}"/>
              </a:ext>
            </a:extLst>
          </p:cNvPr>
          <p:cNvSpPr txBox="1">
            <a:spLocks noGrp="1"/>
          </p:cNvSpPr>
          <p:nvPr/>
        </p:nvSpPr>
        <p:spPr bwMode="auto">
          <a:xfrm>
            <a:off x="6659563" y="6210300"/>
            <a:ext cx="20018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AFE3F02-7901-4A4D-9D38-23679E675B37}" type="slidenum">
              <a:rPr lang="de-DE" altLang="de-DE" sz="1400"/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de-DE" altLang="de-DE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AC138B4-1C9D-4749-8F39-74B174268937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7388" y="1287463"/>
            <a:ext cx="7772400" cy="1470025"/>
          </a:xfrm>
        </p:spPr>
        <p:txBody>
          <a:bodyPr/>
          <a:lstStyle/>
          <a:p>
            <a:pPr algn="ctr" eaLnBrk="1" hangingPunct="1"/>
            <a:r>
              <a:rPr lang="de-DE" altLang="de-DE" sz="4400" dirty="0">
                <a:latin typeface="Calibri" panose="020F0502020204030204" pitchFamily="34" charset="0"/>
                <a:cs typeface="Calibri" panose="020F0502020204030204" pitchFamily="34" charset="0"/>
              </a:rPr>
              <a:t>Ungeplante Software ist ein Zufallsprodukt.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F07844-EDB9-45B3-8D59-A66165622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136525"/>
            <a:ext cx="8657590" cy="6584949"/>
          </a:xfrm>
          <a:prstGeom prst="rect">
            <a:avLst/>
          </a:prstGeom>
        </p:spPr>
      </p:pic>
      <p:sp>
        <p:nvSpPr>
          <p:cNvPr id="57346" name="Rectangle 2">
            <a:extLst>
              <a:ext uri="{FF2B5EF4-FFF2-40B4-BE49-F238E27FC236}">
                <a16:creationId xmlns:a16="http://schemas.microsoft.com/office/drawing/2014/main" id="{C02C9013-28F1-42E9-9D2C-9178C32A43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Das Marie Kondo Prinzip</a:t>
            </a:r>
          </a:p>
        </p:txBody>
      </p:sp>
      <p:sp>
        <p:nvSpPr>
          <p:cNvPr id="57347" name="Text Box 3">
            <a:extLst>
              <a:ext uri="{FF2B5EF4-FFF2-40B4-BE49-F238E27FC236}">
                <a16:creationId xmlns:a16="http://schemas.microsoft.com/office/drawing/2014/main" id="{5D692F85-B391-480C-8986-91B9608B1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188" y="4538663"/>
            <a:ext cx="3206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de-DE" altLang="de-DE" sz="1400"/>
          </a:p>
        </p:txBody>
      </p:sp>
      <p:sp>
        <p:nvSpPr>
          <p:cNvPr id="57348" name="Text Box 4">
            <a:extLst>
              <a:ext uri="{FF2B5EF4-FFF2-40B4-BE49-F238E27FC236}">
                <a16:creationId xmlns:a16="http://schemas.microsoft.com/office/drawing/2014/main" id="{940E2A54-5C28-4F48-8B21-7311EB956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05" y="1008053"/>
            <a:ext cx="795655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doesn‘t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spark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joy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get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rid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it.</a:t>
            </a:r>
          </a:p>
          <a:p>
            <a:pPr eaLnBrk="1" hangingPunct="1">
              <a:spcBef>
                <a:spcPct val="0"/>
              </a:spcBef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Wenn etwas keinen Spaß macht, ändere es!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endParaRPr lang="de-DE" altLang="de-DE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line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doesn‘t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spark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joy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get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rid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it.</a:t>
            </a:r>
          </a:p>
        </p:txBody>
      </p:sp>
      <p:sp>
        <p:nvSpPr>
          <p:cNvPr id="57349" name="Foliennummernplatzhalter 4">
            <a:extLst>
              <a:ext uri="{FF2B5EF4-FFF2-40B4-BE49-F238E27FC236}">
                <a16:creationId xmlns:a16="http://schemas.microsoft.com/office/drawing/2014/main" id="{84E80A42-2A6E-4875-93BD-5B879368A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4A1E4F-92A5-428C-9204-7F04AA025EDE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de-DE" altLang="de-DE" sz="14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8FF0AE2-38E4-480F-AC75-62E384EB7C4D}"/>
              </a:ext>
            </a:extLst>
          </p:cNvPr>
          <p:cNvSpPr txBox="1"/>
          <p:nvPr/>
        </p:nvSpPr>
        <p:spPr>
          <a:xfrm>
            <a:off x="182245" y="5665281"/>
            <a:ext cx="8326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Quelle: https://www.karim-geiger.de/blog/das-marie-kondo-software-design-principle </a:t>
            </a:r>
          </a:p>
        </p:txBody>
      </p:sp>
    </p:spTree>
    <p:extLst>
      <p:ext uri="{BB962C8B-B14F-4D97-AF65-F5344CB8AC3E}">
        <p14:creationId xmlns:p14="http://schemas.microsoft.com/office/powerpoint/2010/main" val="195967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C36B701F-BB30-453C-9236-78CC32E812B7}"/>
              </a:ext>
            </a:extLst>
          </p:cNvPr>
          <p:cNvSpPr/>
          <p:nvPr/>
        </p:nvSpPr>
        <p:spPr>
          <a:xfrm>
            <a:off x="698976" y="3829595"/>
            <a:ext cx="2318544" cy="579845"/>
          </a:xfrm>
          <a:prstGeom prst="roundRect">
            <a:avLst/>
          </a:prstGeom>
          <a:solidFill>
            <a:srgbClr val="FFE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1800"/>
          </a:p>
        </p:txBody>
      </p:sp>
      <p:sp>
        <p:nvSpPr>
          <p:cNvPr id="10243" name="Foliennummernplatzhalter 3">
            <a:extLst>
              <a:ext uri="{FF2B5EF4-FFF2-40B4-BE49-F238E27FC236}">
                <a16:creationId xmlns:a16="http://schemas.microsoft.com/office/drawing/2014/main" id="{FCAB963B-1029-4A5A-B37E-0CCBC746E69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CFA2456-959E-4437-8400-35C6B172672A}" type="slidenum">
              <a:rPr lang="de-DE" altLang="de-DE" sz="1200"/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de-DE" altLang="de-DE" sz="1200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55F96826-8E5E-4451-8F1B-5E64E04585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80988" y="0"/>
            <a:ext cx="8266112" cy="784225"/>
          </a:xfrm>
        </p:spPr>
        <p:txBody>
          <a:bodyPr/>
          <a:lstStyle/>
          <a:p>
            <a:pPr eaLnBrk="1" hangingPunct="1"/>
            <a:r>
              <a:rPr lang="de-DE" altLang="de-D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Informatik: 2 Semester für Ingenieure </a:t>
            </a:r>
            <a:endParaRPr lang="de-DE" alt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DE7C918D-F788-4DA5-AB53-05CAFFA66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4" y="904060"/>
            <a:ext cx="8736012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1100" indent="-2667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8300" indent="-2667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667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66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66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66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66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sym typeface="Wingdings" panose="05000000000000000000" pitchFamily="2" charset="2"/>
              </a:rPr>
              <a:t> 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Zum Lösen von Problemen mit dem Rechner braucht man </a:t>
            </a: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Programmierfähigkeiten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(nur mit Übung möglich): Was ist Programmieren? </a:t>
            </a:r>
            <a:b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Was ist ein Flussdiagramm?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à"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Programmiersprache C: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de-DE" altLang="de-DE" sz="1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de-DE" altLang="de-DE" sz="1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Elementare Datentypen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de-DE" altLang="de-DE" sz="12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Deklaration/Initialisierung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de-DE" altLang="de-DE" sz="12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Kontrollstrukturen</a:t>
            </a:r>
            <a:r>
              <a:rPr lang="de-DE" altLang="de-DE" sz="12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: </a:t>
            </a:r>
            <a:r>
              <a:rPr lang="de-DE" altLang="de-DE" sz="1200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if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/</a:t>
            </a:r>
            <a:r>
              <a:rPr lang="de-DE" altLang="de-DE" sz="1200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else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, </a:t>
            </a:r>
            <a:r>
              <a:rPr lang="de-DE" altLang="de-DE" sz="1200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while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, </a:t>
            </a:r>
            <a:r>
              <a:rPr lang="de-DE" altLang="de-DE" sz="1200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for</a:t>
            </a:r>
            <a:endParaRPr lang="de-DE" altLang="de-DE" sz="12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 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Funktionen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de-DE" altLang="de-DE" sz="12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Felder (Strings)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de-DE" altLang="de-DE" sz="12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Zeiger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de-DE" altLang="de-DE" sz="12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200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struct</a:t>
            </a:r>
            <a:endParaRPr lang="de-DE" altLang="de-DE" sz="12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</a:t>
            </a:r>
            <a:r>
              <a:rPr lang="de-DE" altLang="de-DE" sz="12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Speicheranforderung: </a:t>
            </a:r>
            <a:r>
              <a:rPr lang="de-DE" altLang="de-DE" sz="1200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malloc</a:t>
            </a:r>
            <a:endParaRPr lang="de-DE" altLang="de-DE" sz="12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de-DE" altLang="de-DE" sz="120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Listen</a:t>
            </a:r>
            <a:endParaRPr lang="de-DE" altLang="de-DE" sz="12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</a:t>
            </a:r>
            <a:r>
              <a:rPr lang="de-DE" altLang="de-DE" sz="12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Bitmanipulation</a:t>
            </a:r>
            <a:endParaRPr lang="de-DE" altLang="de-DE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 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Wie löst der Rechner unsere Probleme? 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mit </a:t>
            </a: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Dualdarstellung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von Zeichen und Zahlen und mit Hilfe von </a:t>
            </a: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Algorithmen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 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Ein Beispiel für ein Problem: </a:t>
            </a: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Kr</a:t>
            </a: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yptografie</a:t>
            </a:r>
            <a:endParaRPr lang="de-DE" altLang="de-D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Sind Rechner auch Menschen? 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Künstliche Intelligenz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Für alle Probleme gibt es viele Algorithmen. Welcher ist der Beste?  </a:t>
            </a: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Aufwand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von Algorithmen</a:t>
            </a:r>
          </a:p>
        </p:txBody>
      </p:sp>
      <p:sp>
        <p:nvSpPr>
          <p:cNvPr id="10246" name="Rectangle 8">
            <a:extLst>
              <a:ext uri="{FF2B5EF4-FFF2-40B4-BE49-F238E27FC236}">
                <a16:creationId xmlns:a16="http://schemas.microsoft.com/office/drawing/2014/main" id="{865AF6D6-0EEB-468A-B684-ED380D719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0" y="676275"/>
            <a:ext cx="5229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de-DE" sz="1600" b="1"/>
              <a:t>Informatik = Lösen von Problemen mit dem Rechner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liennummernplatzhalter 3">
            <a:extLst>
              <a:ext uri="{FF2B5EF4-FFF2-40B4-BE49-F238E27FC236}">
                <a16:creationId xmlns:a16="http://schemas.microsoft.com/office/drawing/2014/main" id="{AB4E496F-6E7D-413F-9AA0-D63CEBA62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9FC4B2-3368-416E-9C1E-8E750D392C2F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de-DE" altLang="de-DE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7EDA6F1-93DC-4795-BFC0-BBCECFEAC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Design der Folien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BB5631D-5B2F-4B62-9CE2-2D7B6DBFA0A6}"/>
              </a:ext>
            </a:extLst>
          </p:cNvPr>
          <p:cNvSpPr txBox="1"/>
          <p:nvPr/>
        </p:nvSpPr>
        <p:spPr>
          <a:xfrm>
            <a:off x="477520" y="2488850"/>
            <a:ext cx="16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F9E5F24-5513-4ED2-ADBF-C69B825B6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04" y="893763"/>
            <a:ext cx="828661" cy="279473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2D95A41-2DE5-436C-81F6-565F6CA77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04" y="1791570"/>
            <a:ext cx="626930" cy="279473"/>
          </a:xfrm>
          <a:prstGeom prst="rect">
            <a:avLst/>
          </a:prstGeom>
          <a:solidFill>
            <a:srgbClr val="92D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de-DE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F0C07A7C-0EE6-4048-8A32-92D953E70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71" y="791381"/>
            <a:ext cx="8324193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Orange hinterlegt sind alle Übungsaufgaben. Sie sind teilweise sehr schwer, bitte absolut nicht entmutigen lassen! Wir können diese in Pr</a:t>
            </a: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ä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senz besprechen oder über Fragen im Forum.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Grün hinterlegte Informationen und grüne Smileys sind wichtig und klausurrelevant.</a:t>
            </a: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Alles hinter „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Achtung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“ unbedingt beachten!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verwende ich, wenn </a:t>
            </a: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ü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berraschende Probleme auftreten k</a:t>
            </a: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ö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nnen. Wenn Sie schon programmiererfahrend sind, k</a:t>
            </a: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ö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nnen das eventuell besonders gro</a:t>
            </a: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ß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 </a:t>
            </a: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Ü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berraschungen f</a:t>
            </a: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ü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 Sie sein, wenn Sie eine andere Sprache als C kennen.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„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Tipp</a:t>
            </a: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“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benutze ich, um Ihnen einen Weg zu zeigen, wie ich damit umgehen w</a:t>
            </a: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ü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rde.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„Bemerkung“ in Folien beziehen sich meist auf Sonderfälle, die nicht unbedingt klausurrelevant sind, aber für Sie beim Programmieren eine Bedeutung haben könnten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hinter diesem Symbol ist ein Link fürs Anhören bzw. Gucken</a:t>
            </a:r>
            <a:b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de-DE" altLang="de-DE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weiterer Infos</a:t>
            </a:r>
            <a:endParaRPr lang="de-DE" altLang="de-DE" sz="3200" dirty="0">
              <a:latin typeface="Calibri" panose="020F0502020204030204" pitchFamily="34" charset="0"/>
            </a:endParaRPr>
          </a:p>
        </p:txBody>
      </p:sp>
      <p:pic>
        <p:nvPicPr>
          <p:cNvPr id="143378" name="Picture 13" descr="bombe2">
            <a:extLst>
              <a:ext uri="{FF2B5EF4-FFF2-40B4-BE49-F238E27FC236}">
                <a16:creationId xmlns:a16="http://schemas.microsoft.com/office/drawing/2014/main" id="{2D8BBE15-6A81-4F39-9873-2EBF280CC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19" y="2673516"/>
            <a:ext cx="3175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6F41698-B1B3-4EB5-B2B8-328254140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04" y="5492216"/>
            <a:ext cx="698840" cy="60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89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Foliennummernplatzhalter 3">
            <a:extLst>
              <a:ext uri="{FF2B5EF4-FFF2-40B4-BE49-F238E27FC236}">
                <a16:creationId xmlns:a16="http://schemas.microsoft.com/office/drawing/2014/main" id="{DA44F228-FB8C-4382-975D-DD0A2444AD0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fld id="{53E15BAB-2954-4D29-9204-02D56FE30B04}" type="slidenum">
              <a:rPr lang="de-DE" altLang="de-DE" sz="1400">
                <a:solidFill>
                  <a:srgbClr val="000000"/>
                </a:solidFill>
                <a:cs typeface="Arial Unicode MS" charset="0"/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6</a:t>
            </a:fld>
            <a:endParaRPr lang="de-DE" altLang="de-DE" sz="1400">
              <a:solidFill>
                <a:srgbClr val="000000"/>
              </a:solidFill>
              <a:cs typeface="Arial Unicode MS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350983" y="1320800"/>
            <a:ext cx="8491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</a:rPr>
              <a:t>Aufbau der Folien: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libri" panose="020F0502020204030204" pitchFamily="34" charset="0"/>
              </a:rPr>
              <a:t>Am Anfang motiviere ich gerne mit einem Beispiel, das eventuell schwer verständlich ist. Wem das nicht zusagt, dem empfehle ich, diese Folien zu überspringen.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libri" panose="020F0502020204030204" pitchFamily="34" charset="0"/>
              </a:rPr>
              <a:t>Weiter arbeite ich mit vielen Beispielen, die oftmals immer wieder das Gleiche erklären nur auf unterschiedliche Arten. Hat man einen Sachverhalt einmal verstanden, braucht man eventuell diese Beispiele nicht.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libri" panose="020F0502020204030204" pitchFamily="34" charset="0"/>
              </a:rPr>
              <a:t>Folien, die mit </a:t>
            </a:r>
            <a:r>
              <a:rPr lang="de-DE" b="1" dirty="0">
                <a:latin typeface="Calibri" panose="020F0502020204030204" pitchFamily="34" charset="0"/>
              </a:rPr>
              <a:t>Einschub</a:t>
            </a:r>
            <a:r>
              <a:rPr lang="de-DE" dirty="0">
                <a:latin typeface="Calibri" panose="020F0502020204030204" pitchFamily="34" charset="0"/>
              </a:rPr>
              <a:t> beginnen, beinhalten Zusatzinformationen, die nicht nötig für das Verständnis des Themas sind.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libri" panose="020F0502020204030204" pitchFamily="34" charset="0"/>
              </a:rPr>
              <a:t>Grün hinterlegte Informationen sind das, was Sie aus der Vorlesung rausnehmen sollen, alles andere sind vertiefende Informationen und Motivation.</a:t>
            </a:r>
          </a:p>
        </p:txBody>
      </p:sp>
    </p:spTree>
    <p:extLst>
      <p:ext uri="{BB962C8B-B14F-4D97-AF65-F5344CB8AC3E}">
        <p14:creationId xmlns:p14="http://schemas.microsoft.com/office/powerpoint/2010/main" val="900476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liennummernplatzhalter 4">
            <a:extLst>
              <a:ext uri="{FF2B5EF4-FFF2-40B4-BE49-F238E27FC236}">
                <a16:creationId xmlns:a16="http://schemas.microsoft.com/office/drawing/2014/main" id="{C9211481-089A-4F87-A815-890DEF229EC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E502381-B368-4F88-9F13-E415C02C9C3C}" type="slidenum">
              <a:rPr lang="de-DE" altLang="de-DE" sz="1400"/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de-DE" altLang="de-DE" sz="1400"/>
          </a:p>
        </p:txBody>
      </p:sp>
      <p:sp>
        <p:nvSpPr>
          <p:cNvPr id="10243" name="Text Box 9">
            <a:extLst>
              <a:ext uri="{FF2B5EF4-FFF2-40B4-BE49-F238E27FC236}">
                <a16:creationId xmlns:a16="http://schemas.microsoft.com/office/drawing/2014/main" id="{87552914-EE82-47E4-A632-2A2A7BC5A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758825"/>
            <a:ext cx="56156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Dynamischer Speicher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 anfordern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 verändern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 freigeben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dynamische Felder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flexible Eingabe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Speichermüllbeseitigung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endParaRPr lang="de-DE" alt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Definition 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einer Liste</a:t>
            </a:r>
            <a:endParaRPr lang="de-DE" altLang="de-D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Anlegen 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einer Liste</a:t>
            </a:r>
            <a:endParaRPr lang="de-DE" altLang="de-D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Ausgabe 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einer Liste</a:t>
            </a:r>
            <a:endParaRPr lang="de-DE" altLang="de-D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Einfügen 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eines Listenelements</a:t>
            </a:r>
            <a:endParaRPr lang="de-DE" altLang="de-D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Löschen 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eines Listenelements</a:t>
            </a:r>
            <a:endParaRPr lang="de-DE" altLang="de-D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Vor- und Nachteile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: Listen </a:t>
            </a: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und Felder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EDD4C11-4A60-4260-A971-CC2B14515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490" y="1259840"/>
            <a:ext cx="2793607" cy="47619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liennummernplatzhalter 3">
            <a:extLst>
              <a:ext uri="{FF2B5EF4-FFF2-40B4-BE49-F238E27FC236}">
                <a16:creationId xmlns:a16="http://schemas.microsoft.com/office/drawing/2014/main" id="{D79A6F3D-0CB7-4C79-AA9F-BF2BF68B9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E98B1F-E1E1-4593-A6B0-A8F0E99665E7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de-DE" altLang="de-DE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7E70E19B-062E-4692-8462-0E77C633B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Speicher </a:t>
            </a:r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und Listen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: Motivation</a:t>
            </a:r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5FB6E0A0-8DB9-430D-A499-33BB2B6FD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563688"/>
            <a:ext cx="87122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Okay, ich will viele gleiche Dinge abspeichern. Ich weiß aber nicht wie viele. Ich könnte ein Feld definieren, aber da muss ich ja wissen, wie groß das Feld sein soll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de-DE" alt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Da muss sich doch jemand etwas Cleveres ausgedacht haben!!!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de-DE" alt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Ebenso ist doch ein Feld doof, wenn ich da in die Mitte etwas einfügen will oder löschen will, da ordne und kopiere ich mich ja tot.</a:t>
            </a:r>
          </a:p>
        </p:txBody>
      </p:sp>
      <p:pic>
        <p:nvPicPr>
          <p:cNvPr id="12293" name="Grafik 1">
            <a:extLst>
              <a:ext uri="{FF2B5EF4-FFF2-40B4-BE49-F238E27FC236}">
                <a16:creationId xmlns:a16="http://schemas.microsoft.com/office/drawing/2014/main" id="{80D9053F-731A-4C89-AFEF-D53D09AF2D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138" y="2333625"/>
            <a:ext cx="7048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Grafik 1">
            <a:extLst>
              <a:ext uri="{FF2B5EF4-FFF2-40B4-BE49-F238E27FC236}">
                <a16:creationId xmlns:a16="http://schemas.microsoft.com/office/drawing/2014/main" id="{28D74837-5975-4DC4-B48C-EAF521BBE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868" y="584201"/>
            <a:ext cx="1303337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Foliennummernplatzhalter 3">
            <a:extLst>
              <a:ext uri="{FF2B5EF4-FFF2-40B4-BE49-F238E27FC236}">
                <a16:creationId xmlns:a16="http://schemas.microsoft.com/office/drawing/2014/main" id="{8C499266-B917-4582-BD32-135AD094F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5D2F5F-EF1C-49ED-B3A7-E843C12C2ECA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de-DE" altLang="de-DE" sz="140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3CD88CDF-926F-4C5D-9745-921B28B1F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Dynamischer Speicher: Motivation</a:t>
            </a:r>
          </a:p>
        </p:txBody>
      </p:sp>
      <p:sp>
        <p:nvSpPr>
          <p:cNvPr id="14341" name="Text Box 3">
            <a:extLst>
              <a:ext uri="{FF2B5EF4-FFF2-40B4-BE49-F238E27FC236}">
                <a16:creationId xmlns:a16="http://schemas.microsoft.com/office/drawing/2014/main" id="{C454C96A-BD8A-486C-9B42-ED3C2F2C4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42988"/>
            <a:ext cx="812800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Bis jetzt können wir Felder nur mit </a:t>
            </a:r>
            <a:r>
              <a:rPr lang="de-DE" altLang="de-DE" sz="2000" i="1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konstanter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Länge </a:t>
            </a:r>
            <a:r>
              <a:rPr lang="de-DE" altLang="de-DE" sz="2000" i="1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der </a:t>
            </a:r>
            <a:r>
              <a:rPr lang="de-DE" altLang="de-DE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Compilierung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vereinbaren.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Daraus ergeben sich folgende Probleme: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Länge zu groß: Speicherplatz verschwendet!</a:t>
            </a:r>
          </a:p>
          <a:p>
            <a:pPr eaLnBrk="1" hangingPunct="1">
              <a:spcBef>
                <a:spcPct val="0"/>
              </a:spcBef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Länge zu klein: Falle!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Oft ergibt sich erst während des Programmlaufs in Abhängigkeit von eingegebenen Daten der Wunsch, neuen Speicher zu reservieren und/oder nicht mehr benötigten Speicher frei zu geben (damit ein anderes Programm den nutzen kann!).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Dies gilt besonders für Programme, die sehr lange laufen wie z.B. Betriebssysteme.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liennummernplatzhalter 3">
            <a:extLst>
              <a:ext uri="{FF2B5EF4-FFF2-40B4-BE49-F238E27FC236}">
                <a16:creationId xmlns:a16="http://schemas.microsoft.com/office/drawing/2014/main" id="{6CA0120D-27A4-4B30-A981-B1CCEF160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624FB3-68B2-459E-80BC-F1BA0315EFE0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de-DE" altLang="de-DE" sz="14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76DF158-BAC4-4CC5-A83C-71C057476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260350"/>
            <a:ext cx="8712200" cy="633413"/>
          </a:xfrm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Dynamischen Speicher: Hauptproblem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8D3C23A4-812B-4E9A-A68B-38EA99082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563688"/>
            <a:ext cx="871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de-DE" altLang="de-DE"/>
          </a:p>
        </p:txBody>
      </p:sp>
      <p:pic>
        <p:nvPicPr>
          <p:cNvPr id="16389" name="Grafik 1">
            <a:extLst>
              <a:ext uri="{FF2B5EF4-FFF2-40B4-BE49-F238E27FC236}">
                <a16:creationId xmlns:a16="http://schemas.microsoft.com/office/drawing/2014/main" id="{806627E6-CEDD-47E1-831D-08F16173A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1220788"/>
            <a:ext cx="5899150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liennummernplatzhalter 4">
            <a:extLst>
              <a:ext uri="{FF2B5EF4-FFF2-40B4-BE49-F238E27FC236}">
                <a16:creationId xmlns:a16="http://schemas.microsoft.com/office/drawing/2014/main" id="{C9211481-089A-4F87-A815-890DEF229EC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E502381-B368-4F88-9F13-E415C02C9C3C}" type="slidenum">
              <a:rPr lang="de-DE" altLang="de-DE" sz="1400"/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de-DE" altLang="de-DE" sz="1400"/>
          </a:p>
        </p:txBody>
      </p:sp>
      <p:sp>
        <p:nvSpPr>
          <p:cNvPr id="10243" name="Text Box 9">
            <a:extLst>
              <a:ext uri="{FF2B5EF4-FFF2-40B4-BE49-F238E27FC236}">
                <a16:creationId xmlns:a16="http://schemas.microsoft.com/office/drawing/2014/main" id="{87552914-EE82-47E4-A632-2A2A7BC5A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758825"/>
            <a:ext cx="56156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Dynamischer Speicher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 anfordern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 verändern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 freigeben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dynamische Felder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flexible Eingabe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Speichermüllbeseitigung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endParaRPr lang="de-DE" altLang="de-DE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 </a:t>
            </a:r>
            <a:r>
              <a:rPr lang="de-DE" altLang="de-DE" sz="24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einer Liste</a:t>
            </a:r>
            <a:endParaRPr lang="de-DE" altLang="de-DE" sz="24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Anlegen </a:t>
            </a:r>
            <a:r>
              <a:rPr lang="de-DE" altLang="de-DE" sz="24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einer Liste</a:t>
            </a:r>
            <a:endParaRPr lang="de-DE" altLang="de-DE" sz="24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Ausgabe </a:t>
            </a:r>
            <a:r>
              <a:rPr lang="de-DE" altLang="de-DE" sz="24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einer Liste</a:t>
            </a:r>
            <a:endParaRPr lang="de-DE" altLang="de-DE" sz="24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Einfügen </a:t>
            </a:r>
            <a:r>
              <a:rPr lang="de-DE" altLang="de-DE" sz="24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eines Listenelements</a:t>
            </a:r>
            <a:endParaRPr lang="de-DE" altLang="de-DE" sz="24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Löschen </a:t>
            </a:r>
            <a:r>
              <a:rPr lang="de-DE" altLang="de-DE" sz="24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eines Listenelements</a:t>
            </a:r>
            <a:endParaRPr lang="de-DE" altLang="de-DE" sz="24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Vor- und Nachteile</a:t>
            </a:r>
            <a:r>
              <a:rPr lang="de-DE" altLang="de-DE" sz="24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Listen </a:t>
            </a:r>
            <a:r>
              <a:rPr lang="de-DE" altLang="de-DE" sz="24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 Felder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EDD4C11-4A60-4260-A971-CC2B14515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490" y="1259840"/>
            <a:ext cx="2793607" cy="476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5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liennummernplatzhalter 2">
            <a:extLst>
              <a:ext uri="{FF2B5EF4-FFF2-40B4-BE49-F238E27FC236}">
                <a16:creationId xmlns:a16="http://schemas.microsoft.com/office/drawing/2014/main" id="{724DC3C9-74F8-4A42-BB97-7EB1DCE6B4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534EDD-F05A-428C-8E39-10673CE5431A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de-DE" altLang="de-DE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C0AFD66-09B1-40FE-861A-21C384C4C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2130425"/>
            <a:ext cx="7426325" cy="742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>
                <a:latin typeface="Courier New" panose="02070309020205020404" pitchFamily="49" charset="0"/>
              </a:rPr>
              <a:t>	</a:t>
            </a:r>
            <a:endParaRPr lang="de-DE" altLang="de-DE" sz="1800">
              <a:latin typeface="Courier New" panose="02070309020205020404" pitchFamily="49" charset="0"/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1893A7F2-5269-4214-9EB2-C81A3B42F3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Dynamischer Speicher: Anfordern</a:t>
            </a:r>
          </a:p>
        </p:txBody>
      </p:sp>
      <p:sp>
        <p:nvSpPr>
          <p:cNvPr id="20485" name="Text Box 5">
            <a:extLst>
              <a:ext uri="{FF2B5EF4-FFF2-40B4-BE49-F238E27FC236}">
                <a16:creationId xmlns:a16="http://schemas.microsoft.com/office/drawing/2014/main" id="{03BE5B2E-2FB9-49A5-B7BE-A94083080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47" y="1692086"/>
            <a:ext cx="748230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Einfügen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#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include</a:t>
            </a:r>
            <a:r>
              <a:rPr lang="de-DE" altLang="de-DE" sz="1800" b="1" dirty="0">
                <a:latin typeface="Courier New" panose="02070309020205020404" pitchFamily="49" charset="0"/>
              </a:rPr>
              <a:t>&lt;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stdlib.h</a:t>
            </a:r>
            <a:r>
              <a:rPr lang="de-DE" altLang="de-DE" sz="18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Dort wird Folgendes definiert: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800" b="1" dirty="0">
                <a:latin typeface="Courier New" panose="02070309020205020404" pitchFamily="49" charset="0"/>
              </a:rPr>
              <a:t>*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numberOfBytes</a:t>
            </a:r>
            <a:r>
              <a:rPr lang="de-DE" altLang="de-DE" sz="1800" b="1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20486" name="Text Box 6">
            <a:extLst>
              <a:ext uri="{FF2B5EF4-FFF2-40B4-BE49-F238E27FC236}">
                <a16:creationId xmlns:a16="http://schemas.microsoft.com/office/drawing/2014/main" id="{C7EE7D6F-E60A-49B2-AA80-B078FD944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47" y="3498199"/>
            <a:ext cx="5885907" cy="92333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#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include</a:t>
            </a:r>
            <a:r>
              <a:rPr lang="de-DE" altLang="de-DE" sz="1800" b="1" dirty="0">
                <a:latin typeface="Courier New" panose="02070309020205020404" pitchFamily="49" charset="0"/>
              </a:rPr>
              <a:t>&lt;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stdlib.h</a:t>
            </a:r>
            <a:r>
              <a:rPr lang="de-DE" altLang="de-DE" sz="18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wird Folgendes definiert: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oid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free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800" b="1" dirty="0">
                <a:latin typeface="Courier New" panose="02070309020205020404" pitchFamily="49" charset="0"/>
              </a:rPr>
              <a:t>*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zeiger</a:t>
            </a:r>
            <a:r>
              <a:rPr lang="de-DE" altLang="de-DE" sz="1800" b="1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2CE5103B-AC2E-4578-8817-A4135055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212508"/>
            <a:ext cx="8204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ct val="0"/>
              </a:spcBef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Zusammenhängenden Speicher anfordern auf dem Heap (engl.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allocate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  <a:endParaRPr lang="de-DE" altLang="de-DE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488" name="Text Box 8">
            <a:extLst>
              <a:ext uri="{FF2B5EF4-FFF2-40B4-BE49-F238E27FC236}">
                <a16:creationId xmlns:a16="http://schemas.microsoft.com/office/drawing/2014/main" id="{FCCEDB7A-B898-46F5-88A5-B3B353E0E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69" y="3059668"/>
            <a:ext cx="27311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ct val="0"/>
              </a:spcBef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Freigeben von Speicher:</a:t>
            </a:r>
          </a:p>
        </p:txBody>
      </p:sp>
      <p:sp>
        <p:nvSpPr>
          <p:cNvPr id="20489" name="Text Box 10">
            <a:extLst>
              <a:ext uri="{FF2B5EF4-FFF2-40B4-BE49-F238E27FC236}">
                <a16:creationId xmlns:a16="http://schemas.microsoft.com/office/drawing/2014/main" id="{1B3E1324-7FB3-4922-AC89-D4E35A185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63" y="4383875"/>
            <a:ext cx="843915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Also: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man muss nur die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stdlib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einbinden und kann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malloc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free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nutzen.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Bemerkung 1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: normalerweise leben alle Variablen auf dem Stack (Stapel), der viel </a:t>
            </a:r>
            <a:r>
              <a:rPr lang="de-DE" altLang="de-DE" sz="1600" dirty="0">
                <a:solidFill>
                  <a:srgbClr val="99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kleiner 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ist, aber </a:t>
            </a:r>
            <a:r>
              <a:rPr lang="de-DE" altLang="de-DE" sz="1600" dirty="0">
                <a:solidFill>
                  <a:srgbClr val="99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schnell 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ist und automatisch verwaltet wird vom BS. Der Heap (Halde)-Speicher ist viel </a:t>
            </a:r>
            <a:r>
              <a:rPr lang="de-DE" altLang="de-DE" sz="1600" dirty="0">
                <a:solidFill>
                  <a:srgbClr val="99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größer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aber </a:t>
            </a:r>
            <a:r>
              <a:rPr lang="de-DE" altLang="de-DE" sz="1600" dirty="0">
                <a:solidFill>
                  <a:srgbClr val="99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langsamer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und wird selbst verwaltet!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Bemerkung 2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alt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gibt typenlosen Zeiger zurück, damit der Speicher beliebig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genutzt werden kann.</a:t>
            </a:r>
          </a:p>
        </p:txBody>
      </p:sp>
      <p:sp>
        <p:nvSpPr>
          <p:cNvPr id="20490" name="Textfeld 1">
            <a:extLst>
              <a:ext uri="{FF2B5EF4-FFF2-40B4-BE49-F238E27FC236}">
                <a16:creationId xmlns:a16="http://schemas.microsoft.com/office/drawing/2014/main" id="{7B150CB3-CCE7-4C37-B054-1A8B3A590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1706" y="1559490"/>
            <a:ext cx="302108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Adresse zeigt auf jeden beliebigen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Datentyp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EFB91857-5049-423D-8F34-BB2168CCF42B}"/>
              </a:ext>
            </a:extLst>
          </p:cNvPr>
          <p:cNvCxnSpPr>
            <a:cxnSpLocks/>
          </p:cNvCxnSpPr>
          <p:nvPr/>
        </p:nvCxnSpPr>
        <p:spPr>
          <a:xfrm flipH="1">
            <a:off x="5301706" y="1739836"/>
            <a:ext cx="103414" cy="5625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16974F66-8592-4E8B-8FDB-1C6C70AC42EE}"/>
              </a:ext>
            </a:extLst>
          </p:cNvPr>
          <p:cNvSpPr txBox="1"/>
          <p:nvPr/>
        </p:nvSpPr>
        <p:spPr>
          <a:xfrm>
            <a:off x="365125" y="2678519"/>
            <a:ext cx="6965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Zurückgegeben wird die Adresse, wo der angeforderte Speicher beginnt.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0" name="Rectangle 28">
            <a:extLst>
              <a:ext uri="{FF2B5EF4-FFF2-40B4-BE49-F238E27FC236}">
                <a16:creationId xmlns:a16="http://schemas.microsoft.com/office/drawing/2014/main" id="{BBE60FB5-1C53-4FBF-A7BA-FB21D4377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3988" y="1543005"/>
            <a:ext cx="1222772" cy="626269"/>
          </a:xfrm>
          <a:prstGeom prst="rect">
            <a:avLst/>
          </a:prstGeom>
          <a:solidFill>
            <a:srgbClr val="FFCC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1350" dirty="0">
              <a:latin typeface="Arial Unicode MS" pitchFamily="34" charset="-128"/>
            </a:endParaRPr>
          </a:p>
        </p:txBody>
      </p:sp>
      <p:sp>
        <p:nvSpPr>
          <p:cNvPr id="22530" name="Foliennummernplatzhalter 3">
            <a:extLst>
              <a:ext uri="{FF2B5EF4-FFF2-40B4-BE49-F238E27FC236}">
                <a16:creationId xmlns:a16="http://schemas.microsoft.com/office/drawing/2014/main" id="{85072D2F-9B63-44FF-B234-AC038C24E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3C17C5-DF8E-4DFD-B3CE-5D1907C2FC95}" type="slidenum">
              <a:rPr lang="de-DE" altLang="de-DE" sz="105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de-DE" altLang="de-DE" sz="1050"/>
          </a:p>
        </p:txBody>
      </p:sp>
      <p:sp>
        <p:nvSpPr>
          <p:cNvPr id="22575" name="Rectangle 7">
            <a:extLst>
              <a:ext uri="{FF2B5EF4-FFF2-40B4-BE49-F238E27FC236}">
                <a16:creationId xmlns:a16="http://schemas.microsoft.com/office/drawing/2014/main" id="{640B08BE-6DBC-437A-8011-4F1F00267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3987" y="2168083"/>
            <a:ext cx="1222772" cy="626269"/>
          </a:xfrm>
          <a:prstGeom prst="rect">
            <a:avLst/>
          </a:prstGeom>
          <a:solidFill>
            <a:srgbClr val="FFCC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1350">
              <a:latin typeface="Arial Unicode MS" pitchFamily="34" charset="-128"/>
            </a:endParaRPr>
          </a:p>
        </p:txBody>
      </p:sp>
      <p:sp>
        <p:nvSpPr>
          <p:cNvPr id="22577" name="Text Box 9">
            <a:extLst>
              <a:ext uri="{FF2B5EF4-FFF2-40B4-BE49-F238E27FC236}">
                <a16:creationId xmlns:a16="http://schemas.microsoft.com/office/drawing/2014/main" id="{A682C2BA-3DCB-42DB-B5CF-1EA49FA92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640" y="2172592"/>
            <a:ext cx="569119" cy="230981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de-DE" altLang="de-DE" sz="900" dirty="0">
                <a:latin typeface="Arial Unicode MS" pitchFamily="34" charset="-128"/>
              </a:rPr>
              <a:t>123464</a:t>
            </a:r>
          </a:p>
        </p:txBody>
      </p:sp>
      <p:grpSp>
        <p:nvGrpSpPr>
          <p:cNvPr id="22533" name="Group 10">
            <a:extLst>
              <a:ext uri="{FF2B5EF4-FFF2-40B4-BE49-F238E27FC236}">
                <a16:creationId xmlns:a16="http://schemas.microsoft.com/office/drawing/2014/main" id="{4EC3B3F4-FDC1-463A-B4F7-696C6FD521A4}"/>
              </a:ext>
            </a:extLst>
          </p:cNvPr>
          <p:cNvGrpSpPr>
            <a:grpSpLocks/>
          </p:cNvGrpSpPr>
          <p:nvPr/>
        </p:nvGrpSpPr>
        <p:grpSpPr bwMode="auto">
          <a:xfrm>
            <a:off x="7670014" y="1115571"/>
            <a:ext cx="66675" cy="369094"/>
            <a:chOff x="581" y="748"/>
            <a:chExt cx="56" cy="310"/>
          </a:xfrm>
        </p:grpSpPr>
        <p:sp>
          <p:nvSpPr>
            <p:cNvPr id="22572" name="Oval 11">
              <a:extLst>
                <a:ext uri="{FF2B5EF4-FFF2-40B4-BE49-F238E27FC236}">
                  <a16:creationId xmlns:a16="http://schemas.microsoft.com/office/drawing/2014/main" id="{8F28EA1D-F6A2-4E36-BFA3-A6494CC3C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874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350"/>
            </a:p>
          </p:txBody>
        </p:sp>
        <p:sp>
          <p:nvSpPr>
            <p:cNvPr id="22573" name="Oval 12">
              <a:extLst>
                <a:ext uri="{FF2B5EF4-FFF2-40B4-BE49-F238E27FC236}">
                  <a16:creationId xmlns:a16="http://schemas.microsoft.com/office/drawing/2014/main" id="{62C31170-9766-4F0C-B5F7-172057F54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748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350"/>
            </a:p>
          </p:txBody>
        </p:sp>
        <p:sp>
          <p:nvSpPr>
            <p:cNvPr id="22574" name="Oval 13">
              <a:extLst>
                <a:ext uri="{FF2B5EF4-FFF2-40B4-BE49-F238E27FC236}">
                  <a16:creationId xmlns:a16="http://schemas.microsoft.com/office/drawing/2014/main" id="{443B5EB1-453F-400A-934F-D687D613C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1002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350"/>
            </a:p>
          </p:txBody>
        </p:sp>
      </p:grpSp>
      <p:grpSp>
        <p:nvGrpSpPr>
          <p:cNvPr id="22534" name="Group 14">
            <a:extLst>
              <a:ext uri="{FF2B5EF4-FFF2-40B4-BE49-F238E27FC236}">
                <a16:creationId xmlns:a16="http://schemas.microsoft.com/office/drawing/2014/main" id="{B24B9945-496A-4DFA-8DF9-5B51002A90D4}"/>
              </a:ext>
            </a:extLst>
          </p:cNvPr>
          <p:cNvGrpSpPr>
            <a:grpSpLocks/>
          </p:cNvGrpSpPr>
          <p:nvPr/>
        </p:nvGrpSpPr>
        <p:grpSpPr bwMode="auto">
          <a:xfrm>
            <a:off x="7612864" y="4791030"/>
            <a:ext cx="66675" cy="369094"/>
            <a:chOff x="581" y="748"/>
            <a:chExt cx="56" cy="310"/>
          </a:xfrm>
        </p:grpSpPr>
        <p:sp>
          <p:nvSpPr>
            <p:cNvPr id="22569" name="Oval 15">
              <a:extLst>
                <a:ext uri="{FF2B5EF4-FFF2-40B4-BE49-F238E27FC236}">
                  <a16:creationId xmlns:a16="http://schemas.microsoft.com/office/drawing/2014/main" id="{3C9950DC-751A-4220-9733-95D150867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874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350"/>
            </a:p>
          </p:txBody>
        </p:sp>
        <p:sp>
          <p:nvSpPr>
            <p:cNvPr id="22570" name="Oval 16">
              <a:extLst>
                <a:ext uri="{FF2B5EF4-FFF2-40B4-BE49-F238E27FC236}">
                  <a16:creationId xmlns:a16="http://schemas.microsoft.com/office/drawing/2014/main" id="{19A4FA12-9510-4756-BA89-C1012AF5E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748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350"/>
            </a:p>
          </p:txBody>
        </p:sp>
        <p:sp>
          <p:nvSpPr>
            <p:cNvPr id="22571" name="Oval 17">
              <a:extLst>
                <a:ext uri="{FF2B5EF4-FFF2-40B4-BE49-F238E27FC236}">
                  <a16:creationId xmlns:a16="http://schemas.microsoft.com/office/drawing/2014/main" id="{4E0B2942-BA42-42D1-A26F-659C56209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1002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350"/>
            </a:p>
          </p:txBody>
        </p:sp>
      </p:grpSp>
      <p:sp>
        <p:nvSpPr>
          <p:cNvPr id="22566" name="Rectangle 20">
            <a:extLst>
              <a:ext uri="{FF2B5EF4-FFF2-40B4-BE49-F238E27FC236}">
                <a16:creationId xmlns:a16="http://schemas.microsoft.com/office/drawing/2014/main" id="{46444F0F-6EFA-416E-BDBD-F421F8732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3987" y="3413477"/>
            <a:ext cx="1222772" cy="626269"/>
          </a:xfrm>
          <a:prstGeom prst="rect">
            <a:avLst/>
          </a:prstGeom>
          <a:solidFill>
            <a:srgbClr val="FFCC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1350">
              <a:latin typeface="Arial Unicode MS" pitchFamily="34" charset="-128"/>
            </a:endParaRPr>
          </a:p>
        </p:txBody>
      </p:sp>
      <p:sp>
        <p:nvSpPr>
          <p:cNvPr id="22568" name="Text Box 22">
            <a:extLst>
              <a:ext uri="{FF2B5EF4-FFF2-40B4-BE49-F238E27FC236}">
                <a16:creationId xmlns:a16="http://schemas.microsoft.com/office/drawing/2014/main" id="{474D8866-76F5-4A6E-878F-6E7DE36BD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4126" y="3419833"/>
            <a:ext cx="569119" cy="230981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900" dirty="0">
                <a:latin typeface="Arial Unicode MS" pitchFamily="34" charset="-128"/>
              </a:rPr>
              <a:t>123472</a:t>
            </a:r>
          </a:p>
        </p:txBody>
      </p:sp>
      <p:sp>
        <p:nvSpPr>
          <p:cNvPr id="22563" name="Rectangle 24">
            <a:extLst>
              <a:ext uri="{FF2B5EF4-FFF2-40B4-BE49-F238E27FC236}">
                <a16:creationId xmlns:a16="http://schemas.microsoft.com/office/drawing/2014/main" id="{94DF5B45-A51B-4F5A-94F1-1C8BDBD5A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3987" y="4039746"/>
            <a:ext cx="1222772" cy="626269"/>
          </a:xfrm>
          <a:prstGeom prst="rect">
            <a:avLst/>
          </a:prstGeom>
          <a:solidFill>
            <a:srgbClr val="FFCC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1350" dirty="0">
              <a:latin typeface="Arial Unicode MS" pitchFamily="34" charset="-128"/>
            </a:endParaRPr>
          </a:p>
        </p:txBody>
      </p:sp>
      <p:sp>
        <p:nvSpPr>
          <p:cNvPr id="22565" name="Text Box 26">
            <a:extLst>
              <a:ext uri="{FF2B5EF4-FFF2-40B4-BE49-F238E27FC236}">
                <a16:creationId xmlns:a16="http://schemas.microsoft.com/office/drawing/2014/main" id="{40D4A39E-0CA7-453A-A5FC-226F2A1EE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371" y="1583507"/>
            <a:ext cx="569388" cy="2308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de-DE" altLang="de-DE" sz="900" dirty="0">
                <a:latin typeface="Arial Unicode MS" pitchFamily="34" charset="-128"/>
              </a:rPr>
              <a:t>123460</a:t>
            </a:r>
          </a:p>
        </p:txBody>
      </p:sp>
      <p:sp>
        <p:nvSpPr>
          <p:cNvPr id="503839" name="Text Box 31">
            <a:extLst>
              <a:ext uri="{FF2B5EF4-FFF2-40B4-BE49-F238E27FC236}">
                <a16:creationId xmlns:a16="http://schemas.microsoft.com/office/drawing/2014/main" id="{B943EC4A-9D8D-405C-99DB-8E0B4FAB6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829" y="945339"/>
            <a:ext cx="6620805" cy="529375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#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include</a:t>
            </a:r>
            <a:r>
              <a:rPr lang="de-DE" altLang="de-DE" sz="1600" b="1" dirty="0">
                <a:latin typeface="Courier New" panose="02070309020205020404" pitchFamily="49" charset="0"/>
              </a:rPr>
              <a:t>&lt;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stdio.h</a:t>
            </a:r>
            <a:r>
              <a:rPr lang="de-DE" altLang="de-DE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#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include</a:t>
            </a:r>
            <a:r>
              <a:rPr lang="de-DE" altLang="de-DE" sz="1600" b="1" dirty="0">
                <a:latin typeface="Courier New" panose="02070309020205020404" pitchFamily="49" charset="0"/>
              </a:rPr>
              <a:t>&lt;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stdlib.h</a:t>
            </a:r>
            <a:r>
              <a:rPr lang="de-DE" altLang="de-DE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0"/>
              </a:spcBef>
              <a:buNone/>
            </a:pPr>
            <a:endParaRPr lang="de-DE" altLang="de-DE" sz="16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600" b="1" dirty="0">
                <a:latin typeface="Courier New" panose="02070309020205020404" pitchFamily="49" charset="0"/>
              </a:rPr>
              <a:t>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main</a:t>
            </a:r>
            <a:r>
              <a:rPr lang="de-DE" altLang="de-DE" sz="1600" b="1" dirty="0">
                <a:latin typeface="Courier New" panose="02070309020205020404" pitchFamily="49" charset="0"/>
              </a:rPr>
              <a:t>(){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//Deklaration des Zeigers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speicheradresse</a:t>
            </a:r>
            <a:endParaRPr lang="de-DE" altLang="de-DE" sz="16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double *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speicheradresse</a:t>
            </a:r>
            <a:r>
              <a:rPr lang="de-DE" altLang="de-DE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600" b="1" dirty="0">
                <a:latin typeface="Courier New" panose="02070309020205020404" pitchFamily="49" charset="0"/>
              </a:rPr>
              <a:t>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groesse</a:t>
            </a:r>
            <a:r>
              <a:rPr lang="de-DE" altLang="de-DE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printf</a:t>
            </a:r>
            <a:r>
              <a:rPr lang="de-DE" altLang="de-DE" sz="1600" b="1" dirty="0">
                <a:latin typeface="Courier New" panose="02070309020205020404" pitchFamily="49" charset="0"/>
              </a:rPr>
              <a:t>("Wie viel Speicher wird benötigt?");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scanf</a:t>
            </a:r>
            <a:r>
              <a:rPr lang="de-DE" altLang="de-DE" sz="1600" b="1" dirty="0">
                <a:latin typeface="Courier New" panose="02070309020205020404" pitchFamily="49" charset="0"/>
              </a:rPr>
              <a:t>("%i",&amp;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groesse</a:t>
            </a:r>
            <a:r>
              <a:rPr lang="de-DE" altLang="de-DE" sz="1600" b="1" dirty="0">
                <a:latin typeface="Courier New" panose="02070309020205020404" pitchFamily="49" charset="0"/>
              </a:rPr>
              <a:t>);//z.B. 2</a:t>
            </a:r>
          </a:p>
          <a:p>
            <a:pPr>
              <a:spcBef>
                <a:spcPct val="0"/>
              </a:spcBef>
              <a:buNone/>
            </a:pPr>
            <a:endParaRPr lang="de-DE" altLang="de-DE" sz="16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speicheradresse</a:t>
            </a:r>
            <a:r>
              <a:rPr lang="de-DE" altLang="de-DE" sz="1600" b="1" dirty="0">
                <a:latin typeface="Courier New" panose="02070309020205020404" pitchFamily="49" charset="0"/>
              </a:rPr>
              <a:t>=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600" b="1" dirty="0"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groesse</a:t>
            </a:r>
            <a:r>
              <a:rPr lang="de-DE" altLang="de-DE" sz="1600" b="1" dirty="0">
                <a:latin typeface="Courier New" panose="02070309020205020404" pitchFamily="49" charset="0"/>
              </a:rPr>
              <a:t>*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600" b="1" dirty="0">
                <a:latin typeface="Courier New" panose="02070309020205020404" pitchFamily="49" charset="0"/>
              </a:rPr>
              <a:t>(double));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600" b="1" dirty="0">
                <a:latin typeface="Courier New" panose="02070309020205020404" pitchFamily="49" charset="0"/>
              </a:rPr>
              <a:t>((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groesse</a:t>
            </a:r>
            <a:r>
              <a:rPr lang="de-DE" altLang="de-DE" sz="1600" b="1">
                <a:latin typeface="Courier New" panose="02070309020205020404" pitchFamily="49" charset="0"/>
              </a:rPr>
              <a:t>&gt;=2){ </a:t>
            </a:r>
            <a:endParaRPr lang="de-DE" altLang="de-DE" sz="16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*(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speicheradresse</a:t>
            </a:r>
            <a:r>
              <a:rPr lang="de-DE" altLang="de-DE" sz="1600" b="1" dirty="0">
                <a:latin typeface="Courier New" panose="02070309020205020404" pitchFamily="49" charset="0"/>
              </a:rPr>
              <a:t>=0.13;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*(speicheradresse+1)=42.0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else</a:t>
            </a:r>
            <a:r>
              <a:rPr lang="de-DE" altLang="de-DE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printf</a:t>
            </a:r>
            <a:r>
              <a:rPr lang="de-DE" altLang="de-DE" sz="1600" b="1" dirty="0">
                <a:latin typeface="Courier New" panose="02070309020205020404" pitchFamily="49" charset="0"/>
              </a:rPr>
              <a:t>("Schade, niemand wollte Speicher!");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return</a:t>
            </a:r>
            <a:r>
              <a:rPr lang="de-DE" altLang="de-DE" sz="1600" b="1" dirty="0">
                <a:latin typeface="Courier New" panose="02070309020205020404" pitchFamily="49" charset="0"/>
              </a:rPr>
              <a:t> 0;</a:t>
            </a:r>
          </a:p>
          <a:p>
            <a:pPr>
              <a:spcBef>
                <a:spcPct val="0"/>
              </a:spcBef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03840" name="Text Box 32">
            <a:extLst>
              <a:ext uri="{FF2B5EF4-FFF2-40B4-BE49-F238E27FC236}">
                <a16:creationId xmlns:a16="http://schemas.microsoft.com/office/drawing/2014/main" id="{F53FC753-3D87-409C-B912-B396FE223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9352" y="2375681"/>
            <a:ext cx="1107997" cy="40011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 dirty="0">
                <a:latin typeface="Courier New" panose="02070309020205020404" pitchFamily="49" charset="0"/>
              </a:rPr>
              <a:t>123472</a:t>
            </a:r>
          </a:p>
        </p:txBody>
      </p:sp>
      <p:sp>
        <p:nvSpPr>
          <p:cNvPr id="22540" name="Rectangle 35">
            <a:extLst>
              <a:ext uri="{FF2B5EF4-FFF2-40B4-BE49-F238E27FC236}">
                <a16:creationId xmlns:a16="http://schemas.microsoft.com/office/drawing/2014/main" id="{E0EDA58A-F2A9-4063-B4D0-C501AED04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3987" y="2788398"/>
            <a:ext cx="1222772" cy="626269"/>
          </a:xfrm>
          <a:prstGeom prst="rect">
            <a:avLst/>
          </a:prstGeom>
          <a:solidFill>
            <a:srgbClr val="FFCC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1350">
              <a:latin typeface="Arial Unicode MS" pitchFamily="34" charset="-128"/>
            </a:endParaRPr>
          </a:p>
        </p:txBody>
      </p:sp>
      <p:sp>
        <p:nvSpPr>
          <p:cNvPr id="22542" name="Text Box 37">
            <a:extLst>
              <a:ext uri="{FF2B5EF4-FFF2-40B4-BE49-F238E27FC236}">
                <a16:creationId xmlns:a16="http://schemas.microsoft.com/office/drawing/2014/main" id="{E3070D30-3514-480B-AE47-E2C394C3C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9006" y="2791906"/>
            <a:ext cx="569388" cy="23083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900" dirty="0">
                <a:latin typeface="Arial Unicode MS" pitchFamily="34" charset="-128"/>
              </a:rPr>
              <a:t>123468</a:t>
            </a:r>
          </a:p>
        </p:txBody>
      </p:sp>
      <p:sp>
        <p:nvSpPr>
          <p:cNvPr id="503847" name="Text Box 39">
            <a:extLst>
              <a:ext uri="{FF2B5EF4-FFF2-40B4-BE49-F238E27FC236}">
                <a16:creationId xmlns:a16="http://schemas.microsoft.com/office/drawing/2014/main" id="{94CC602F-3B18-40B4-A994-FF2505A37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1432" y="2993535"/>
            <a:ext cx="338555" cy="40011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 dirty="0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03849" name="Text Box 41">
            <a:extLst>
              <a:ext uri="{FF2B5EF4-FFF2-40B4-BE49-F238E27FC236}">
                <a16:creationId xmlns:a16="http://schemas.microsoft.com/office/drawing/2014/main" id="{8DF864D7-6E7C-40F3-B0DA-77105AFB6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5624" y="3692082"/>
            <a:ext cx="800219" cy="40011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b="1" dirty="0">
                <a:latin typeface="Courier New" panose="02070309020205020404" pitchFamily="49" charset="0"/>
              </a:rPr>
              <a:t>0.13</a:t>
            </a:r>
          </a:p>
        </p:txBody>
      </p:sp>
      <p:sp>
        <p:nvSpPr>
          <p:cNvPr id="503850" name="Text Box 42">
            <a:extLst>
              <a:ext uri="{FF2B5EF4-FFF2-40B4-BE49-F238E27FC236}">
                <a16:creationId xmlns:a16="http://schemas.microsoft.com/office/drawing/2014/main" id="{39B89079-3DB1-490B-9F32-97AA60752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4017" y="1822801"/>
            <a:ext cx="184731" cy="30008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350" dirty="0"/>
          </a:p>
        </p:txBody>
      </p:sp>
      <p:sp>
        <p:nvSpPr>
          <p:cNvPr id="503851" name="Text Box 43">
            <a:extLst>
              <a:ext uri="{FF2B5EF4-FFF2-40B4-BE49-F238E27FC236}">
                <a16:creationId xmlns:a16="http://schemas.microsoft.com/office/drawing/2014/main" id="{0249A443-8D43-46EB-8481-172FFF52A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4017" y="4247763"/>
            <a:ext cx="800219" cy="40011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42.0</a:t>
            </a:r>
          </a:p>
        </p:txBody>
      </p:sp>
      <p:sp>
        <p:nvSpPr>
          <p:cNvPr id="503856" name="Line 48">
            <a:extLst>
              <a:ext uri="{FF2B5EF4-FFF2-40B4-BE49-F238E27FC236}">
                <a16:creationId xmlns:a16="http://schemas.microsoft.com/office/drawing/2014/main" id="{5933D234-CE82-42B0-BF19-504E8995C3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5928" y="2587185"/>
            <a:ext cx="2630114" cy="202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03857" name="Line 49">
            <a:extLst>
              <a:ext uri="{FF2B5EF4-FFF2-40B4-BE49-F238E27FC236}">
                <a16:creationId xmlns:a16="http://schemas.microsoft.com/office/drawing/2014/main" id="{BB25BA84-A8DE-4925-B779-380672D3A9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33671" y="3284737"/>
            <a:ext cx="1792371" cy="70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03859" name="AutoShape 51">
            <a:extLst>
              <a:ext uri="{FF2B5EF4-FFF2-40B4-BE49-F238E27FC236}">
                <a16:creationId xmlns:a16="http://schemas.microsoft.com/office/drawing/2014/main" id="{79076447-12CF-4592-8091-AE71A901EB21}"/>
              </a:ext>
            </a:extLst>
          </p:cNvPr>
          <p:cNvSpPr>
            <a:spLocks/>
          </p:cNvSpPr>
          <p:nvPr/>
        </p:nvSpPr>
        <p:spPr bwMode="auto">
          <a:xfrm>
            <a:off x="6954448" y="3490866"/>
            <a:ext cx="85725" cy="1209675"/>
          </a:xfrm>
          <a:prstGeom prst="leftBrace">
            <a:avLst>
              <a:gd name="adj1" fmla="val 117593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350"/>
          </a:p>
        </p:txBody>
      </p:sp>
      <p:sp>
        <p:nvSpPr>
          <p:cNvPr id="503860" name="Line 52">
            <a:extLst>
              <a:ext uri="{FF2B5EF4-FFF2-40B4-BE49-F238E27FC236}">
                <a16:creationId xmlns:a16="http://schemas.microsoft.com/office/drawing/2014/main" id="{9803C00A-CCAF-42BA-AE21-8C34A71F8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3599" y="4063649"/>
            <a:ext cx="2191046" cy="4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03862" name="Text Box 54">
            <a:extLst>
              <a:ext uri="{FF2B5EF4-FFF2-40B4-BE49-F238E27FC236}">
                <a16:creationId xmlns:a16="http://schemas.microsoft.com/office/drawing/2014/main" id="{D18DFE43-EB23-4529-BBD3-31FFD3039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478" y="2384121"/>
            <a:ext cx="8162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/>
              <a:t>s</a:t>
            </a:r>
            <a:r>
              <a:rPr lang="de-DE" altLang="de-DE" sz="1200" b="1"/>
              <a:t>peicher</a:t>
            </a:r>
            <a:br>
              <a:rPr lang="de-DE" altLang="de-DE" sz="1200" b="1" dirty="0"/>
            </a:br>
            <a:r>
              <a:rPr lang="de-DE" altLang="de-DE" sz="1200" b="1" dirty="0" err="1"/>
              <a:t>adresse</a:t>
            </a:r>
            <a:endParaRPr lang="de-DE" altLang="de-DE" sz="1200" b="1" dirty="0"/>
          </a:p>
        </p:txBody>
      </p:sp>
      <p:sp>
        <p:nvSpPr>
          <p:cNvPr id="503863" name="Text Box 55">
            <a:extLst>
              <a:ext uri="{FF2B5EF4-FFF2-40B4-BE49-F238E27FC236}">
                <a16:creationId xmlns:a16="http://schemas.microsoft.com/office/drawing/2014/main" id="{99DB55A7-A8BF-4D38-B744-7ECC55895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042" y="3109358"/>
            <a:ext cx="809384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 err="1"/>
              <a:t>groesse</a:t>
            </a:r>
            <a:endParaRPr lang="de-DE" altLang="de-DE" sz="1200" b="1" dirty="0"/>
          </a:p>
        </p:txBody>
      </p:sp>
      <p:sp>
        <p:nvSpPr>
          <p:cNvPr id="22558" name="Textfeld 1">
            <a:extLst>
              <a:ext uri="{FF2B5EF4-FFF2-40B4-BE49-F238E27FC236}">
                <a16:creationId xmlns:a16="http://schemas.microsoft.com/office/drawing/2014/main" id="{6D8E57EF-2ACF-48BA-902C-0C6BC336C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0283" y="3340571"/>
            <a:ext cx="258436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de-DE" sz="1050" dirty="0">
                <a:latin typeface="Calibri" panose="020F0502020204030204" pitchFamily="34" charset="0"/>
                <a:cs typeface="Calibri" panose="020F0502020204030204" pitchFamily="34" charset="0"/>
              </a:rPr>
              <a:t>Funktion, die Größe von … (hier z.B. double)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de-DE" sz="1050" dirty="0">
                <a:latin typeface="Calibri" panose="020F0502020204030204" pitchFamily="34" charset="0"/>
                <a:cs typeface="Calibri" panose="020F0502020204030204" pitchFamily="34" charset="0"/>
              </a:rPr>
              <a:t>zurück gibt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442CCD8-9675-4202-808A-D7641C86EB78}"/>
              </a:ext>
            </a:extLst>
          </p:cNvPr>
          <p:cNvCxnSpPr/>
          <p:nvPr/>
        </p:nvCxnSpPr>
        <p:spPr>
          <a:xfrm>
            <a:off x="5300369" y="3526221"/>
            <a:ext cx="0" cy="25122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4A416EF1-2058-4373-B151-8D5029D039D6}"/>
              </a:ext>
            </a:extLst>
          </p:cNvPr>
          <p:cNvCxnSpPr/>
          <p:nvPr/>
        </p:nvCxnSpPr>
        <p:spPr>
          <a:xfrm>
            <a:off x="7063987" y="1542744"/>
            <a:ext cx="1214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">
            <a:extLst>
              <a:ext uri="{FF2B5EF4-FFF2-40B4-BE49-F238E27FC236}">
                <a16:creationId xmlns:a16="http://schemas.microsoft.com/office/drawing/2014/main" id="{742709F3-8A91-4CBC-8B2C-D24462287C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2" y="384481"/>
            <a:ext cx="7894637" cy="475060"/>
          </a:xfrm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Dynamischer Speicher: Beispiel - Feld</a:t>
            </a:r>
          </a:p>
        </p:txBody>
      </p:sp>
      <p:sp>
        <p:nvSpPr>
          <p:cNvPr id="46" name="Text Box 22">
            <a:extLst>
              <a:ext uri="{FF2B5EF4-FFF2-40B4-BE49-F238E27FC236}">
                <a16:creationId xmlns:a16="http://schemas.microsoft.com/office/drawing/2014/main" id="{DC027FFA-E19E-4266-9B93-44969924C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014" y="4081439"/>
            <a:ext cx="604220" cy="230832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900" dirty="0">
                <a:latin typeface="Arial Unicode MS" pitchFamily="34" charset="-128"/>
              </a:rPr>
              <a:t>123480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47A0560-5EF3-49BC-8AD8-8E8A16FDE7ED}"/>
              </a:ext>
            </a:extLst>
          </p:cNvPr>
          <p:cNvCxnSpPr>
            <a:cxnSpLocks/>
          </p:cNvCxnSpPr>
          <p:nvPr/>
        </p:nvCxnSpPr>
        <p:spPr>
          <a:xfrm flipV="1">
            <a:off x="7040131" y="4032521"/>
            <a:ext cx="1234103" cy="108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F886BC1E-FF62-4FE9-949D-89CE44C04FA3}"/>
              </a:ext>
            </a:extLst>
          </p:cNvPr>
          <p:cNvSpPr txBox="1"/>
          <p:nvPr/>
        </p:nvSpPr>
        <p:spPr>
          <a:xfrm>
            <a:off x="8390500" y="1388695"/>
            <a:ext cx="6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latin typeface="Calibri" panose="020F0502020204030204" pitchFamily="34" charset="0"/>
                <a:cs typeface="Calibri" panose="020F0502020204030204" pitchFamily="34" charset="0"/>
              </a:rPr>
              <a:t>Adresse</a:t>
            </a:r>
          </a:p>
          <a:p>
            <a:r>
              <a:rPr lang="de-DE" sz="900" dirty="0">
                <a:latin typeface="Calibri" panose="020F0502020204030204" pitchFamily="34" charset="0"/>
                <a:cs typeface="Calibri" panose="020F0502020204030204" pitchFamily="34" charset="0"/>
              </a:rPr>
              <a:t>des Speicherplatzes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3BAC8F6-0E72-4258-8421-1BD4831E63C7}"/>
              </a:ext>
            </a:extLst>
          </p:cNvPr>
          <p:cNvCxnSpPr>
            <a:cxnSpLocks/>
          </p:cNvCxnSpPr>
          <p:nvPr/>
        </p:nvCxnSpPr>
        <p:spPr>
          <a:xfrm flipH="1">
            <a:off x="8114236" y="1619527"/>
            <a:ext cx="4709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39D1114F-53AC-4275-ABC8-F79C92CEFFD5}"/>
              </a:ext>
            </a:extLst>
          </p:cNvPr>
          <p:cNvSpPr/>
          <p:nvPr/>
        </p:nvSpPr>
        <p:spPr>
          <a:xfrm>
            <a:off x="3418241" y="5566250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>
                <a:latin typeface="Roboto"/>
                <a:hlinkClick r:id="rId3"/>
              </a:rPr>
              <a:t>https://youtu.be/cfukc0Qbn60</a:t>
            </a:r>
            <a:endParaRPr lang="de-DE" dirty="0"/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8FBC4783-C03B-45B9-98D4-24CE8796E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7539" y="5566250"/>
            <a:ext cx="698840" cy="60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6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40" grpId="0" animBg="1"/>
      <p:bldP spid="503847" grpId="0" animBg="1"/>
      <p:bldP spid="503849" grpId="0" animBg="1"/>
      <p:bldP spid="503850" grpId="0" animBg="1"/>
      <p:bldP spid="503851" grpId="0" animBg="1"/>
      <p:bldP spid="503859" grpId="0" animBg="1"/>
      <p:bldP spid="503862" grpId="0"/>
      <p:bldP spid="5038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liennummernplatzhalter 3">
            <a:extLst>
              <a:ext uri="{FF2B5EF4-FFF2-40B4-BE49-F238E27FC236}">
                <a16:creationId xmlns:a16="http://schemas.microsoft.com/office/drawing/2014/main" id="{F05A50AF-6C6D-4BDC-9FE9-974463B3A7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01F729-2696-4C41-8D3D-4E35AD9B4E50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de-DE" altLang="de-DE" sz="14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8BA94A4-3E20-4447-9A3F-C28CDF745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247650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Speicher anfordern, noch besser</a:t>
            </a:r>
          </a:p>
        </p:txBody>
      </p:sp>
      <p:sp>
        <p:nvSpPr>
          <p:cNvPr id="24580" name="Text Box 28">
            <a:extLst>
              <a:ext uri="{FF2B5EF4-FFF2-40B4-BE49-F238E27FC236}">
                <a16:creationId xmlns:a16="http://schemas.microsoft.com/office/drawing/2014/main" id="{31D82BC9-D789-48E1-84C4-55E55EE7A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75" y="1184275"/>
            <a:ext cx="5285421" cy="369331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double z;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double 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zeiger</a:t>
            </a:r>
            <a:r>
              <a:rPr lang="de-DE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zeiger</a:t>
            </a:r>
            <a:r>
              <a:rPr lang="de-DE" altLang="de-DE" sz="1800" b="1" dirty="0">
                <a:latin typeface="Courier New" panose="02070309020205020404" pitchFamily="49" charset="0"/>
              </a:rPr>
              <a:t> =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800" b="1" dirty="0">
                <a:latin typeface="Courier New" panose="02070309020205020404" pitchFamily="49" charset="0"/>
              </a:rPr>
              <a:t>(double));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//Test, ob genügend Speicher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//hintereinander vorhanden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if</a:t>
            </a: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 (</a:t>
            </a: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zeiger</a:t>
            </a: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</a:t>
            </a:r>
            <a:r>
              <a:rPr lang="de-DE" altLang="de-DE" sz="1800" b="1" dirty="0">
                <a:latin typeface="Courier New" panose="02070309020205020404" pitchFamily="49" charset="0"/>
              </a:rPr>
              <a:t>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zeiger</a:t>
            </a:r>
            <a:r>
              <a:rPr lang="de-DE" altLang="de-DE" sz="1800" b="1" dirty="0">
                <a:latin typeface="Courier New" panose="02070309020205020404" pitchFamily="49" charset="0"/>
              </a:rPr>
              <a:t> = 1.113;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else</a:t>
            </a: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  // Fehlerbehandlung, z.B. </a:t>
            </a: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return</a:t>
            </a: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  //z.B. Kein Speicher mehr da!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7F0EC9A-B423-42EB-B9BE-CBCF85E10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788" y="2901950"/>
            <a:ext cx="1188823" cy="6645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liennummernplatzhalter 3">
            <a:extLst>
              <a:ext uri="{FF2B5EF4-FFF2-40B4-BE49-F238E27FC236}">
                <a16:creationId xmlns:a16="http://schemas.microsoft.com/office/drawing/2014/main" id="{CDD4C0ED-7435-4430-A46C-E3BC008BEA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2741CD-30B1-4B8F-BC51-471C788ABB37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de-DE" altLang="de-DE" sz="1400"/>
          </a:p>
        </p:txBody>
      </p:sp>
      <p:sp>
        <p:nvSpPr>
          <p:cNvPr id="26627" name="Rectangle 5">
            <a:extLst>
              <a:ext uri="{FF2B5EF4-FFF2-40B4-BE49-F238E27FC236}">
                <a16:creationId xmlns:a16="http://schemas.microsoft.com/office/drawing/2014/main" id="{42843480-D406-40DE-9A29-D7832B5CC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Speichergröße verändern</a:t>
            </a:r>
          </a:p>
        </p:txBody>
      </p:sp>
      <p:sp>
        <p:nvSpPr>
          <p:cNvPr id="26628" name="Text Box 31">
            <a:extLst>
              <a:ext uri="{FF2B5EF4-FFF2-40B4-BE49-F238E27FC236}">
                <a16:creationId xmlns:a16="http://schemas.microsoft.com/office/drawing/2014/main" id="{F1CAD8D4-A38E-49E7-9755-8D139A826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79487"/>
            <a:ext cx="8493760" cy="369331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double 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speicheradresse</a:t>
            </a:r>
            <a:r>
              <a:rPr lang="de-DE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speicheradresse</a:t>
            </a:r>
            <a:r>
              <a:rPr lang="de-DE" altLang="de-DE" sz="1800" b="1" dirty="0">
                <a:latin typeface="Courier New" panose="02070309020205020404" pitchFamily="49" charset="0"/>
              </a:rPr>
              <a:t>=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800" b="1" dirty="0">
                <a:latin typeface="Courier New" panose="02070309020205020404" pitchFamily="49" charset="0"/>
              </a:rPr>
              <a:t>(2*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800" b="1" dirty="0">
                <a:latin typeface="Courier New" panose="02070309020205020404" pitchFamily="49" charset="0"/>
              </a:rPr>
              <a:t>(double));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800" b="1" dirty="0">
                <a:latin typeface="Courier New" panose="02070309020205020404" pitchFamily="49" charset="0"/>
              </a:rPr>
              <a:t> 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speicheradresse</a:t>
            </a:r>
            <a:r>
              <a:rPr lang="de-DE" altLang="de-DE" sz="1800" b="1" dirty="0">
                <a:latin typeface="Courier New" panose="02070309020205020404" pitchFamily="49" charset="0"/>
              </a:rPr>
              <a:t>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speicheradresse</a:t>
            </a:r>
            <a:r>
              <a:rPr lang="de-DE" altLang="de-DE" sz="1800" b="1" dirty="0">
                <a:latin typeface="Courier New" panose="02070309020205020404" pitchFamily="49" charset="0"/>
              </a:rPr>
              <a:t>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*(speicheradresse+1)=2;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else</a:t>
            </a:r>
            <a:r>
              <a:rPr lang="de-DE" altLang="de-DE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//Fehlerbehandlung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//neue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Groesse</a:t>
            </a:r>
            <a:r>
              <a:rPr lang="de-DE" altLang="de-DE" sz="1800" b="1" dirty="0">
                <a:latin typeface="Courier New" panose="02070309020205020404" pitchFamily="49" charset="0"/>
              </a:rPr>
              <a:t> ist 3*double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speicheradresse</a:t>
            </a:r>
            <a:r>
              <a:rPr lang="de-DE" altLang="de-DE" sz="1800" b="1" dirty="0">
                <a:latin typeface="Courier New" panose="02070309020205020404" pitchFamily="49" charset="0"/>
              </a:rPr>
              <a:t> =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realloc</a:t>
            </a:r>
            <a:r>
              <a:rPr lang="de-DE" altLang="de-DE" sz="1800" b="1" dirty="0">
                <a:latin typeface="Courier New" panose="02070309020205020404" pitchFamily="49" charset="0"/>
              </a:rPr>
              <a:t>(speicheradresse,3*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800" b="1" dirty="0">
                <a:latin typeface="Courier New" panose="02070309020205020404" pitchFamily="49" charset="0"/>
              </a:rPr>
              <a:t>(double));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*(speicheradresse+2) = 42;</a:t>
            </a:r>
          </a:p>
        </p:txBody>
      </p:sp>
      <p:sp>
        <p:nvSpPr>
          <p:cNvPr id="26629" name="Text Box 42">
            <a:extLst>
              <a:ext uri="{FF2B5EF4-FFF2-40B4-BE49-F238E27FC236}">
                <a16:creationId xmlns:a16="http://schemas.microsoft.com/office/drawing/2014/main" id="{CF84F876-F1EE-4BCD-8C97-E1D7CAD22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3" y="4954588"/>
            <a:ext cx="8086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Der Inhalt vom alten Speicher (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realloc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nur nach einem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malloc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) wird umkopiert, wenn es die neue Größe zulässt. Der Speicherbereich im Rechner kann dabei ein völlig anderer sein.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D79DCF2-EC3E-4FB7-AAD8-0CD1AAA86B19}"/>
              </a:ext>
            </a:extLst>
          </p:cNvPr>
          <p:cNvSpPr txBox="1"/>
          <p:nvPr/>
        </p:nvSpPr>
        <p:spPr>
          <a:xfrm>
            <a:off x="5610510" y="3084056"/>
            <a:ext cx="274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Ist auch in </a:t>
            </a:r>
            <a:r>
              <a:rPr lang="de-DE" alt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stdlib.h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 definiert</a:t>
            </a:r>
            <a:endParaRPr lang="de-DE" dirty="0"/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597DD2AF-D052-41E0-A3C4-181DE55AD33B}"/>
              </a:ext>
            </a:extLst>
          </p:cNvPr>
          <p:cNvCxnSpPr>
            <a:cxnSpLocks/>
          </p:cNvCxnSpPr>
          <p:nvPr/>
        </p:nvCxnSpPr>
        <p:spPr>
          <a:xfrm flipH="1">
            <a:off x="3762704" y="3429000"/>
            <a:ext cx="2270234" cy="6910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liennummernplatzhalter 3">
            <a:extLst>
              <a:ext uri="{FF2B5EF4-FFF2-40B4-BE49-F238E27FC236}">
                <a16:creationId xmlns:a16="http://schemas.microsoft.com/office/drawing/2014/main" id="{A491D142-5EAD-4293-AC3B-06E2DDF87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6DF5E7-718F-45E3-AFB5-37C1DCF8CAC7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de-DE" altLang="de-DE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3C824C7-971C-46A6-BBFB-C1FB86833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Dynamischen Speicher wieder freigeben</a:t>
            </a:r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194BB46E-FC6F-40AC-8BA4-009AE852AABD}"/>
              </a:ext>
            </a:extLst>
          </p:cNvPr>
          <p:cNvGrpSpPr>
            <a:grpSpLocks/>
          </p:cNvGrpSpPr>
          <p:nvPr/>
        </p:nvGrpSpPr>
        <p:grpSpPr bwMode="auto">
          <a:xfrm>
            <a:off x="7283450" y="1841501"/>
            <a:ext cx="1630363" cy="836613"/>
            <a:chOff x="4584" y="792"/>
            <a:chExt cx="1027" cy="527"/>
          </a:xfrm>
          <a:solidFill>
            <a:srgbClr val="FFCCCC"/>
          </a:solidFill>
        </p:grpSpPr>
        <p:sp>
          <p:nvSpPr>
            <p:cNvPr id="28708" name="Rectangle 5">
              <a:extLst>
                <a:ext uri="{FF2B5EF4-FFF2-40B4-BE49-F238E27FC236}">
                  <a16:creationId xmlns:a16="http://schemas.microsoft.com/office/drawing/2014/main" id="{ABD996B8-C086-4417-AAC2-52AF02904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793"/>
              <a:ext cx="1027" cy="526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de-DE" altLang="de-DE" sz="1800">
                <a:latin typeface="Arial Unicode MS" pitchFamily="34" charset="-128"/>
              </a:endParaRPr>
            </a:p>
          </p:txBody>
        </p:sp>
        <p:sp>
          <p:nvSpPr>
            <p:cNvPr id="28710" name="Text Box 7">
              <a:extLst>
                <a:ext uri="{FF2B5EF4-FFF2-40B4-BE49-F238E27FC236}">
                  <a16:creationId xmlns:a16="http://schemas.microsoft.com/office/drawing/2014/main" id="{13F27925-D733-4379-9B99-D01514008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8" y="792"/>
              <a:ext cx="413" cy="17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123456</a:t>
              </a:r>
            </a:p>
          </p:txBody>
        </p:sp>
      </p:grpSp>
      <p:grpSp>
        <p:nvGrpSpPr>
          <p:cNvPr id="28677" name="Group 8">
            <a:extLst>
              <a:ext uri="{FF2B5EF4-FFF2-40B4-BE49-F238E27FC236}">
                <a16:creationId xmlns:a16="http://schemas.microsoft.com/office/drawing/2014/main" id="{C22AC7AF-01A3-4A8C-A98C-0243C9F704F2}"/>
              </a:ext>
            </a:extLst>
          </p:cNvPr>
          <p:cNvGrpSpPr>
            <a:grpSpLocks/>
          </p:cNvGrpSpPr>
          <p:nvPr/>
        </p:nvGrpSpPr>
        <p:grpSpPr bwMode="auto">
          <a:xfrm>
            <a:off x="8091488" y="439738"/>
            <a:ext cx="88900" cy="492125"/>
            <a:chOff x="581" y="748"/>
            <a:chExt cx="56" cy="310"/>
          </a:xfrm>
        </p:grpSpPr>
        <p:sp>
          <p:nvSpPr>
            <p:cNvPr id="28705" name="Oval 9">
              <a:extLst>
                <a:ext uri="{FF2B5EF4-FFF2-40B4-BE49-F238E27FC236}">
                  <a16:creationId xmlns:a16="http://schemas.microsoft.com/office/drawing/2014/main" id="{2440C7C9-0C73-4C4F-8B4C-431C6AC7B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874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28706" name="Oval 10">
              <a:extLst>
                <a:ext uri="{FF2B5EF4-FFF2-40B4-BE49-F238E27FC236}">
                  <a16:creationId xmlns:a16="http://schemas.microsoft.com/office/drawing/2014/main" id="{3C5CF3F2-CF0F-4479-9EC0-F7DCA8982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748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28707" name="Oval 11">
              <a:extLst>
                <a:ext uri="{FF2B5EF4-FFF2-40B4-BE49-F238E27FC236}">
                  <a16:creationId xmlns:a16="http://schemas.microsoft.com/office/drawing/2014/main" id="{B77472EF-5302-4084-A323-B4F674D5B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1002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</p:grpSp>
      <p:grpSp>
        <p:nvGrpSpPr>
          <p:cNvPr id="28678" name="Group 12">
            <a:extLst>
              <a:ext uri="{FF2B5EF4-FFF2-40B4-BE49-F238E27FC236}">
                <a16:creationId xmlns:a16="http://schemas.microsoft.com/office/drawing/2014/main" id="{D10EEC62-AA97-4C2A-86D0-52AC168F97EB}"/>
              </a:ext>
            </a:extLst>
          </p:cNvPr>
          <p:cNvGrpSpPr>
            <a:grpSpLocks/>
          </p:cNvGrpSpPr>
          <p:nvPr/>
        </p:nvGrpSpPr>
        <p:grpSpPr bwMode="auto">
          <a:xfrm>
            <a:off x="8015288" y="5340350"/>
            <a:ext cx="88900" cy="492125"/>
            <a:chOff x="581" y="748"/>
            <a:chExt cx="56" cy="310"/>
          </a:xfrm>
        </p:grpSpPr>
        <p:sp>
          <p:nvSpPr>
            <p:cNvPr id="28702" name="Oval 13">
              <a:extLst>
                <a:ext uri="{FF2B5EF4-FFF2-40B4-BE49-F238E27FC236}">
                  <a16:creationId xmlns:a16="http://schemas.microsoft.com/office/drawing/2014/main" id="{CF2D8EB6-642D-4016-9936-28319FA14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874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28703" name="Oval 14">
              <a:extLst>
                <a:ext uri="{FF2B5EF4-FFF2-40B4-BE49-F238E27FC236}">
                  <a16:creationId xmlns:a16="http://schemas.microsoft.com/office/drawing/2014/main" id="{F9B67C08-D8A4-4354-8772-28EF1121B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748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28704" name="Oval 15">
              <a:extLst>
                <a:ext uri="{FF2B5EF4-FFF2-40B4-BE49-F238E27FC236}">
                  <a16:creationId xmlns:a16="http://schemas.microsoft.com/office/drawing/2014/main" id="{2CD9B49B-DF80-4AB3-8DD2-D3586E8C1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1002"/>
              <a:ext cx="56" cy="5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</p:grpSp>
      <p:grpSp>
        <p:nvGrpSpPr>
          <p:cNvPr id="28679" name="Group 17">
            <a:extLst>
              <a:ext uri="{FF2B5EF4-FFF2-40B4-BE49-F238E27FC236}">
                <a16:creationId xmlns:a16="http://schemas.microsoft.com/office/drawing/2014/main" id="{CF952963-44DB-4F69-995D-4F6A4F77E875}"/>
              </a:ext>
            </a:extLst>
          </p:cNvPr>
          <p:cNvGrpSpPr>
            <a:grpSpLocks/>
          </p:cNvGrpSpPr>
          <p:nvPr/>
        </p:nvGrpSpPr>
        <p:grpSpPr bwMode="auto">
          <a:xfrm>
            <a:off x="7283450" y="3502026"/>
            <a:ext cx="1630363" cy="836613"/>
            <a:chOff x="4584" y="792"/>
            <a:chExt cx="1027" cy="527"/>
          </a:xfrm>
          <a:solidFill>
            <a:srgbClr val="FFCCCC"/>
          </a:solidFill>
        </p:grpSpPr>
        <p:sp>
          <p:nvSpPr>
            <p:cNvPr id="28699" name="Rectangle 18">
              <a:extLst>
                <a:ext uri="{FF2B5EF4-FFF2-40B4-BE49-F238E27FC236}">
                  <a16:creationId xmlns:a16="http://schemas.microsoft.com/office/drawing/2014/main" id="{A8545C0C-D397-4E9E-9248-9F04B8101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793"/>
              <a:ext cx="1027" cy="526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de-DE" altLang="de-DE" sz="1800">
                <a:latin typeface="Arial Unicode MS" pitchFamily="34" charset="-128"/>
              </a:endParaRPr>
            </a:p>
          </p:txBody>
        </p:sp>
        <p:sp>
          <p:nvSpPr>
            <p:cNvPr id="28701" name="Text Box 20">
              <a:extLst>
                <a:ext uri="{FF2B5EF4-FFF2-40B4-BE49-F238E27FC236}">
                  <a16:creationId xmlns:a16="http://schemas.microsoft.com/office/drawing/2014/main" id="{E3DA4CDE-3C34-4432-B6E5-9E482E03A7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8" y="792"/>
              <a:ext cx="413" cy="17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123472</a:t>
              </a:r>
            </a:p>
          </p:txBody>
        </p:sp>
      </p:grpSp>
      <p:sp>
        <p:nvSpPr>
          <p:cNvPr id="28696" name="Rectangle 22">
            <a:extLst>
              <a:ext uri="{FF2B5EF4-FFF2-40B4-BE49-F238E27FC236}">
                <a16:creationId xmlns:a16="http://schemas.microsoft.com/office/drawing/2014/main" id="{B7EA70BA-4699-4BE9-B140-FC5476C1F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450" y="4338638"/>
            <a:ext cx="1630363" cy="835025"/>
          </a:xfrm>
          <a:prstGeom prst="rect">
            <a:avLst/>
          </a:prstGeom>
          <a:solidFill>
            <a:srgbClr val="FFCC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1800">
              <a:latin typeface="Arial Unicode MS" pitchFamily="34" charset="-128"/>
            </a:endParaRPr>
          </a:p>
        </p:txBody>
      </p:sp>
      <p:sp>
        <p:nvSpPr>
          <p:cNvPr id="28698" name="Text Box 24">
            <a:extLst>
              <a:ext uri="{FF2B5EF4-FFF2-40B4-BE49-F238E27FC236}">
                <a16:creationId xmlns:a16="http://schemas.microsoft.com/office/drawing/2014/main" id="{8DFAF366-ACA0-4F29-890B-95DFAD32D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6269" y="4346733"/>
            <a:ext cx="655949" cy="276999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123480</a:t>
            </a:r>
          </a:p>
        </p:txBody>
      </p:sp>
      <p:sp>
        <p:nvSpPr>
          <p:cNvPr id="28693" name="Rectangle 26">
            <a:extLst>
              <a:ext uri="{FF2B5EF4-FFF2-40B4-BE49-F238E27FC236}">
                <a16:creationId xmlns:a16="http://schemas.microsoft.com/office/drawing/2014/main" id="{93589198-407F-4094-B9E4-D2B79F125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450" y="1009650"/>
            <a:ext cx="1630363" cy="835025"/>
          </a:xfrm>
          <a:prstGeom prst="rect">
            <a:avLst/>
          </a:prstGeom>
          <a:solidFill>
            <a:srgbClr val="FFCC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1800">
              <a:latin typeface="Arial Unicode MS" pitchFamily="34" charset="-128"/>
            </a:endParaRPr>
          </a:p>
        </p:txBody>
      </p:sp>
      <p:sp>
        <p:nvSpPr>
          <p:cNvPr id="28695" name="Text Box 28">
            <a:extLst>
              <a:ext uri="{FF2B5EF4-FFF2-40B4-BE49-F238E27FC236}">
                <a16:creationId xmlns:a16="http://schemas.microsoft.com/office/drawing/2014/main" id="{B18B1A6F-4DE2-43EC-8397-3DF72945C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6901" y="1017588"/>
            <a:ext cx="655949" cy="276999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123448</a:t>
            </a:r>
          </a:p>
        </p:txBody>
      </p:sp>
      <p:sp>
        <p:nvSpPr>
          <p:cNvPr id="505885" name="Text Box 29">
            <a:extLst>
              <a:ext uri="{FF2B5EF4-FFF2-40B4-BE49-F238E27FC236}">
                <a16:creationId xmlns:a16="http://schemas.microsoft.com/office/drawing/2014/main" id="{76E87EEF-0BAC-45AC-A38D-0883F13F0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75" y="1184275"/>
            <a:ext cx="4595813" cy="2308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double *zeiger;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zeiger = malloc(sizeof(double));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*zeiger = 1.113;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solidFill>
                  <a:srgbClr val="FF0066"/>
                </a:solidFill>
                <a:latin typeface="Courier New" panose="02070309020205020404" pitchFamily="49" charset="0"/>
              </a:rPr>
              <a:t>free(zeiger);</a:t>
            </a:r>
          </a:p>
        </p:txBody>
      </p:sp>
      <p:sp>
        <p:nvSpPr>
          <p:cNvPr id="28690" name="Rectangle 35">
            <a:extLst>
              <a:ext uri="{FF2B5EF4-FFF2-40B4-BE49-F238E27FC236}">
                <a16:creationId xmlns:a16="http://schemas.microsoft.com/office/drawing/2014/main" id="{1EAF7B72-8C4B-4254-BC3D-F5329234C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450" y="2670175"/>
            <a:ext cx="1630363" cy="835025"/>
          </a:xfrm>
          <a:prstGeom prst="rect">
            <a:avLst/>
          </a:prstGeom>
          <a:solidFill>
            <a:srgbClr val="FFCC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de-DE" altLang="de-DE" sz="1800">
              <a:latin typeface="Arial Unicode MS" pitchFamily="34" charset="-128"/>
            </a:endParaRPr>
          </a:p>
        </p:txBody>
      </p:sp>
      <p:sp>
        <p:nvSpPr>
          <p:cNvPr id="28692" name="Text Box 37">
            <a:extLst>
              <a:ext uri="{FF2B5EF4-FFF2-40B4-BE49-F238E27FC236}">
                <a16:creationId xmlns:a16="http://schemas.microsoft.com/office/drawing/2014/main" id="{E3FD58D2-159D-4234-B434-BFA311D5D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1351" y="2679622"/>
            <a:ext cx="655949" cy="276999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123464</a:t>
            </a:r>
          </a:p>
        </p:txBody>
      </p:sp>
      <p:sp>
        <p:nvSpPr>
          <p:cNvPr id="505897" name="Text Box 41">
            <a:extLst>
              <a:ext uri="{FF2B5EF4-FFF2-40B4-BE49-F238E27FC236}">
                <a16:creationId xmlns:a16="http://schemas.microsoft.com/office/drawing/2014/main" id="{D48DC559-2379-4EDD-B92F-9E2774EA1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25" y="3897313"/>
            <a:ext cx="768159" cy="40011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1.113</a:t>
            </a:r>
          </a:p>
        </p:txBody>
      </p:sp>
      <p:sp>
        <p:nvSpPr>
          <p:cNvPr id="505900" name="Line 44">
            <a:extLst>
              <a:ext uri="{FF2B5EF4-FFF2-40B4-BE49-F238E27FC236}">
                <a16:creationId xmlns:a16="http://schemas.microsoft.com/office/drawing/2014/main" id="{2DDAB63A-84B9-40A7-B3EB-A2F1EA52A9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3900" y="1346200"/>
            <a:ext cx="400050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05901" name="Text Box 45">
            <a:extLst>
              <a:ext uri="{FF2B5EF4-FFF2-40B4-BE49-F238E27FC236}">
                <a16:creationId xmlns:a16="http://schemas.microsoft.com/office/drawing/2014/main" id="{7747A710-C837-4814-8D79-8BCBC06DF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25" y="2195513"/>
            <a:ext cx="963725" cy="40011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123472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97" grpId="0" animBg="1"/>
      <p:bldP spid="505901" grpId="0" animBg="1"/>
      <p:bldP spid="505901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liennummernplatzhalter 3">
            <a:extLst>
              <a:ext uri="{FF2B5EF4-FFF2-40B4-BE49-F238E27FC236}">
                <a16:creationId xmlns:a16="http://schemas.microsoft.com/office/drawing/2014/main" id="{7BC2531E-D42E-49D0-AEB6-793F2CB824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3F09E6-0AE4-4079-96A5-7ACB572E7194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de-DE" altLang="de-DE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E202F59-029D-4707-9B3A-7EDB91797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700" y="273050"/>
            <a:ext cx="8585200" cy="633413"/>
          </a:xfrm>
        </p:spPr>
        <p:txBody>
          <a:bodyPr/>
          <a:lstStyle/>
          <a:p>
            <a:pPr eaLnBrk="1" hangingPunct="1"/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Dynamischer Speicher: Feld (eindimensional)</a:t>
            </a:r>
          </a:p>
        </p:txBody>
      </p:sp>
      <p:sp>
        <p:nvSpPr>
          <p:cNvPr id="30724" name="Text Box 28">
            <a:extLst>
              <a:ext uri="{FF2B5EF4-FFF2-40B4-BE49-F238E27FC236}">
                <a16:creationId xmlns:a16="http://schemas.microsoft.com/office/drawing/2014/main" id="{B11537B3-540B-40C2-ACA1-881FD3CAA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184275"/>
            <a:ext cx="7712075" cy="4211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feld</a:t>
            </a:r>
            <a:r>
              <a:rPr lang="de-DE" altLang="de-DE" sz="1800" b="1" dirty="0">
                <a:latin typeface="Courier New" panose="02070309020205020404" pitchFamily="49" charset="0"/>
              </a:rPr>
              <a:t>[100];//nicht dynamisch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dyn_feld</a:t>
            </a:r>
            <a:r>
              <a:rPr lang="de-DE" altLang="de-DE" sz="1800" b="1" dirty="0">
                <a:latin typeface="Courier New" panose="02070309020205020404" pitchFamily="49" charset="0"/>
              </a:rPr>
              <a:t>;//Zeiger für dynamisches Feld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feldgroesse</a:t>
            </a:r>
            <a:r>
              <a:rPr lang="de-DE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printf</a:t>
            </a:r>
            <a:r>
              <a:rPr lang="de-DE" altLang="de-DE" sz="1800" b="1" dirty="0">
                <a:latin typeface="Courier New" panose="02070309020205020404" pitchFamily="49" charset="0"/>
              </a:rPr>
              <a:t>("Wie groß soll das Feld sein?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scanf</a:t>
            </a:r>
            <a:r>
              <a:rPr lang="de-DE" altLang="de-DE" sz="1800" b="1" dirty="0">
                <a:latin typeface="Courier New" panose="02070309020205020404" pitchFamily="49" charset="0"/>
              </a:rPr>
              <a:t>("%i",&amp;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feldgroesse</a:t>
            </a:r>
            <a:r>
              <a:rPr lang="de-DE" altLang="de-DE" sz="18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//Anlegen des dynamischen Feldes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dyn_feld</a:t>
            </a: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dyn_feld</a:t>
            </a:r>
            <a:r>
              <a:rPr lang="de-DE" altLang="de-DE" sz="1800" b="1" dirty="0">
                <a:latin typeface="Courier New" panose="02070309020205020404" pitchFamily="49" charset="0"/>
              </a:rPr>
              <a:t> =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) *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feldgroesse</a:t>
            </a:r>
            <a:r>
              <a:rPr lang="de-DE" altLang="de-DE" sz="18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dyn_feld</a:t>
            </a:r>
            <a:r>
              <a:rPr lang="de-DE" altLang="de-DE" sz="1800" b="1" dirty="0">
                <a:latin typeface="Courier New" panose="02070309020205020404" pitchFamily="49" charset="0"/>
              </a:rPr>
              <a:t> ==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//Fehlerbehandlung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else</a:t>
            </a:r>
            <a:r>
              <a:rPr lang="de-DE" altLang="de-DE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dyn_feld</a:t>
            </a:r>
            <a:r>
              <a:rPr lang="de-DE" altLang="de-DE" sz="1800" b="1" dirty="0">
                <a:latin typeface="Courier New" panose="02070309020205020404" pitchFamily="49" charset="0"/>
              </a:rPr>
              <a:t>[88]=13;//schlimme Fehlerquelle!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feld</a:t>
            </a:r>
            <a:r>
              <a:rPr lang="de-DE" altLang="de-DE" sz="1800" b="1" dirty="0">
                <a:latin typeface="Courier New" panose="02070309020205020404" pitchFamily="49" charset="0"/>
              </a:rPr>
              <a:t>[88]=13;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}</a:t>
            </a:r>
            <a:endParaRPr lang="de-DE" altLang="de-DE" sz="1800" b="1" dirty="0">
              <a:solidFill>
                <a:srgbClr val="FF0066"/>
              </a:solidFill>
              <a:latin typeface="Courier New" panose="02070309020205020404" pitchFamily="49" charset="0"/>
            </a:endParaRPr>
          </a:p>
        </p:txBody>
      </p:sp>
      <p:sp>
        <p:nvSpPr>
          <p:cNvPr id="30725" name="Text Box 6">
            <a:extLst>
              <a:ext uri="{FF2B5EF4-FFF2-40B4-BE49-F238E27FC236}">
                <a16:creationId xmlns:a16="http://schemas.microsoft.com/office/drawing/2014/main" id="{431D1501-B8E4-4A90-8A5A-1E93CC12A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5489059"/>
            <a:ext cx="49474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u="sng" dirty="0">
                <a:latin typeface="Calibri" panose="020F0502020204030204" pitchFamily="34" charset="0"/>
                <a:cs typeface="Calibri" panose="020F0502020204030204" pitchFamily="34" charset="0"/>
              </a:rPr>
              <a:t>Frage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: Warum ist dies eine schlimme Fehlerquelle?</a:t>
            </a:r>
          </a:p>
        </p:txBody>
      </p:sp>
      <p:pic>
        <p:nvPicPr>
          <p:cNvPr id="6" name="Grafik 2">
            <a:extLst>
              <a:ext uri="{FF2B5EF4-FFF2-40B4-BE49-F238E27FC236}">
                <a16:creationId xmlns:a16="http://schemas.microsoft.com/office/drawing/2014/main" id="{AEBED830-EB33-434F-8DC8-2216B54D0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970" y="5455274"/>
            <a:ext cx="691990" cy="563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3">
            <a:extLst>
              <a:ext uri="{FF2B5EF4-FFF2-40B4-BE49-F238E27FC236}">
                <a16:creationId xmlns:a16="http://schemas.microsoft.com/office/drawing/2014/main" id="{EEC46225-02E3-4C94-B146-BAD64626B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F91516-8A9A-4181-B793-0FBC57A56DFA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de-DE" altLang="de-DE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055A92D4-1501-44CD-BACD-36F509D46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700" y="273050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Dynamischer Speicher: Feld (2-dim.)</a:t>
            </a: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E0F883E2-06BA-47BE-9366-B81279937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019175"/>
            <a:ext cx="7904728" cy="39703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matrix</a:t>
            </a:r>
            <a:r>
              <a:rPr lang="de-DE" altLang="de-DE" sz="1800" b="1" dirty="0">
                <a:latin typeface="Courier New" panose="02070309020205020404" pitchFamily="49" charset="0"/>
              </a:rPr>
              <a:t>[2][3];//nicht dynamisch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**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dyn_matrix</a:t>
            </a:r>
            <a:r>
              <a:rPr lang="de-DE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zeilen,spalten</a:t>
            </a:r>
            <a:r>
              <a:rPr lang="de-DE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zeilen</a:t>
            </a:r>
            <a:r>
              <a:rPr lang="de-DE" altLang="de-DE" sz="1800" b="1" dirty="0">
                <a:latin typeface="Courier New" panose="02070309020205020404" pitchFamily="49" charset="0"/>
              </a:rPr>
              <a:t> = 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spalten = 3;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dyn_matrix</a:t>
            </a:r>
            <a:r>
              <a:rPr lang="de-DE" altLang="de-DE" sz="1800" b="1" dirty="0">
                <a:latin typeface="Courier New" panose="02070309020205020404" pitchFamily="49" charset="0"/>
              </a:rPr>
              <a:t> =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*) * 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zeilen</a:t>
            </a:r>
            <a:r>
              <a:rPr lang="de-DE" altLang="de-DE" sz="1800" b="1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for</a:t>
            </a:r>
            <a:r>
              <a:rPr lang="de-DE" altLang="de-DE" sz="1800" b="1" dirty="0">
                <a:latin typeface="Courier New" panose="02070309020205020404" pitchFamily="49" charset="0"/>
              </a:rPr>
              <a:t>(i=0;i&lt;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zeilen;i</a:t>
            </a:r>
            <a:r>
              <a:rPr lang="de-DE" altLang="de-DE" sz="1800" b="1" dirty="0">
                <a:latin typeface="Courier New" panose="02070309020205020404" pitchFamily="49" charset="0"/>
              </a:rPr>
              <a:t>++){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dyn_matrix</a:t>
            </a:r>
            <a:r>
              <a:rPr lang="de-DE" altLang="de-DE" sz="1800" b="1" dirty="0">
                <a:latin typeface="Courier New" panose="02070309020205020404" pitchFamily="49" charset="0"/>
              </a:rPr>
              <a:t>[i] =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) * (spalten));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//*(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dyn_matrix+i</a:t>
            </a:r>
            <a:r>
              <a:rPr lang="de-DE" altLang="de-DE" sz="1800" b="1">
                <a:latin typeface="Courier New" panose="02070309020205020404" pitchFamily="49" charset="0"/>
              </a:rPr>
              <a:t>) = malloc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) * (spalten));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2773" name="Text Box 7">
            <a:extLst>
              <a:ext uri="{FF2B5EF4-FFF2-40B4-BE49-F238E27FC236}">
                <a16:creationId xmlns:a16="http://schemas.microsoft.com/office/drawing/2014/main" id="{B444DE35-E60C-4135-9A9D-B4896FDD1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4912728"/>
            <a:ext cx="8464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Bemerkung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: Die Zeilen einer dynamischen Matrix müssen </a:t>
            </a:r>
            <a:r>
              <a:rPr lang="de-DE" altLang="de-DE" sz="1800" u="sng" dirty="0">
                <a:latin typeface="Calibri" panose="020F0502020204030204" pitchFamily="34" charset="0"/>
                <a:cs typeface="Calibri" panose="020F0502020204030204" pitchFamily="34" charset="0"/>
              </a:rPr>
              <a:t>nicht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unbedingt hinter einander liegen!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7A6D83F-ACA4-4071-982C-98860A15503E}"/>
              </a:ext>
            </a:extLst>
          </p:cNvPr>
          <p:cNvSpPr txBox="1"/>
          <p:nvPr/>
        </p:nvSpPr>
        <p:spPr>
          <a:xfrm>
            <a:off x="1138059" y="5654159"/>
            <a:ext cx="323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https://youtu.be/Mp0H8fRstuo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5D467CE-D0FF-4E6B-A9A6-4A9AA7D17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19" y="5518396"/>
            <a:ext cx="698840" cy="6014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liennummernplatzhalter 3">
            <a:extLst>
              <a:ext uri="{FF2B5EF4-FFF2-40B4-BE49-F238E27FC236}">
                <a16:creationId xmlns:a16="http://schemas.microsoft.com/office/drawing/2014/main" id="{8427D3F0-2D74-4AF8-9753-A018EB4C2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97139B-1E80-4115-BA27-8B3691AFD386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de-DE" altLang="de-DE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6CA4805-BACA-4BBF-BD36-748A5E7DA4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75" y="184149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Dynamischer Speicher: Flexible Eingabe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2D0DD3A-CA7C-4D07-99FB-6DB0B0D93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904875"/>
            <a:ext cx="8520113" cy="5189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>
                <a:latin typeface="Courier New" panose="02070309020205020404" pitchFamily="49" charset="0"/>
              </a:rPr>
              <a:t>	</a:t>
            </a:r>
            <a:endParaRPr lang="de-DE" altLang="de-DE" sz="1800">
              <a:latin typeface="Courier New" panose="02070309020205020404" pitchFamily="49" charset="0"/>
            </a:endParaRPr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37719AFB-71F5-4908-8EF3-400CB0211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866833"/>
            <a:ext cx="8520113" cy="47705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#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include</a:t>
            </a:r>
            <a:r>
              <a:rPr lang="de-DE" altLang="de-DE" sz="1600" b="1" dirty="0">
                <a:latin typeface="Courier New" panose="02070309020205020404" pitchFamily="49" charset="0"/>
              </a:rPr>
              <a:t> &lt;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stdio.h</a:t>
            </a:r>
            <a:r>
              <a:rPr lang="de-DE" altLang="de-DE" sz="1600" b="1" dirty="0">
                <a:latin typeface="Courier New" panose="02070309020205020404" pitchFamily="49" charset="0"/>
              </a:rPr>
              <a:t>&gt;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#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include</a:t>
            </a:r>
            <a:r>
              <a:rPr lang="de-DE" altLang="de-DE" sz="1600" b="1" dirty="0">
                <a:latin typeface="Courier New" panose="02070309020205020404" pitchFamily="49" charset="0"/>
              </a:rPr>
              <a:t> &lt;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string.h</a:t>
            </a:r>
            <a:r>
              <a:rPr lang="de-DE" altLang="de-DE" sz="1600" b="1" dirty="0">
                <a:latin typeface="Courier New" panose="02070309020205020404" pitchFamily="49" charset="0"/>
              </a:rPr>
              <a:t>&gt;//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strlen</a:t>
            </a:r>
            <a:r>
              <a:rPr lang="de-DE" altLang="de-DE" sz="1600" b="1" dirty="0">
                <a:latin typeface="Courier New" panose="02070309020205020404" pitchFamily="49" charset="0"/>
              </a:rPr>
              <a:t>: Länge von String,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strcpy</a:t>
            </a:r>
            <a:r>
              <a:rPr lang="de-DE" altLang="de-DE" sz="1600" b="1" dirty="0">
                <a:latin typeface="Courier New" panose="02070309020205020404" pitchFamily="49" charset="0"/>
              </a:rPr>
              <a:t>: Kopieren //String in String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#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include</a:t>
            </a:r>
            <a:r>
              <a:rPr lang="de-DE" altLang="de-DE" sz="1600" b="1" dirty="0">
                <a:latin typeface="Courier New" panose="02070309020205020404" pitchFamily="49" charset="0"/>
              </a:rPr>
              <a:t> &lt;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stdlib.h</a:t>
            </a:r>
            <a:r>
              <a:rPr lang="de-DE" altLang="de-DE" sz="1600" b="1" dirty="0">
                <a:latin typeface="Courier New" panose="02070309020205020404" pitchFamily="49" charset="0"/>
              </a:rPr>
              <a:t>&gt;                                 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600" b="1" dirty="0">
                <a:latin typeface="Courier New" panose="02070309020205020404" pitchFamily="49" charset="0"/>
              </a:rPr>
              <a:t>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main</a:t>
            </a:r>
            <a:r>
              <a:rPr lang="de-DE" altLang="de-DE" sz="1600" b="1" dirty="0">
                <a:latin typeface="Courier New" panose="02070309020205020404" pitchFamily="49" charset="0"/>
              </a:rPr>
              <a:t>(){                              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1: 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char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 *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hilfsfeld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2: 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char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 *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eingabe</a:t>
            </a:r>
            <a:r>
              <a:rPr lang="de-DE" altLang="de-DE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3: 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hilfsfeld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 = 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malloc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sizeof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char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) * 100);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4: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printf</a:t>
            </a:r>
            <a:r>
              <a:rPr lang="de-DE" altLang="de-DE" sz="1600" b="1" dirty="0">
                <a:latin typeface="Courier New" panose="02070309020205020404" pitchFamily="49" charset="0"/>
              </a:rPr>
              <a:t>("Eingabe eines Wort kleiner 100 Buchstaben:");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5: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scanf</a:t>
            </a:r>
            <a:r>
              <a:rPr lang="de-DE" altLang="de-DE" sz="1600" b="1" dirty="0">
                <a:latin typeface="Courier New" panose="02070309020205020404" pitchFamily="49" charset="0"/>
              </a:rPr>
              <a:t>("%s",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hilfsfeld</a:t>
            </a:r>
            <a:r>
              <a:rPr lang="de-DE" altLang="de-DE" sz="16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//Nicht wichtig: löscht das Enter in der Eingabe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6: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fflush</a:t>
            </a:r>
            <a:r>
              <a:rPr lang="de-DE" altLang="de-DE" sz="1600" b="1" dirty="0"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stdin</a:t>
            </a:r>
            <a:r>
              <a:rPr lang="de-DE" altLang="de-DE" sz="16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7: 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eingabe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 = 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malloc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sizeof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char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)*(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strlen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hilfsfeld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)+1));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  </a:t>
            </a:r>
            <a:r>
              <a:rPr lang="de-DE" altLang="de-DE" sz="1600" b="1" dirty="0">
                <a:latin typeface="Courier New" panose="02070309020205020404" pitchFamily="49" charset="0"/>
              </a:rPr>
              <a:t>//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hilfsfeld</a:t>
            </a:r>
            <a:r>
              <a:rPr lang="de-DE" altLang="de-DE" sz="1600" b="1" dirty="0">
                <a:latin typeface="Courier New" panose="02070309020205020404" pitchFamily="49" charset="0"/>
              </a:rPr>
              <a:t> wird nach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eingabe</a:t>
            </a:r>
            <a:r>
              <a:rPr lang="de-DE" altLang="de-DE" sz="1600" b="1" dirty="0">
                <a:latin typeface="Courier New" panose="02070309020205020404" pitchFamily="49" charset="0"/>
              </a:rPr>
              <a:t> kopiert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8: 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strcpy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eingabe,hilfsfeld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);</a:t>
            </a:r>
            <a:endParaRPr lang="de-DE" altLang="de-DE" sz="16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9: 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free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hilfsfeld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);                       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return</a:t>
            </a:r>
            <a:r>
              <a:rPr lang="de-DE" altLang="de-DE" sz="1600" b="1" dirty="0">
                <a:latin typeface="Courier New" panose="02070309020205020404" pitchFamily="49" charset="0"/>
              </a:rPr>
              <a:t>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ED160B8-6924-44B8-8829-2870A5F425EF}"/>
              </a:ext>
            </a:extLst>
          </p:cNvPr>
          <p:cNvSpPr txBox="1"/>
          <p:nvPr/>
        </p:nvSpPr>
        <p:spPr>
          <a:xfrm flipH="1">
            <a:off x="266700" y="5568591"/>
            <a:ext cx="8512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Bemerkung: Das +1 im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malloc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wird für das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Endezeichen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‘\0‘ von Strings benötigt.</a:t>
            </a:r>
          </a:p>
          <a:p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Beispiel: Beim Umzug Dinge in der </a:t>
            </a:r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Garage zwischenlagern… 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liennummernplatzhalter 3">
            <a:extLst>
              <a:ext uri="{FF2B5EF4-FFF2-40B4-BE49-F238E27FC236}">
                <a16:creationId xmlns:a16="http://schemas.microsoft.com/office/drawing/2014/main" id="{8427D3F0-2D74-4AF8-9753-A018EB4C2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97139B-1E80-4115-BA27-8B3691AFD386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de-DE" altLang="de-DE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6CA4805-BACA-4BBF-BD36-748A5E7DA4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540" y="307975"/>
            <a:ext cx="8229600" cy="1703211"/>
          </a:xfrm>
          <a:solidFill>
            <a:srgbClr val="FFC000"/>
          </a:solidFill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Extrapunkte für Klausur: Beispiel aus dem täglichen Leben für flexible Eingabe</a:t>
            </a:r>
          </a:p>
        </p:txBody>
      </p:sp>
    </p:spTree>
    <p:extLst>
      <p:ext uri="{BB962C8B-B14F-4D97-AF65-F5344CB8AC3E}">
        <p14:creationId xmlns:p14="http://schemas.microsoft.com/office/powerpoint/2010/main" val="1865663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liennummernplatzhalter 3">
            <a:extLst>
              <a:ext uri="{FF2B5EF4-FFF2-40B4-BE49-F238E27FC236}">
                <a16:creationId xmlns:a16="http://schemas.microsoft.com/office/drawing/2014/main" id="{E1FC57C3-4E4A-4323-A350-97128AF47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6273D2-F4A3-4DB9-A0EC-DE76906F3646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de-DE" altLang="de-DE" sz="14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AACDA68-1028-44D4-82D6-F7991514A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3556" y="333278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200" b="1" dirty="0">
                <a:latin typeface="Calibri" panose="020F0502020204030204" pitchFamily="34" charset="0"/>
                <a:cs typeface="Calibri" panose="020F0502020204030204" pitchFamily="34" charset="0"/>
              </a:rPr>
              <a:t>Achtung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: Dynamischer Speicher: Freigeben Fehlerquelle</a:t>
            </a:r>
          </a:p>
        </p:txBody>
      </p:sp>
      <p:sp>
        <p:nvSpPr>
          <p:cNvPr id="36868" name="Rectangle 36">
            <a:extLst>
              <a:ext uri="{FF2B5EF4-FFF2-40B4-BE49-F238E27FC236}">
                <a16:creationId xmlns:a16="http://schemas.microsoft.com/office/drawing/2014/main" id="{EB28AEC9-B0C6-46FC-BD87-02B9215BD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338" y="1991360"/>
            <a:ext cx="6210300" cy="31235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>
                <a:latin typeface="Courier New" panose="02070309020205020404" pitchFamily="49" charset="0"/>
              </a:rPr>
              <a:t>	</a:t>
            </a:r>
            <a:endParaRPr lang="de-DE" altLang="de-DE" sz="1800">
              <a:latin typeface="Courier New" panose="02070309020205020404" pitchFamily="49" charset="0"/>
            </a:endParaRPr>
          </a:p>
        </p:txBody>
      </p:sp>
      <p:sp>
        <p:nvSpPr>
          <p:cNvPr id="511013" name="Text Box 37">
            <a:extLst>
              <a:ext uri="{FF2B5EF4-FFF2-40B4-BE49-F238E27FC236}">
                <a16:creationId xmlns:a16="http://schemas.microsoft.com/office/drawing/2014/main" id="{74F63D9B-344C-403D-826B-B0CF675AD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8" y="2080260"/>
            <a:ext cx="473398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double z;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double 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zeiger</a:t>
            </a:r>
            <a:r>
              <a:rPr lang="de-DE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z = 99.9;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zeiger</a:t>
            </a:r>
            <a:r>
              <a:rPr lang="de-DE" altLang="de-DE" sz="1800" b="1" dirty="0">
                <a:latin typeface="Courier New" panose="02070309020205020404" pitchFamily="49" charset="0"/>
              </a:rPr>
              <a:t> =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800" b="1" dirty="0">
                <a:latin typeface="Courier New" panose="02070309020205020404" pitchFamily="49" charset="0"/>
              </a:rPr>
              <a:t>(double));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zeiger</a:t>
            </a:r>
            <a:r>
              <a:rPr lang="de-DE" altLang="de-DE" sz="1800" b="1" dirty="0">
                <a:latin typeface="Courier New" panose="02070309020205020404" pitchFamily="49" charset="0"/>
              </a:rPr>
              <a:t> = 3.333;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zeiger</a:t>
            </a: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  = &amp;z;</a:t>
            </a:r>
          </a:p>
        </p:txBody>
      </p:sp>
      <p:sp>
        <p:nvSpPr>
          <p:cNvPr id="511016" name="Text Box 40">
            <a:extLst>
              <a:ext uri="{FF2B5EF4-FFF2-40B4-BE49-F238E27FC236}">
                <a16:creationId xmlns:a16="http://schemas.microsoft.com/office/drawing/2014/main" id="{BCDA56EE-34E6-42C7-B963-901053215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556" y="1045386"/>
            <a:ext cx="81168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Verlust des Speichers: man weiß nicht mehr, wo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die 3.333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gespeichert ist (oder: wenn man die Nummer eines Schließfaches vergisst, ist die Tasche im Schließfach zwar noch da, aber man weiß nicht wo sie ist)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B95AAC8-A9F6-429E-87DE-1C348A8F5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396" y="307975"/>
            <a:ext cx="695004" cy="5608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10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liennummernplatzhalter 3">
            <a:extLst>
              <a:ext uri="{FF2B5EF4-FFF2-40B4-BE49-F238E27FC236}">
                <a16:creationId xmlns:a16="http://schemas.microsoft.com/office/drawing/2014/main" id="{855BC65D-ACF4-4AAE-A52C-D79E26EFA3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42A6B4-6C82-45A1-9455-077699881DA4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de-DE" altLang="de-DE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8C2F2A85-5641-454F-820E-270BC7FC3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Dynamischer Speicher: Übung</a:t>
            </a:r>
          </a:p>
        </p:txBody>
      </p:sp>
      <p:sp>
        <p:nvSpPr>
          <p:cNvPr id="544773" name="Text Box 5">
            <a:extLst>
              <a:ext uri="{FF2B5EF4-FFF2-40B4-BE49-F238E27FC236}">
                <a16:creationId xmlns:a16="http://schemas.microsoft.com/office/drawing/2014/main" id="{C47CAAF3-90DC-478F-B2A7-EFD08B2B6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343025"/>
            <a:ext cx="6623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Schreibe eine Funktion, die 2 Strings nacheinander in einen schreibt!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952DE26-FE52-44C9-93A6-2F25B90D80E6}"/>
              </a:ext>
            </a:extLst>
          </p:cNvPr>
          <p:cNvSpPr txBox="1"/>
          <p:nvPr/>
        </p:nvSpPr>
        <p:spPr>
          <a:xfrm>
            <a:off x="711200" y="4805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liennummernplatzhalter 3">
            <a:extLst>
              <a:ext uri="{FF2B5EF4-FFF2-40B4-BE49-F238E27FC236}">
                <a16:creationId xmlns:a16="http://schemas.microsoft.com/office/drawing/2014/main" id="{C73FFC48-9EBB-4EA9-A5F6-AAA31335D8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4C1F13-BEFD-4DB6-A9D9-B7E147707AEB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de-DE" altLang="de-DE" sz="14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2930AEBA-FD65-49EE-AC7D-CD6C96211A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Bemerkungen: Speichermüllbeseitigung</a:t>
            </a:r>
          </a:p>
        </p:txBody>
      </p:sp>
      <p:sp>
        <p:nvSpPr>
          <p:cNvPr id="546824" name="Text Box 8">
            <a:extLst>
              <a:ext uri="{FF2B5EF4-FFF2-40B4-BE49-F238E27FC236}">
                <a16:creationId xmlns:a16="http://schemas.microsoft.com/office/drawing/2014/main" id="{92CCF07B-13E7-4A19-BF28-7FE9332F5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1055688"/>
            <a:ext cx="8326437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Wird häufig Speicher angefordert und teilweise wieder freigegeben, so kann es passieren, dass der Heap-Arbeitsspeicher in viele kleine Bereiche fragmentiert wird, die abwechselnd frei und belegt sind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Löchersalve</a:t>
            </a:r>
            <a:endParaRPr lang="de-DE" alt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Irgendwann kann man keine längeren Speicherbereiche mehr reservieren, obwohl insgesamt noch genügend Platz ist.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Dann muss man </a:t>
            </a:r>
            <a:r>
              <a:rPr lang="de-DE" altLang="de-DE" sz="1800" i="1" dirty="0" err="1">
                <a:latin typeface="Calibri" panose="020F0502020204030204" pitchFamily="34" charset="0"/>
                <a:cs typeface="Calibri" panose="020F0502020204030204" pitchFamily="34" charset="0"/>
              </a:rPr>
              <a:t>Garbage</a:t>
            </a:r>
            <a:r>
              <a:rPr lang="de-DE" altLang="de-DE" sz="1800" i="1" dirty="0">
                <a:latin typeface="Calibri" panose="020F0502020204030204" pitchFamily="34" charset="0"/>
                <a:cs typeface="Calibri" panose="020F0502020204030204" pitchFamily="34" charset="0"/>
              </a:rPr>
              <a:t> Collection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durchführen, wobei belegte Speicherbereiche umkopiert werden, so dass sie lückenlos hintereinander liegen.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In C muss man dies selbst programmieren, wofür es die Funktionen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memcopy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memmove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gibt.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In Sprachen, wie z.B. Java, ist so eine </a:t>
            </a:r>
            <a:r>
              <a:rPr lang="de-DE" alt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Garbage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Collection eingebaut, was aber auch nicht immer super ist (Zeitverzögerung, man weiß nie, wann das passiert).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liennummernplatzhalter 3">
            <a:extLst>
              <a:ext uri="{FF2B5EF4-FFF2-40B4-BE49-F238E27FC236}">
                <a16:creationId xmlns:a16="http://schemas.microsoft.com/office/drawing/2014/main" id="{876E22B1-99E5-4599-A59F-F41E6E1E45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5103C7-D0CF-4261-9AC4-96BEDC4FA61A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de-DE" altLang="de-DE" sz="14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B0B94F70-BB52-4B90-B8E9-3FE6464CB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Dynamische Speicheranforderun</a:t>
            </a:r>
            <a:r>
              <a:rPr lang="de-DE" altLang="de-DE" sz="3600" dirty="0"/>
              <a:t>g</a:t>
            </a:r>
          </a:p>
        </p:txBody>
      </p:sp>
      <p:sp>
        <p:nvSpPr>
          <p:cNvPr id="546824" name="Text Box 8">
            <a:extLst>
              <a:ext uri="{FF2B5EF4-FFF2-40B4-BE49-F238E27FC236}">
                <a16:creationId xmlns:a16="http://schemas.microsoft.com/office/drawing/2014/main" id="{1A5B25E2-9AC2-42F9-A230-AAACD2A2A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55688"/>
            <a:ext cx="8439150" cy="25545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ct val="0"/>
              </a:spcBef>
              <a:defRPr/>
            </a:pPr>
            <a:endParaRPr lang="de-DE" altLang="de-DE" sz="2000" dirty="0"/>
          </a:p>
          <a:p>
            <a:pPr marL="285750" indent="-285750" eaLnBrk="1" hangingPunct="1">
              <a:spcBef>
                <a:spcPct val="0"/>
              </a:spcBef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Funktion </a:t>
            </a:r>
            <a:r>
              <a:rPr lang="de-DE" alt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: Anforderung von Speicher auf dem Heap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  kann schief gehen!</a:t>
            </a: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spcBef>
                <a:spcPct val="0"/>
              </a:spcBef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Funktion </a:t>
            </a:r>
            <a:r>
              <a:rPr lang="de-DE" alt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: Freigabe von Speicher</a:t>
            </a:r>
          </a:p>
          <a:p>
            <a:pPr marL="285750" indent="-285750" eaLnBrk="1" hangingPunct="1">
              <a:spcBef>
                <a:spcPct val="0"/>
              </a:spcBef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Achtung: wer viel Macht hat, kann viel falsch machen!!!</a:t>
            </a:r>
          </a:p>
          <a:p>
            <a:pPr marL="285750" indent="-285750" eaLnBrk="1" hangingPunct="1">
              <a:spcBef>
                <a:spcPct val="0"/>
              </a:spcBef>
              <a:defRPr/>
            </a:pPr>
            <a:r>
              <a:rPr lang="de-DE" altLang="de-DE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Nullpointer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de-DE" sz="2000" b="1"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 bedeutet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„obdachlos“ (mehr als obdachlos geht nicht)</a:t>
            </a:r>
          </a:p>
          <a:p>
            <a:pPr marL="285750" indent="-285750" eaLnBrk="1" hangingPunct="1">
              <a:spcBef>
                <a:spcPct val="0"/>
              </a:spcBef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Anschauliches Bild für </a:t>
            </a:r>
            <a:r>
              <a:rPr lang="de-DE" alt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: Dash-Kamera im Auto</a:t>
            </a:r>
          </a:p>
          <a:p>
            <a:pPr marL="285750" indent="-285750" eaLnBrk="1" hangingPunct="1">
              <a:spcBef>
                <a:spcPct val="0"/>
              </a:spcBef>
              <a:defRPr/>
            </a:pPr>
            <a:endParaRPr lang="de-DE" altLang="de-DE" sz="2000" dirty="0"/>
          </a:p>
        </p:txBody>
      </p:sp>
      <p:pic>
        <p:nvPicPr>
          <p:cNvPr id="53253" name="Grafik 1">
            <a:extLst>
              <a:ext uri="{FF2B5EF4-FFF2-40B4-BE49-F238E27FC236}">
                <a16:creationId xmlns:a16="http://schemas.microsoft.com/office/drawing/2014/main" id="{A95C0B04-E2B4-41F7-B289-C5DD3B56C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213" y="3048000"/>
            <a:ext cx="1733550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DAA0A1D-AAA7-4D28-9F2E-F41EBA1EDD4C}"/>
              </a:ext>
            </a:extLst>
          </p:cNvPr>
          <p:cNvSpPr txBox="1"/>
          <p:nvPr/>
        </p:nvSpPr>
        <p:spPr>
          <a:xfrm>
            <a:off x="307023" y="3679000"/>
            <a:ext cx="6344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Coco benutzt </a:t>
            </a:r>
            <a:r>
              <a:rPr lang="de-DE" dirty="0" err="1"/>
              <a:t>malloc</a:t>
            </a:r>
            <a:r>
              <a:rPr lang="de-DE" dirty="0"/>
              <a:t>: https://www.youtube.com/watch?v=GoCROdDejeE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A8D616C-885C-4199-BFCB-81CEEC48B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10" y="4272795"/>
            <a:ext cx="2913697" cy="1937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liennummernplatzhalter 3">
            <a:extLst>
              <a:ext uri="{FF2B5EF4-FFF2-40B4-BE49-F238E27FC236}">
                <a16:creationId xmlns:a16="http://schemas.microsoft.com/office/drawing/2014/main" id="{EF0B8E23-2EB7-47B5-8C50-28255C235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CC4CBA-EAF3-4E08-BD94-D9EC385FB677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de-DE" altLang="de-DE" sz="14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C5BC3AC4-EAF9-43FF-9C40-DA12CF3EA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Speicheranforderung</a:t>
            </a:r>
          </a:p>
        </p:txBody>
      </p:sp>
      <p:sp>
        <p:nvSpPr>
          <p:cNvPr id="656387" name="Text Box 3">
            <a:extLst>
              <a:ext uri="{FF2B5EF4-FFF2-40B4-BE49-F238E27FC236}">
                <a16:creationId xmlns:a16="http://schemas.microsoft.com/office/drawing/2014/main" id="{03D69537-A5A6-447C-A299-A563477FD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1249363"/>
            <a:ext cx="832485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endParaRPr lang="de-DE" altLang="de-DE" dirty="0"/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LangsamerTod.ppt 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endParaRPr lang="de-DE" alt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Stack </a:t>
            </a:r>
            <a:r>
              <a:rPr lang="de-DE" alt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overflow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 bei mir bei Deklaration eines Feldes der Größe 1000.000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endParaRPr lang="de-DE" alt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de-DE" alt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Speicherlecks.c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 (siehe Taskmanager für Arbeitsspeicherbelegungsbeobachtung, so kann Computer sogar stehen bleiben)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das führe ich ganz am Ende vor!</a:t>
            </a:r>
            <a:endParaRPr lang="de-DE" alt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liennummernplatzhalter 4">
            <a:extLst>
              <a:ext uri="{FF2B5EF4-FFF2-40B4-BE49-F238E27FC236}">
                <a16:creationId xmlns:a16="http://schemas.microsoft.com/office/drawing/2014/main" id="{C9211481-089A-4F87-A815-890DEF229EC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E502381-B368-4F88-9F13-E415C02C9C3C}" type="slidenum">
              <a:rPr lang="de-DE" altLang="de-DE" sz="1400"/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de-DE" altLang="de-DE" sz="1400"/>
          </a:p>
        </p:txBody>
      </p:sp>
      <p:sp>
        <p:nvSpPr>
          <p:cNvPr id="10243" name="Text Box 9">
            <a:extLst>
              <a:ext uri="{FF2B5EF4-FFF2-40B4-BE49-F238E27FC236}">
                <a16:creationId xmlns:a16="http://schemas.microsoft.com/office/drawing/2014/main" id="{87552914-EE82-47E4-A632-2A2A7BC5A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758825"/>
            <a:ext cx="56156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Dynamischer Speicher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 anfordern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 verändern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 freigeben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dynamische Felder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flexible Eingabe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Speichermüllbeseitigung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>
                <a:latin typeface="Calibri" panose="020F0502020204030204" pitchFamily="34" charset="0"/>
                <a:cs typeface="Calibri" panose="020F0502020204030204" pitchFamily="34" charset="0"/>
              </a:rPr>
              <a:t>Listen 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(einfach verkettet)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Definition 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einer Liste</a:t>
            </a:r>
            <a:endParaRPr lang="de-DE" altLang="de-D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Anlegen 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einer Liste</a:t>
            </a:r>
            <a:endParaRPr lang="de-DE" altLang="de-D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Ausgabe 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einer Liste</a:t>
            </a:r>
            <a:endParaRPr lang="de-DE" altLang="de-D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Einfügen 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eines Listenelements</a:t>
            </a:r>
            <a:endParaRPr lang="de-DE" altLang="de-D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Löschen 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eines Listenelements</a:t>
            </a:r>
            <a:endParaRPr lang="de-DE" altLang="de-D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Vor- und Nachteile</a:t>
            </a:r>
            <a:r>
              <a:rPr lang="de-DE" altLang="de-DE" sz="2400">
                <a:latin typeface="Calibri" panose="020F0502020204030204" pitchFamily="34" charset="0"/>
                <a:cs typeface="Calibri" panose="020F0502020204030204" pitchFamily="34" charset="0"/>
              </a:rPr>
              <a:t>: Listen </a:t>
            </a: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und Felder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EDD4C11-4A60-4260-A971-CC2B14515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490" y="1259840"/>
            <a:ext cx="2793607" cy="476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72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liennummernplatzhalter 3">
            <a:extLst>
              <a:ext uri="{FF2B5EF4-FFF2-40B4-BE49-F238E27FC236}">
                <a16:creationId xmlns:a16="http://schemas.microsoft.com/office/drawing/2014/main" id="{D2DAAA46-5AE1-4F02-A30B-F6C1088280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967AF1-9F93-44E0-8211-B0A4B4931D01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de-DE" altLang="de-DE" sz="14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9D81899F-D433-45C5-876C-2C21A1BD5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: Motivationsbeispiele</a:t>
            </a:r>
          </a:p>
        </p:txBody>
      </p:sp>
      <p:sp>
        <p:nvSpPr>
          <p:cNvPr id="59396" name="Text Box 3">
            <a:extLst>
              <a:ext uri="{FF2B5EF4-FFF2-40B4-BE49-F238E27FC236}">
                <a16:creationId xmlns:a16="http://schemas.microsoft.com/office/drawing/2014/main" id="{EFBF3F5E-B1D4-4425-9D47-54358EB51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63688"/>
            <a:ext cx="838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de-DE" altLang="de-DE">
                <a:latin typeface="Calibri" panose="020F0502020204030204" pitchFamily="34" charset="0"/>
                <a:cs typeface="Calibri" panose="020F0502020204030204" pitchFamily="34" charset="0"/>
              </a:rPr>
              <a:t>Telefonliste 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(Beispiel jetzt veraltet, da es SMS gibt)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Folien einer Vorlesung  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de-DE" altLang="de-DE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          https://www.youtube.com/watch?v=p8ZLiDG1WnY</a:t>
            </a:r>
            <a:endParaRPr lang="de-DE" alt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46D75A9-77D3-46BE-A4AC-64A2BA9C6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24" y="2316249"/>
            <a:ext cx="698840" cy="60148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liennummernplatzhalter 3">
            <a:extLst>
              <a:ext uri="{FF2B5EF4-FFF2-40B4-BE49-F238E27FC236}">
                <a16:creationId xmlns:a16="http://schemas.microsoft.com/office/drawing/2014/main" id="{4C42A1D9-5346-4524-9073-A2EF05371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FFC676-3186-4C61-8ACA-C95F55CEDF06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de-DE" altLang="de-DE" sz="14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0F6AA3D6-DD92-4426-8784-E1C884D60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: Motivation – Felder können zu wenig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B670C80D-6C79-459A-A58D-32A6FF5C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338" y="2105025"/>
            <a:ext cx="5997575" cy="995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>
                <a:latin typeface="Courier New" panose="02070309020205020404" pitchFamily="49" charset="0"/>
              </a:rPr>
              <a:t>	</a:t>
            </a:r>
            <a:endParaRPr lang="de-DE" altLang="de-DE" sz="1800">
              <a:latin typeface="Courier New" panose="02070309020205020404" pitchFamily="49" charset="0"/>
            </a:endParaRPr>
          </a:p>
        </p:txBody>
      </p:sp>
      <p:sp>
        <p:nvSpPr>
          <p:cNvPr id="61445" name="Text Box 4">
            <a:extLst>
              <a:ext uri="{FF2B5EF4-FFF2-40B4-BE49-F238E27FC236}">
                <a16:creationId xmlns:a16="http://schemas.microsoft.com/office/drawing/2014/main" id="{296D700B-81CA-453C-8A4D-88DF9273A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8" y="1009650"/>
            <a:ext cx="58785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Nachteile von Feldern: </a:t>
            </a:r>
          </a:p>
        </p:txBody>
      </p:sp>
      <p:sp>
        <p:nvSpPr>
          <p:cNvPr id="61446" name="Text Box 5">
            <a:extLst>
              <a:ext uri="{FF2B5EF4-FFF2-40B4-BE49-F238E27FC236}">
                <a16:creationId xmlns:a16="http://schemas.microsoft.com/office/drawing/2014/main" id="{34A02750-7DEE-4051-8D46-BBFFAD126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641" y="1388060"/>
            <a:ext cx="24166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. Felder sind statisch</a:t>
            </a:r>
          </a:p>
        </p:txBody>
      </p:sp>
      <p:sp>
        <p:nvSpPr>
          <p:cNvPr id="61447" name="Text Box 6">
            <a:extLst>
              <a:ext uri="{FF2B5EF4-FFF2-40B4-BE49-F238E27FC236}">
                <a16:creationId xmlns:a16="http://schemas.microsoft.com/office/drawing/2014/main" id="{CA79D777-C946-4727-B94F-3DA700EB2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7563" y="2226766"/>
            <a:ext cx="47433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2. Einfügen/Löschen in der Mitte aufwendig</a:t>
            </a:r>
          </a:p>
        </p:txBody>
      </p:sp>
      <p:sp>
        <p:nvSpPr>
          <p:cNvPr id="61448" name="Text Box 7">
            <a:extLst>
              <a:ext uri="{FF2B5EF4-FFF2-40B4-BE49-F238E27FC236}">
                <a16:creationId xmlns:a16="http://schemas.microsoft.com/office/drawing/2014/main" id="{A1A52916-726A-476B-8281-1BD18CC70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1833564"/>
            <a:ext cx="2095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array</a:t>
            </a:r>
            <a:r>
              <a:rPr lang="de-DE" altLang="de-DE" sz="1800" b="1" dirty="0">
                <a:latin typeface="Courier New" panose="02070309020205020404" pitchFamily="49" charset="0"/>
              </a:rPr>
              <a:t>[</a:t>
            </a: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20</a:t>
            </a:r>
            <a:r>
              <a:rPr lang="de-DE" altLang="de-DE" sz="1800" b="1" dirty="0">
                <a:latin typeface="Courier New" panose="02070309020205020404" pitchFamily="49" charset="0"/>
              </a:rPr>
              <a:t>];</a:t>
            </a:r>
          </a:p>
        </p:txBody>
      </p:sp>
      <p:sp>
        <p:nvSpPr>
          <p:cNvPr id="61449" name="Text Box 9">
            <a:extLst>
              <a:ext uri="{FF2B5EF4-FFF2-40B4-BE49-F238E27FC236}">
                <a16:creationId xmlns:a16="http://schemas.microsoft.com/office/drawing/2014/main" id="{1E00A734-668A-41F6-9F61-7BEBA94D4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119" y="2748617"/>
            <a:ext cx="4552950" cy="1739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array</a:t>
            </a:r>
            <a:r>
              <a:rPr lang="de-DE" altLang="de-DE" sz="1800" b="1" dirty="0">
                <a:latin typeface="Courier New" panose="02070309020205020404" pitchFamily="49" charset="0"/>
              </a:rPr>
              <a:t>[20]= {11,100,110,500};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//105 einfügen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array</a:t>
            </a:r>
            <a:r>
              <a:rPr lang="de-DE" altLang="de-DE" sz="1800" b="1" dirty="0">
                <a:latin typeface="Courier New" panose="02070309020205020404" pitchFamily="49" charset="0"/>
              </a:rPr>
              <a:t>[4]=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array</a:t>
            </a:r>
            <a:r>
              <a:rPr lang="de-DE" altLang="de-DE" sz="1800" b="1" dirty="0">
                <a:latin typeface="Courier New" panose="02070309020205020404" pitchFamily="49" charset="0"/>
              </a:rPr>
              <a:t>[3];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array</a:t>
            </a:r>
            <a:r>
              <a:rPr lang="de-DE" altLang="de-DE" sz="1800" b="1" dirty="0">
                <a:latin typeface="Courier New" panose="02070309020205020404" pitchFamily="49" charset="0"/>
              </a:rPr>
              <a:t>[3]=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array</a:t>
            </a:r>
            <a:r>
              <a:rPr lang="de-DE" altLang="de-DE" sz="1800" b="1" dirty="0">
                <a:latin typeface="Courier New" panose="02070309020205020404" pitchFamily="49" charset="0"/>
              </a:rPr>
              <a:t>[2];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array</a:t>
            </a:r>
            <a:r>
              <a:rPr lang="de-DE" altLang="de-DE" sz="1800" b="1" dirty="0">
                <a:latin typeface="Courier New" panose="02070309020205020404" pitchFamily="49" charset="0"/>
              </a:rPr>
              <a:t>[2]=105;</a:t>
            </a:r>
          </a:p>
        </p:txBody>
      </p:sp>
      <p:sp>
        <p:nvSpPr>
          <p:cNvPr id="61450" name="Text Box 10">
            <a:extLst>
              <a:ext uri="{FF2B5EF4-FFF2-40B4-BE49-F238E27FC236}">
                <a16:creationId xmlns:a16="http://schemas.microsoft.com/office/drawing/2014/main" id="{008C2E92-78B7-4618-9335-8B20B8A7A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32109"/>
            <a:ext cx="69924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Nicht nur der Algorithmus sollte effektiv sein, auch die Datenstruktur!</a:t>
            </a:r>
          </a:p>
        </p:txBody>
      </p: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CAE103B5-0DB1-457C-8822-0A42DAC3A41D}"/>
              </a:ext>
            </a:extLst>
          </p:cNvPr>
          <p:cNvSpPr/>
          <p:nvPr/>
        </p:nvSpPr>
        <p:spPr>
          <a:xfrm>
            <a:off x="3352800" y="1467371"/>
            <a:ext cx="1678301" cy="463029"/>
          </a:xfrm>
          <a:custGeom>
            <a:avLst/>
            <a:gdLst>
              <a:gd name="connsiteX0" fmla="*/ 264160 w 1678301"/>
              <a:gd name="connsiteY0" fmla="*/ 87109 h 463029"/>
              <a:gd name="connsiteX1" fmla="*/ 1676400 w 1678301"/>
              <a:gd name="connsiteY1" fmla="*/ 26149 h 463029"/>
              <a:gd name="connsiteX2" fmla="*/ 0 w 1678301"/>
              <a:gd name="connsiteY2" fmla="*/ 463029 h 463029"/>
              <a:gd name="connsiteX3" fmla="*/ 0 w 1678301"/>
              <a:gd name="connsiteY3" fmla="*/ 463029 h 463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301" h="463029">
                <a:moveTo>
                  <a:pt x="264160" y="87109"/>
                </a:moveTo>
                <a:cubicBezTo>
                  <a:pt x="992293" y="25302"/>
                  <a:pt x="1720427" y="-36504"/>
                  <a:pt x="1676400" y="26149"/>
                </a:cubicBezTo>
                <a:cubicBezTo>
                  <a:pt x="1632373" y="88802"/>
                  <a:pt x="0" y="463029"/>
                  <a:pt x="0" y="463029"/>
                </a:cubicBezTo>
                <a:lnTo>
                  <a:pt x="0" y="463029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liennummernplatzhalter 3">
            <a:extLst>
              <a:ext uri="{FF2B5EF4-FFF2-40B4-BE49-F238E27FC236}">
                <a16:creationId xmlns:a16="http://schemas.microsoft.com/office/drawing/2014/main" id="{5877AA04-9E99-4B68-94D1-54B71EC26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4AA4D2-6853-469B-A646-AF145D9FBA9C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de-DE" altLang="de-DE" sz="14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D68B1CA9-F876-4611-95C9-47B6D3D4A3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: Warum und wofür</a:t>
            </a:r>
          </a:p>
        </p:txBody>
      </p:sp>
      <p:sp>
        <p:nvSpPr>
          <p:cNvPr id="28676" name="Text Box 3">
            <a:extLst>
              <a:ext uri="{FF2B5EF4-FFF2-40B4-BE49-F238E27FC236}">
                <a16:creationId xmlns:a16="http://schemas.microsoft.com/office/drawing/2014/main" id="{60998D2E-D19A-4468-9DCC-5622DBD44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885765"/>
            <a:ext cx="8229600" cy="5324535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0"/>
              </a:spcBef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Listen sind </a:t>
            </a:r>
            <a:r>
              <a:rPr lang="de-DE" altLang="de-DE" sz="20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dynamische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Datenstrukturen, wie z.B. Dateien.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Eine (einfach) verkettete Liste ist eine durch Zeiger verkettete Folge von Daten gleichen Aufbaus (dargestellt durch</a:t>
            </a:r>
            <a:r>
              <a:rPr lang="de-DE" altLang="de-DE" sz="20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2000" b="1" dirty="0" err="1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de-DE" alt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, genannt Listenelemente. Jedes Listenelement, bis auf das letzte, hat genau einen Nachfolger. 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Listen liegen im Speicher </a:t>
            </a:r>
            <a:r>
              <a:rPr lang="de-DE" altLang="de-DE" sz="20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nicht unbedingt hintereinander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(im Gegensatz zu Feldern).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de-DE" altLang="de-DE" sz="2000" b="1" dirty="0">
                <a:latin typeface="Calibri" panose="020F0502020204030204" pitchFamily="34" charset="0"/>
                <a:cs typeface="Calibri" panose="020F0502020204030204" pitchFamily="34" charset="0"/>
              </a:rPr>
              <a:t>Vorteile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: Einfügen und Löschen von Daten geht sehr einfach. Speicher wird nur angefordert, wenn er gebraucht wird.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Verkettete Listen werden durch eine </a:t>
            </a:r>
            <a:r>
              <a:rPr lang="de-DE" altLang="de-DE" sz="20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rekursive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Struktur (Zeiger auf eine Struktur vom selben Typ) definiert.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Folgende (schon bekannte) Dinge spielen bei der Arbeit mit Listen in C eine Rolle: </a:t>
            </a:r>
          </a:p>
          <a:p>
            <a:pPr marL="1085850" lvl="1" indent="-342900" eaLnBrk="1" hangingPunct="1">
              <a:spcBef>
                <a:spcPct val="0"/>
              </a:spcBef>
              <a:defRPr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Strukturen: </a:t>
            </a:r>
            <a:r>
              <a:rPr lang="de-DE" alt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1085850" lvl="1" indent="-342900" eaLnBrk="1" hangingPunct="1">
              <a:spcBef>
                <a:spcPct val="0"/>
              </a:spcBef>
              <a:defRPr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Zeiger, </a:t>
            </a:r>
          </a:p>
          <a:p>
            <a:pPr marL="1085850" lvl="1" indent="-342900" eaLnBrk="1" hangingPunct="1">
              <a:spcBef>
                <a:spcPct val="0"/>
              </a:spcBef>
              <a:defRPr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Speicheranforderung </a:t>
            </a:r>
            <a:r>
              <a:rPr lang="de-DE" alt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alt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de-DE" alt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alt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de-DE" alt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1085850" lvl="1" indent="-342900" eaLnBrk="1" hangingPunct="1">
              <a:spcBef>
                <a:spcPct val="0"/>
              </a:spcBef>
              <a:defRPr/>
            </a:pP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Rekursion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liennummernplatzhalter 3">
            <a:extLst>
              <a:ext uri="{FF2B5EF4-FFF2-40B4-BE49-F238E27FC236}">
                <a16:creationId xmlns:a16="http://schemas.microsoft.com/office/drawing/2014/main" id="{A6A4918F-E06E-4852-BA76-FE7D0504B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189A36-8D5C-47D4-94DC-84D49F82ABC3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de-DE" altLang="de-DE" sz="14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4C4F8E24-C386-46F1-A957-9CE6EDC75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: Begriffe und Beispiel</a:t>
            </a:r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id="{B74FCBCA-CDA6-480E-A496-5F40E7672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94" y="1043355"/>
            <a:ext cx="7848083" cy="31700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0"/>
              </a:spcBef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Eine (einfach)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verkettete Liste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ist eine durch Zeiger verkettete Folge von Datenstrukturen,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genannt </a:t>
            </a:r>
            <a:r>
              <a:rPr lang="de-DE" altLang="de-DE" sz="20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Listenelemente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Jedes Listenelement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sieht </a:t>
            </a:r>
            <a:r>
              <a:rPr lang="de-DE" altLang="de-DE" sz="20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gleich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aus. 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Jedes Element, bis auf das letzte, hat genau einen Nachfolger. 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Auf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eine Liste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greift man zu über die </a:t>
            </a:r>
            <a:r>
              <a:rPr lang="de-DE" altLang="de-DE" sz="20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Adresse des ersten Elements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Vom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ersten Listenelement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ausgehend, „hangelt“ man sich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von Listenelement zu Listenelement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Kommt man bei NULL an, ist das Ende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der Liste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erreicht.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Listenelemente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liegen im Speicher nicht unbedingt hintereinander. Nur der Vorgänger weiß, wo das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nächste Listenelement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im Speicher liegt.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C08B28C-0320-4F6A-ACB5-70F9FA67C057}"/>
              </a:ext>
            </a:extLst>
          </p:cNvPr>
          <p:cNvGrpSpPr/>
          <p:nvPr/>
        </p:nvGrpSpPr>
        <p:grpSpPr>
          <a:xfrm>
            <a:off x="988173" y="5036016"/>
            <a:ext cx="6800850" cy="417512"/>
            <a:chOff x="922338" y="3170238"/>
            <a:chExt cx="6800850" cy="417512"/>
          </a:xfrm>
        </p:grpSpPr>
        <p:grpSp>
          <p:nvGrpSpPr>
            <p:cNvPr id="69637" name="Group 5">
              <a:extLst>
                <a:ext uri="{FF2B5EF4-FFF2-40B4-BE49-F238E27FC236}">
                  <a16:creationId xmlns:a16="http://schemas.microsoft.com/office/drawing/2014/main" id="{F8CAB3DF-9352-4881-B6B6-37B62C018A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2338" y="3170238"/>
              <a:ext cx="1506537" cy="382587"/>
              <a:chOff x="821" y="1997"/>
              <a:chExt cx="949" cy="241"/>
            </a:xfrm>
          </p:grpSpPr>
          <p:grpSp>
            <p:nvGrpSpPr>
              <p:cNvPr id="69654" name="Group 6">
                <a:extLst>
                  <a:ext uri="{FF2B5EF4-FFF2-40B4-BE49-F238E27FC236}">
                    <a16:creationId xmlns:a16="http://schemas.microsoft.com/office/drawing/2014/main" id="{B38A8463-E272-4D9C-A40C-E2E42A19FA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69656" name="Rectangle 7">
                  <a:extLst>
                    <a:ext uri="{FF2B5EF4-FFF2-40B4-BE49-F238E27FC236}">
                      <a16:creationId xmlns:a16="http://schemas.microsoft.com/office/drawing/2014/main" id="{79BF842D-BDCF-410C-B5BE-6C40DDD70E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69657" name="Rectangle 8">
                  <a:extLst>
                    <a:ext uri="{FF2B5EF4-FFF2-40B4-BE49-F238E27FC236}">
                      <a16:creationId xmlns:a16="http://schemas.microsoft.com/office/drawing/2014/main" id="{A87CCDC2-037B-40E8-9E4D-55589BD17C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>
                      <a:latin typeface="Courier New" panose="02070309020205020404" pitchFamily="49" charset="0"/>
                    </a:rPr>
                    <a:t>0</a:t>
                  </a:r>
                </a:p>
              </p:txBody>
            </p:sp>
          </p:grpSp>
          <p:sp>
            <p:nvSpPr>
              <p:cNvPr id="69655" name="Line 9">
                <a:extLst>
                  <a:ext uri="{FF2B5EF4-FFF2-40B4-BE49-F238E27FC236}">
                    <a16:creationId xmlns:a16="http://schemas.microsoft.com/office/drawing/2014/main" id="{45AAF463-F60C-4754-887F-AF05657D6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grpSp>
          <p:nvGrpSpPr>
            <p:cNvPr id="69638" name="Group 10">
              <a:extLst>
                <a:ext uri="{FF2B5EF4-FFF2-40B4-BE49-F238E27FC236}">
                  <a16:creationId xmlns:a16="http://schemas.microsoft.com/office/drawing/2014/main" id="{5238749A-3D0A-4537-BD48-18CE9D485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2525" y="3182938"/>
              <a:ext cx="1506538" cy="382587"/>
              <a:chOff x="821" y="1997"/>
              <a:chExt cx="949" cy="241"/>
            </a:xfrm>
          </p:grpSpPr>
          <p:grpSp>
            <p:nvGrpSpPr>
              <p:cNvPr id="69650" name="Group 11">
                <a:extLst>
                  <a:ext uri="{FF2B5EF4-FFF2-40B4-BE49-F238E27FC236}">
                    <a16:creationId xmlns:a16="http://schemas.microsoft.com/office/drawing/2014/main" id="{91125542-3AFD-4E94-9DC7-60EB7F7E48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69652" name="Rectangle 12">
                  <a:extLst>
                    <a:ext uri="{FF2B5EF4-FFF2-40B4-BE49-F238E27FC236}">
                      <a16:creationId xmlns:a16="http://schemas.microsoft.com/office/drawing/2014/main" id="{E2DD6798-9912-4316-A695-529A26003B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69653" name="Rectangle 13">
                  <a:extLst>
                    <a:ext uri="{FF2B5EF4-FFF2-40B4-BE49-F238E27FC236}">
                      <a16:creationId xmlns:a16="http://schemas.microsoft.com/office/drawing/2014/main" id="{4B35C13F-EB49-4C78-8954-CCB17E294B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 dirty="0">
                      <a:latin typeface="Courier New" panose="02070309020205020404" pitchFamily="49" charset="0"/>
                    </a:rPr>
                    <a:t>100</a:t>
                  </a:r>
                </a:p>
              </p:txBody>
            </p:sp>
          </p:grpSp>
          <p:sp>
            <p:nvSpPr>
              <p:cNvPr id="69651" name="Line 14">
                <a:extLst>
                  <a:ext uri="{FF2B5EF4-FFF2-40B4-BE49-F238E27FC236}">
                    <a16:creationId xmlns:a16="http://schemas.microsoft.com/office/drawing/2014/main" id="{D20A7310-4D4F-44DA-9808-977CA8763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grpSp>
          <p:nvGrpSpPr>
            <p:cNvPr id="69639" name="Group 15">
              <a:extLst>
                <a:ext uri="{FF2B5EF4-FFF2-40B4-BE49-F238E27FC236}">
                  <a16:creationId xmlns:a16="http://schemas.microsoft.com/office/drawing/2014/main" id="{FB784132-F8DF-47A2-8FFF-502974E075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238" y="3182938"/>
              <a:ext cx="1506537" cy="382587"/>
              <a:chOff x="821" y="1997"/>
              <a:chExt cx="949" cy="241"/>
            </a:xfrm>
          </p:grpSpPr>
          <p:grpSp>
            <p:nvGrpSpPr>
              <p:cNvPr id="69646" name="Group 16">
                <a:extLst>
                  <a:ext uri="{FF2B5EF4-FFF2-40B4-BE49-F238E27FC236}">
                    <a16:creationId xmlns:a16="http://schemas.microsoft.com/office/drawing/2014/main" id="{4DE764B8-39F8-40E1-B7FB-F0232DF49A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69648" name="Rectangle 17">
                  <a:extLst>
                    <a:ext uri="{FF2B5EF4-FFF2-40B4-BE49-F238E27FC236}">
                      <a16:creationId xmlns:a16="http://schemas.microsoft.com/office/drawing/2014/main" id="{7F1D604B-FCB8-4508-859E-A8E7BE1A75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69649" name="Rectangle 18">
                  <a:extLst>
                    <a:ext uri="{FF2B5EF4-FFF2-40B4-BE49-F238E27FC236}">
                      <a16:creationId xmlns:a16="http://schemas.microsoft.com/office/drawing/2014/main" id="{2C749F7A-9991-4685-AD3B-23F775978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 dirty="0">
                      <a:latin typeface="Courier New" panose="02070309020205020404" pitchFamily="49" charset="0"/>
                    </a:rPr>
                    <a:t>110</a:t>
                  </a:r>
                </a:p>
              </p:txBody>
            </p:sp>
          </p:grpSp>
          <p:sp>
            <p:nvSpPr>
              <p:cNvPr id="69647" name="Line 19">
                <a:extLst>
                  <a:ext uri="{FF2B5EF4-FFF2-40B4-BE49-F238E27FC236}">
                    <a16:creationId xmlns:a16="http://schemas.microsoft.com/office/drawing/2014/main" id="{B654B881-DDD5-460F-92A0-EE85F1912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grpSp>
          <p:nvGrpSpPr>
            <p:cNvPr id="69640" name="Group 20">
              <a:extLst>
                <a:ext uri="{FF2B5EF4-FFF2-40B4-BE49-F238E27FC236}">
                  <a16:creationId xmlns:a16="http://schemas.microsoft.com/office/drawing/2014/main" id="{02289718-6214-4775-BFAE-2005937C9E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8775" y="3182938"/>
              <a:ext cx="1506538" cy="382587"/>
              <a:chOff x="821" y="1997"/>
              <a:chExt cx="949" cy="241"/>
            </a:xfrm>
          </p:grpSpPr>
          <p:grpSp>
            <p:nvGrpSpPr>
              <p:cNvPr id="69642" name="Group 21">
                <a:extLst>
                  <a:ext uri="{FF2B5EF4-FFF2-40B4-BE49-F238E27FC236}">
                    <a16:creationId xmlns:a16="http://schemas.microsoft.com/office/drawing/2014/main" id="{0C388BA5-034F-4375-8533-9C4A0589DD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69644" name="Rectangle 22">
                  <a:extLst>
                    <a:ext uri="{FF2B5EF4-FFF2-40B4-BE49-F238E27FC236}">
                      <a16:creationId xmlns:a16="http://schemas.microsoft.com/office/drawing/2014/main" id="{C4749835-5877-45FF-8281-327C17E7AD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69645" name="Rectangle 23">
                  <a:extLst>
                    <a:ext uri="{FF2B5EF4-FFF2-40B4-BE49-F238E27FC236}">
                      <a16:creationId xmlns:a16="http://schemas.microsoft.com/office/drawing/2014/main" id="{0242C6C4-CBBB-44A8-9575-E37C52C29A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>
                      <a:latin typeface="Courier New" panose="02070309020205020404" pitchFamily="49" charset="0"/>
                    </a:rPr>
                    <a:t>500</a:t>
                  </a:r>
                </a:p>
              </p:txBody>
            </p:sp>
          </p:grpSp>
          <p:sp>
            <p:nvSpPr>
              <p:cNvPr id="69643" name="Line 24">
                <a:extLst>
                  <a:ext uri="{FF2B5EF4-FFF2-40B4-BE49-F238E27FC236}">
                    <a16:creationId xmlns:a16="http://schemas.microsoft.com/office/drawing/2014/main" id="{EB749987-A93E-4D85-8C54-CA3E4AB62E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69641" name="Text Box 25">
              <a:extLst>
                <a:ext uri="{FF2B5EF4-FFF2-40B4-BE49-F238E27FC236}">
                  <a16:creationId xmlns:a16="http://schemas.microsoft.com/office/drawing/2014/main" id="{B0755447-50A1-460B-817C-AF11B3F95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2938" y="322103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 dirty="0">
                  <a:latin typeface="Courier New" panose="02070309020205020404" pitchFamily="49" charset="0"/>
                </a:rPr>
                <a:t>NULL</a:t>
              </a:r>
            </a:p>
          </p:txBody>
        </p:sp>
      </p:grp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8A961682-E23F-4FAF-AE5A-20A675497587}"/>
              </a:ext>
            </a:extLst>
          </p:cNvPr>
          <p:cNvSpPr/>
          <p:nvPr/>
        </p:nvSpPr>
        <p:spPr>
          <a:xfrm>
            <a:off x="796637" y="2522224"/>
            <a:ext cx="7253771" cy="2521730"/>
          </a:xfrm>
          <a:custGeom>
            <a:avLst/>
            <a:gdLst>
              <a:gd name="connsiteX0" fmla="*/ 6715291 w 7150659"/>
              <a:gd name="connsiteY0" fmla="*/ 0 h 1493520"/>
              <a:gd name="connsiteX1" fmla="*/ 6877851 w 7150659"/>
              <a:gd name="connsiteY1" fmla="*/ 802640 h 1493520"/>
              <a:gd name="connsiteX2" fmla="*/ 3535211 w 7150659"/>
              <a:gd name="connsiteY2" fmla="*/ 1046480 h 1493520"/>
              <a:gd name="connsiteX3" fmla="*/ 304331 w 7150659"/>
              <a:gd name="connsiteY3" fmla="*/ 1026160 h 1493520"/>
              <a:gd name="connsiteX4" fmla="*/ 324651 w 7150659"/>
              <a:gd name="connsiteY4" fmla="*/ 1493520 h 149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50659" h="1493520">
                <a:moveTo>
                  <a:pt x="6715291" y="0"/>
                </a:moveTo>
                <a:cubicBezTo>
                  <a:pt x="7061577" y="314113"/>
                  <a:pt x="7407864" y="628227"/>
                  <a:pt x="6877851" y="802640"/>
                </a:cubicBezTo>
                <a:cubicBezTo>
                  <a:pt x="6347838" y="977053"/>
                  <a:pt x="4630798" y="1009227"/>
                  <a:pt x="3535211" y="1046480"/>
                </a:cubicBezTo>
                <a:cubicBezTo>
                  <a:pt x="2439624" y="1083733"/>
                  <a:pt x="839424" y="951653"/>
                  <a:pt x="304331" y="1026160"/>
                </a:cubicBezTo>
                <a:cubicBezTo>
                  <a:pt x="-230762" y="1100667"/>
                  <a:pt x="46944" y="1297093"/>
                  <a:pt x="324651" y="149352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liennummernplatzhalter 3">
            <a:extLst>
              <a:ext uri="{FF2B5EF4-FFF2-40B4-BE49-F238E27FC236}">
                <a16:creationId xmlns:a16="http://schemas.microsoft.com/office/drawing/2014/main" id="{A5177220-4E95-4946-A4C2-3063CFE254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6F01D7-742D-4E8C-8176-DB0B9383CB53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de-DE" altLang="de-DE" sz="14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6E61C2FA-CDEE-4F26-8A96-7BB5381C8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263" y="3182938"/>
            <a:ext cx="2068512" cy="1495425"/>
          </a:xfrm>
          <a:prstGeom prst="rect">
            <a:avLst/>
          </a:prstGeom>
          <a:solidFill>
            <a:srgbClr val="7030A0">
              <a:alpha val="32941"/>
            </a:srgbClr>
          </a:solidFill>
          <a:ln>
            <a:noFill/>
          </a:ln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575E1E13-20FC-4D88-B5FA-C1211F0D5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3182938"/>
            <a:ext cx="2068512" cy="1495425"/>
          </a:xfrm>
          <a:prstGeom prst="rect">
            <a:avLst/>
          </a:prstGeom>
          <a:solidFill>
            <a:srgbClr val="FFCCCC"/>
          </a:solidFill>
          <a:ln>
            <a:noFill/>
          </a:ln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F5C348B1-EB05-44AD-9995-71739F65E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: Bestandteile – Datenteil und Nachfolger</a:t>
            </a:r>
          </a:p>
        </p:txBody>
      </p:sp>
      <p:sp>
        <p:nvSpPr>
          <p:cNvPr id="521222" name="Text Box 6">
            <a:extLst>
              <a:ext uri="{FF2B5EF4-FFF2-40B4-BE49-F238E27FC236}">
                <a16:creationId xmlns:a16="http://schemas.microsoft.com/office/drawing/2014/main" id="{074806D8-C493-4D0E-B5F5-CB7F881B1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8" y="1627188"/>
            <a:ext cx="6921500" cy="147732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Jedes Listenelement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besitzt einen Zeiger auf seinen </a:t>
            </a:r>
            <a:r>
              <a:rPr lang="de-DE" altLang="de-DE" sz="18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Nachfolger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und einen </a:t>
            </a:r>
            <a:r>
              <a:rPr lang="de-DE" altLang="de-DE" sz="18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Datenteil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Der Datenteil kann alles mögliche sein: </a:t>
            </a:r>
            <a:r>
              <a:rPr lang="de-DE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double, </a:t>
            </a:r>
            <a:r>
              <a:rPr lang="de-DE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, Felder, Strukturen,…</a:t>
            </a:r>
          </a:p>
        </p:txBody>
      </p:sp>
      <p:sp>
        <p:nvSpPr>
          <p:cNvPr id="71688" name="Text Box 12">
            <a:extLst>
              <a:ext uri="{FF2B5EF4-FFF2-40B4-BE49-F238E27FC236}">
                <a16:creationId xmlns:a16="http://schemas.microsoft.com/office/drawing/2014/main" id="{42F976F0-F9D1-4E03-9C67-A900A0D88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223" y="4067175"/>
            <a:ext cx="10410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Datenteil</a:t>
            </a:r>
          </a:p>
        </p:txBody>
      </p:sp>
      <p:sp>
        <p:nvSpPr>
          <p:cNvPr id="71689" name="Text Box 13">
            <a:extLst>
              <a:ext uri="{FF2B5EF4-FFF2-40B4-BE49-F238E27FC236}">
                <a16:creationId xmlns:a16="http://schemas.microsoft.com/office/drawing/2014/main" id="{15F77AB1-76DA-4893-9D33-757BAEE44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38" y="4002088"/>
            <a:ext cx="192315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Adresse 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nächstes Elements</a:t>
            </a:r>
          </a:p>
        </p:txBody>
      </p:sp>
      <p:sp>
        <p:nvSpPr>
          <p:cNvPr id="521230" name="Freeform 14">
            <a:extLst>
              <a:ext uri="{FF2B5EF4-FFF2-40B4-BE49-F238E27FC236}">
                <a16:creationId xmlns:a16="http://schemas.microsoft.com/office/drawing/2014/main" id="{6673881A-C889-43E3-9C77-00082F15617B}"/>
              </a:ext>
            </a:extLst>
          </p:cNvPr>
          <p:cNvSpPr>
            <a:spLocks/>
          </p:cNvSpPr>
          <p:nvPr/>
        </p:nvSpPr>
        <p:spPr bwMode="auto">
          <a:xfrm>
            <a:off x="5460205" y="1302762"/>
            <a:ext cx="2995613" cy="3604517"/>
          </a:xfrm>
          <a:custGeom>
            <a:avLst/>
            <a:gdLst>
              <a:gd name="T0" fmla="*/ 2147483646 w 1807"/>
              <a:gd name="T1" fmla="*/ 2147483646 h 2891"/>
              <a:gd name="T2" fmla="*/ 2147483646 w 1807"/>
              <a:gd name="T3" fmla="*/ 2147483646 h 2891"/>
              <a:gd name="T4" fmla="*/ 2147483646 w 1807"/>
              <a:gd name="T5" fmla="*/ 2147483646 h 2891"/>
              <a:gd name="T6" fmla="*/ 2147483646 w 1807"/>
              <a:gd name="T7" fmla="*/ 2147483646 h 2891"/>
              <a:gd name="T8" fmla="*/ 2147483646 w 1807"/>
              <a:gd name="T9" fmla="*/ 2147483646 h 2891"/>
              <a:gd name="T10" fmla="*/ 0 w 1807"/>
              <a:gd name="T11" fmla="*/ 2147483646 h 289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807"/>
              <a:gd name="T19" fmla="*/ 0 h 2891"/>
              <a:gd name="T20" fmla="*/ 1807 w 1807"/>
              <a:gd name="T21" fmla="*/ 2891 h 289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807" h="2891">
                <a:moveTo>
                  <a:pt x="728" y="299"/>
                </a:moveTo>
                <a:cubicBezTo>
                  <a:pt x="816" y="149"/>
                  <a:pt x="905" y="0"/>
                  <a:pt x="1072" y="35"/>
                </a:cubicBezTo>
                <a:cubicBezTo>
                  <a:pt x="1239" y="70"/>
                  <a:pt x="1649" y="128"/>
                  <a:pt x="1728" y="507"/>
                </a:cubicBezTo>
                <a:cubicBezTo>
                  <a:pt x="1807" y="886"/>
                  <a:pt x="1703" y="1915"/>
                  <a:pt x="1544" y="2307"/>
                </a:cubicBezTo>
                <a:cubicBezTo>
                  <a:pt x="1385" y="2699"/>
                  <a:pt x="1033" y="2891"/>
                  <a:pt x="776" y="2859"/>
                </a:cubicBezTo>
                <a:cubicBezTo>
                  <a:pt x="519" y="2827"/>
                  <a:pt x="259" y="2471"/>
                  <a:pt x="0" y="2115"/>
                </a:cubicBezTo>
              </a:path>
            </a:pathLst>
          </a:custGeom>
          <a:noFill/>
          <a:ln w="9525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21231" name="Freeform 15">
            <a:extLst>
              <a:ext uri="{FF2B5EF4-FFF2-40B4-BE49-F238E27FC236}">
                <a16:creationId xmlns:a16="http://schemas.microsoft.com/office/drawing/2014/main" id="{053E8B12-0AAA-4096-8A7F-29F706E80B7B}"/>
              </a:ext>
            </a:extLst>
          </p:cNvPr>
          <p:cNvSpPr>
            <a:spLocks/>
          </p:cNvSpPr>
          <p:nvPr/>
        </p:nvSpPr>
        <p:spPr bwMode="auto">
          <a:xfrm>
            <a:off x="1173163" y="2133600"/>
            <a:ext cx="2547937" cy="2125663"/>
          </a:xfrm>
          <a:custGeom>
            <a:avLst/>
            <a:gdLst>
              <a:gd name="T0" fmla="*/ 2147483646 w 1749"/>
              <a:gd name="T1" fmla="*/ 0 h 1579"/>
              <a:gd name="T2" fmla="*/ 2147483646 w 1749"/>
              <a:gd name="T3" fmla="*/ 2147483646 h 1579"/>
              <a:gd name="T4" fmla="*/ 2147483646 w 1749"/>
              <a:gd name="T5" fmla="*/ 2147483646 h 1579"/>
              <a:gd name="T6" fmla="*/ 2147483646 w 1749"/>
              <a:gd name="T7" fmla="*/ 2147483646 h 1579"/>
              <a:gd name="T8" fmla="*/ 0 60000 65536"/>
              <a:gd name="T9" fmla="*/ 0 60000 65536"/>
              <a:gd name="T10" fmla="*/ 0 60000 65536"/>
              <a:gd name="T11" fmla="*/ 0 60000 65536"/>
              <a:gd name="T12" fmla="*/ 0 w 1749"/>
              <a:gd name="T13" fmla="*/ 0 h 1579"/>
              <a:gd name="T14" fmla="*/ 1749 w 1749"/>
              <a:gd name="T15" fmla="*/ 1579 h 15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49" h="1579">
                <a:moveTo>
                  <a:pt x="293" y="0"/>
                </a:moveTo>
                <a:cubicBezTo>
                  <a:pt x="146" y="242"/>
                  <a:pt x="0" y="484"/>
                  <a:pt x="69" y="736"/>
                </a:cubicBezTo>
                <a:cubicBezTo>
                  <a:pt x="138" y="988"/>
                  <a:pt x="429" y="1445"/>
                  <a:pt x="709" y="1512"/>
                </a:cubicBezTo>
                <a:cubicBezTo>
                  <a:pt x="989" y="1579"/>
                  <a:pt x="1369" y="1357"/>
                  <a:pt x="1749" y="1136"/>
                </a:cubicBezTo>
              </a:path>
            </a:pathLst>
          </a:custGeom>
          <a:noFill/>
          <a:ln w="9525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B438D37-42A9-49EB-8F5B-C8EFBABC9D57}"/>
              </a:ext>
            </a:extLst>
          </p:cNvPr>
          <p:cNvSpPr txBox="1"/>
          <p:nvPr/>
        </p:nvSpPr>
        <p:spPr>
          <a:xfrm>
            <a:off x="609600" y="5042832"/>
            <a:ext cx="792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Ein Listenelement 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selbst </a:t>
            </a:r>
            <a:r>
              <a:rPr lang="de-DE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definiert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man in einer </a:t>
            </a:r>
            <a:r>
              <a:rPr lang="de-DE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Struktur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, weil es </a:t>
            </a:r>
            <a:r>
              <a:rPr lang="de-DE" i="1" dirty="0">
                <a:latin typeface="Calibri" panose="020F0502020204030204" pitchFamily="34" charset="0"/>
                <a:cs typeface="Calibri" panose="020F0502020204030204" pitchFamily="34" charset="0"/>
              </a:rPr>
              <a:t>immer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aus einem Datenteil und einer Adresse besteht, was in der Regel mindestens zwei verschiedene Datentypen sind, die </a:t>
            </a:r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ein Listenelement 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bilden.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40FBA11E-37E3-431B-A1FD-10838012981E}"/>
              </a:ext>
            </a:extLst>
          </p:cNvPr>
          <p:cNvCxnSpPr/>
          <p:nvPr/>
        </p:nvCxnSpPr>
        <p:spPr>
          <a:xfrm>
            <a:off x="5191760" y="3930650"/>
            <a:ext cx="23368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liennummernplatzhalter 3">
            <a:extLst>
              <a:ext uri="{FF2B5EF4-FFF2-40B4-BE49-F238E27FC236}">
                <a16:creationId xmlns:a16="http://schemas.microsoft.com/office/drawing/2014/main" id="{1EF96C6A-55BA-47DF-AB23-96EE07BAD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264CC3-E960-4E6D-A9B0-BB3A3A3C5997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de-DE" altLang="de-DE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1DA934D2-F1C9-4B16-BC5D-CBF621B91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: Definition </a:t>
            </a:r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eines Listenelementes</a:t>
            </a:r>
            <a:endParaRPr lang="de-DE" altLang="de-DE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8F9E613E-3643-4435-96FD-517F3AACC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862" y="1006475"/>
            <a:ext cx="2068513" cy="1495425"/>
          </a:xfrm>
          <a:prstGeom prst="rect">
            <a:avLst/>
          </a:prstGeom>
          <a:solidFill>
            <a:srgbClr val="7030A0">
              <a:alpha val="32941"/>
            </a:srgbClr>
          </a:solidFill>
          <a:ln>
            <a:noFill/>
          </a:ln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CF0331A0-F41C-469B-80A2-5060B4366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7" y="1006475"/>
            <a:ext cx="2068513" cy="1495425"/>
          </a:xfrm>
          <a:prstGeom prst="rect">
            <a:avLst/>
          </a:prstGeom>
          <a:solidFill>
            <a:srgbClr val="FFCCCC"/>
          </a:solidFill>
          <a:ln>
            <a:noFill/>
          </a:ln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73735" name="Text Box 11">
            <a:extLst>
              <a:ext uri="{FF2B5EF4-FFF2-40B4-BE49-F238E27FC236}">
                <a16:creationId xmlns:a16="http://schemas.microsoft.com/office/drawing/2014/main" id="{E50C6AA6-CC96-46B7-9B1D-3FCB7FDC7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823" y="1890713"/>
            <a:ext cx="10410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Datenteil</a:t>
            </a:r>
          </a:p>
        </p:txBody>
      </p:sp>
      <p:sp>
        <p:nvSpPr>
          <p:cNvPr id="73736" name="Text Box 12">
            <a:extLst>
              <a:ext uri="{FF2B5EF4-FFF2-40B4-BE49-F238E27FC236}">
                <a16:creationId xmlns:a16="http://schemas.microsoft.com/office/drawing/2014/main" id="{70CB585E-E8B9-43BB-AAB5-DA432348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7" y="1825625"/>
            <a:ext cx="192315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Adresse 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nächstes Elements</a:t>
            </a:r>
          </a:p>
        </p:txBody>
      </p:sp>
      <p:sp>
        <p:nvSpPr>
          <p:cNvPr id="524302" name="Text Box 14">
            <a:extLst>
              <a:ext uri="{FF2B5EF4-FFF2-40B4-BE49-F238E27FC236}">
                <a16:creationId xmlns:a16="http://schemas.microsoft.com/office/drawing/2014/main" id="{E12CB6B3-A84C-4E70-B3BF-34467FD2D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3244850"/>
            <a:ext cx="5147563" cy="175432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struct </a:t>
            </a:r>
            <a:r>
              <a:rPr lang="en-US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Listenelement</a:t>
            </a:r>
            <a:r>
              <a:rPr lang="en-US" altLang="de-DE" sz="1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   </a:t>
            </a: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//Element der </a:t>
            </a:r>
            <a:r>
              <a:rPr lang="en-US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Struktur</a:t>
            </a:r>
            <a:endParaRPr lang="en-US" altLang="de-DE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Datenteil</a:t>
            </a: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//</a:t>
            </a:r>
            <a:r>
              <a:rPr lang="en-US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Verbindung</a:t>
            </a: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zum</a:t>
            </a: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nächsten</a:t>
            </a: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Element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   struct </a:t>
            </a:r>
            <a:r>
              <a:rPr lang="en-US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Listenelement</a:t>
            </a:r>
            <a:r>
              <a:rPr lang="en-US" altLang="de-DE" sz="1800" b="1" dirty="0">
                <a:latin typeface="Courier New" panose="02070309020205020404" pitchFamily="49" charset="0"/>
              </a:rPr>
              <a:t> *</a:t>
            </a:r>
            <a:r>
              <a:rPr lang="en-US" altLang="de-DE" sz="1800" b="1" dirty="0" err="1">
                <a:latin typeface="Courier New" panose="02070309020205020404" pitchFamily="49" charset="0"/>
              </a:rPr>
              <a:t>nachfolger</a:t>
            </a:r>
            <a:r>
              <a:rPr lang="en-US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524305" name="Line 17">
            <a:extLst>
              <a:ext uri="{FF2B5EF4-FFF2-40B4-BE49-F238E27FC236}">
                <a16:creationId xmlns:a16="http://schemas.microsoft.com/office/drawing/2014/main" id="{06D1BEB0-3C4C-4554-9A1A-28640F59ED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32000" y="2257425"/>
            <a:ext cx="1382712" cy="1704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24306" name="Line 18">
            <a:extLst>
              <a:ext uri="{FF2B5EF4-FFF2-40B4-BE49-F238E27FC236}">
                <a16:creationId xmlns:a16="http://schemas.microsoft.com/office/drawing/2014/main" id="{F9A53BA6-2F91-497D-891A-155622D51E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2999" y="2444750"/>
            <a:ext cx="336954" cy="203041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CE5DD15-5D64-4849-A909-12490E8574D4}"/>
              </a:ext>
            </a:extLst>
          </p:cNvPr>
          <p:cNvSpPr txBox="1"/>
          <p:nvPr/>
        </p:nvSpPr>
        <p:spPr>
          <a:xfrm>
            <a:off x="5268120" y="3059668"/>
            <a:ext cx="2068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cs typeface="Calibri" panose="020F0502020204030204" pitchFamily="34" charset="0"/>
              </a:rPr>
              <a:t>Muss </a:t>
            </a:r>
            <a:r>
              <a:rPr lang="de-DE" sz="1400">
                <a:latin typeface="Calibri" panose="020F0502020204030204" pitchFamily="34" charset="0"/>
                <a:cs typeface="Calibri" panose="020F0502020204030204" pitchFamily="34" charset="0"/>
              </a:rPr>
              <a:t>nicht „Listenelement</a:t>
            </a:r>
            <a:r>
              <a:rPr lang="de-DE" sz="1400" dirty="0">
                <a:latin typeface="Calibri" panose="020F0502020204030204" pitchFamily="34" charset="0"/>
                <a:cs typeface="Calibri" panose="020F0502020204030204" pitchFamily="34" charset="0"/>
              </a:rPr>
              <a:t>“ heißen, kann auch anders heißen!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375E76C-BC34-4D79-B837-B3D2C675C04E}"/>
              </a:ext>
            </a:extLst>
          </p:cNvPr>
          <p:cNvCxnSpPr/>
          <p:nvPr/>
        </p:nvCxnSpPr>
        <p:spPr>
          <a:xfrm flipH="1">
            <a:off x="3516793" y="3429000"/>
            <a:ext cx="16931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liennummernplatzhalter 3">
            <a:extLst>
              <a:ext uri="{FF2B5EF4-FFF2-40B4-BE49-F238E27FC236}">
                <a16:creationId xmlns:a16="http://schemas.microsoft.com/office/drawing/2014/main" id="{1EF96C6A-55BA-47DF-AB23-96EE07BAD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264CC3-E960-4E6D-A9B0-BB3A3A3C5997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de-DE" altLang="de-DE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1DA934D2-F1C9-4B16-BC5D-CBF621B91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: Beispiel - Definition der Datenstruktur</a:t>
            </a: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8F9E613E-3643-4435-96FD-517F3AACC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862" y="1006475"/>
            <a:ext cx="2068513" cy="1495425"/>
          </a:xfrm>
          <a:prstGeom prst="rect">
            <a:avLst/>
          </a:prstGeom>
          <a:solidFill>
            <a:srgbClr val="7030A0">
              <a:alpha val="32941"/>
            </a:srgbClr>
          </a:solidFill>
          <a:ln>
            <a:noFill/>
          </a:ln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CF0331A0-F41C-469B-80A2-5060B4366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7" y="1006475"/>
            <a:ext cx="2068513" cy="1495425"/>
          </a:xfrm>
          <a:prstGeom prst="rect">
            <a:avLst/>
          </a:prstGeom>
          <a:solidFill>
            <a:srgbClr val="FFCCCC"/>
          </a:solidFill>
          <a:ln>
            <a:noFill/>
          </a:ln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grpSp>
        <p:nvGrpSpPr>
          <p:cNvPr id="73734" name="Group 6">
            <a:extLst>
              <a:ext uri="{FF2B5EF4-FFF2-40B4-BE49-F238E27FC236}">
                <a16:creationId xmlns:a16="http://schemas.microsoft.com/office/drawing/2014/main" id="{7DFBC6FB-CAC1-4D22-8FF3-ED05A170F8C8}"/>
              </a:ext>
            </a:extLst>
          </p:cNvPr>
          <p:cNvGrpSpPr>
            <a:grpSpLocks/>
          </p:cNvGrpSpPr>
          <p:nvPr/>
        </p:nvGrpSpPr>
        <p:grpSpPr bwMode="auto">
          <a:xfrm>
            <a:off x="3387725" y="1311275"/>
            <a:ext cx="1506537" cy="382588"/>
            <a:chOff x="821" y="1997"/>
            <a:chExt cx="949" cy="241"/>
          </a:xfrm>
          <a:solidFill>
            <a:srgbClr val="FF99CC"/>
          </a:solidFill>
        </p:grpSpPr>
        <p:grpSp>
          <p:nvGrpSpPr>
            <p:cNvPr id="73742" name="Group 7">
              <a:extLst>
                <a:ext uri="{FF2B5EF4-FFF2-40B4-BE49-F238E27FC236}">
                  <a16:creationId xmlns:a16="http://schemas.microsoft.com/office/drawing/2014/main" id="{903E4E6E-FF8C-4273-B5F5-FC05DBCC5E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  <a:grpFill/>
          </p:grpSpPr>
          <p:sp>
            <p:nvSpPr>
              <p:cNvPr id="73744" name="Rectangle 8">
                <a:extLst>
                  <a:ext uri="{FF2B5EF4-FFF2-40B4-BE49-F238E27FC236}">
                    <a16:creationId xmlns:a16="http://schemas.microsoft.com/office/drawing/2014/main" id="{B06CB6B0-7DE8-40F9-98DF-89D69E15F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grp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73745" name="Rectangle 9">
                <a:extLst>
                  <a:ext uri="{FF2B5EF4-FFF2-40B4-BE49-F238E27FC236}">
                    <a16:creationId xmlns:a16="http://schemas.microsoft.com/office/drawing/2014/main" id="{E52DB63A-15A3-4A4A-B771-4437D89B3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grp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100</a:t>
                </a:r>
              </a:p>
            </p:txBody>
          </p:sp>
        </p:grpSp>
        <p:sp>
          <p:nvSpPr>
            <p:cNvPr id="73743" name="Line 10">
              <a:extLst>
                <a:ext uri="{FF2B5EF4-FFF2-40B4-BE49-F238E27FC236}">
                  <a16:creationId xmlns:a16="http://schemas.microsoft.com/office/drawing/2014/main" id="{37E95AF3-6FBB-457E-8433-2FAF2A57F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/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73735" name="Text Box 11">
            <a:extLst>
              <a:ext uri="{FF2B5EF4-FFF2-40B4-BE49-F238E27FC236}">
                <a16:creationId xmlns:a16="http://schemas.microsoft.com/office/drawing/2014/main" id="{E50C6AA6-CC96-46B7-9B1D-3FCB7FDC7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823" y="1890713"/>
            <a:ext cx="10410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Datenteil</a:t>
            </a:r>
          </a:p>
        </p:txBody>
      </p:sp>
      <p:sp>
        <p:nvSpPr>
          <p:cNvPr id="73736" name="Text Box 12">
            <a:extLst>
              <a:ext uri="{FF2B5EF4-FFF2-40B4-BE49-F238E27FC236}">
                <a16:creationId xmlns:a16="http://schemas.microsoft.com/office/drawing/2014/main" id="{70CB585E-E8B9-43BB-AAB5-DA432348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7" y="1825625"/>
            <a:ext cx="18333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Zeiger auf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nächstes Element</a:t>
            </a:r>
          </a:p>
        </p:txBody>
      </p:sp>
      <p:sp>
        <p:nvSpPr>
          <p:cNvPr id="524302" name="Text Box 14">
            <a:extLst>
              <a:ext uri="{FF2B5EF4-FFF2-40B4-BE49-F238E27FC236}">
                <a16:creationId xmlns:a16="http://schemas.microsoft.com/office/drawing/2014/main" id="{E12CB6B3-A84C-4E70-B3BF-34467FD2D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3244850"/>
            <a:ext cx="5147563" cy="2031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struct </a:t>
            </a:r>
            <a:r>
              <a:rPr lang="en-US" altLang="de-DE" sz="1800" b="1" dirty="0" err="1">
                <a:latin typeface="Courier New" panose="02070309020205020404" pitchFamily="49" charset="0"/>
              </a:rPr>
              <a:t>Listenelement</a:t>
            </a:r>
            <a:r>
              <a:rPr lang="en-US" altLang="de-DE" sz="1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   </a:t>
            </a: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//Element der </a:t>
            </a:r>
            <a:r>
              <a:rPr lang="en-US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Struktur</a:t>
            </a:r>
            <a:endParaRPr lang="en-US" altLang="de-DE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int wert;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//</a:t>
            </a:r>
            <a:r>
              <a:rPr lang="en-US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Verbindung</a:t>
            </a: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zum</a:t>
            </a: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nächsten</a:t>
            </a: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Element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   struct </a:t>
            </a:r>
            <a:r>
              <a:rPr lang="en-US" altLang="de-DE" sz="1800" b="1" dirty="0" err="1">
                <a:latin typeface="Courier New" panose="02070309020205020404" pitchFamily="49" charset="0"/>
              </a:rPr>
              <a:t>Listenelement</a:t>
            </a:r>
            <a:r>
              <a:rPr lang="en-US" altLang="de-DE" sz="1800" b="1" dirty="0">
                <a:latin typeface="Courier New" panose="02070309020205020404" pitchFamily="49" charset="0"/>
              </a:rPr>
              <a:t> *</a:t>
            </a:r>
            <a:r>
              <a:rPr lang="en-US" altLang="de-DE" sz="1800" b="1" dirty="0" err="1">
                <a:latin typeface="Courier New" panose="02070309020205020404" pitchFamily="49" charset="0"/>
              </a:rPr>
              <a:t>nachfolger</a:t>
            </a:r>
            <a:r>
              <a:rPr lang="en-US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</p:txBody>
      </p:sp>
      <p:sp>
        <p:nvSpPr>
          <p:cNvPr id="524305" name="Line 17">
            <a:extLst>
              <a:ext uri="{FF2B5EF4-FFF2-40B4-BE49-F238E27FC236}">
                <a16:creationId xmlns:a16="http://schemas.microsoft.com/office/drawing/2014/main" id="{06D1BEB0-3C4C-4554-9A1A-28640F59ED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31999" y="1636712"/>
            <a:ext cx="1669877" cy="2325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24306" name="Line 18">
            <a:extLst>
              <a:ext uri="{FF2B5EF4-FFF2-40B4-BE49-F238E27FC236}">
                <a16:creationId xmlns:a16="http://schemas.microsoft.com/office/drawing/2014/main" id="{F9A53BA6-2F91-497D-891A-155622D51E8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03725" y="1636712"/>
            <a:ext cx="469274" cy="28384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5FDD2ED-4227-4C88-BAC9-04396908EC0A}"/>
              </a:ext>
            </a:extLst>
          </p:cNvPr>
          <p:cNvSpPr txBox="1"/>
          <p:nvPr/>
        </p:nvSpPr>
        <p:spPr>
          <a:xfrm>
            <a:off x="268341" y="1117600"/>
            <a:ext cx="11382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cs typeface="Calibri" panose="020F0502020204030204" pitchFamily="34" charset="0"/>
              </a:rPr>
              <a:t>Ist nur ein Beispielwert,</a:t>
            </a:r>
          </a:p>
          <a:p>
            <a:r>
              <a:rPr lang="de-DE" sz="1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de-DE" sz="140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de-DE" sz="1400" dirty="0">
                <a:latin typeface="Calibri" panose="020F0502020204030204" pitchFamily="34" charset="0"/>
                <a:cs typeface="Calibri" panose="020F0502020204030204" pitchFamily="34" charset="0"/>
              </a:rPr>
              <a:t>man später dort speichern könnte.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C86F0EC-4346-49F4-9FBB-96F810DFD196}"/>
              </a:ext>
            </a:extLst>
          </p:cNvPr>
          <p:cNvCxnSpPr/>
          <p:nvPr/>
        </p:nvCxnSpPr>
        <p:spPr>
          <a:xfrm>
            <a:off x="1500013" y="1391920"/>
            <a:ext cx="2108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7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liennummernplatzhalter 3">
            <a:extLst>
              <a:ext uri="{FF2B5EF4-FFF2-40B4-BE49-F238E27FC236}">
                <a16:creationId xmlns:a16="http://schemas.microsoft.com/office/drawing/2014/main" id="{62EDCCD1-8526-4E3B-9646-0484B2880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A0A25F-9EF5-4C88-9086-C321CB26B07C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de-DE" altLang="de-DE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B106C3C-950E-42D1-886D-02F5DB645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800" y="144770"/>
            <a:ext cx="8229600" cy="1268751"/>
          </a:xfrm>
        </p:spPr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Funktionsbeispiele für die Arbeit </a:t>
            </a:r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mit Listen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– Teil 1</a:t>
            </a:r>
          </a:p>
        </p:txBody>
      </p:sp>
      <p:sp>
        <p:nvSpPr>
          <p:cNvPr id="75781" name="Text Box 4">
            <a:extLst>
              <a:ext uri="{FF2B5EF4-FFF2-40B4-BE49-F238E27FC236}">
                <a16:creationId xmlns:a16="http://schemas.microsoft.com/office/drawing/2014/main" id="{DD4E693A-8E9E-4C51-8B23-DE001151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1550204"/>
            <a:ext cx="8528050" cy="3360920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In den restlichen Folien dieses Foliensatzes werden verschiedene Funktionen definiert, die nützlich bei der Arbeit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mit Listen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sein können. Dabei wird sich beispielhaft auf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eine Liste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bezogen,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deren Listenelemente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alle simpel wie folgt aussehen: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None/>
            </a:pPr>
            <a:r>
              <a:rPr lang="en-US" altLang="de-DE" sz="1800" b="1">
                <a:latin typeface="Courier New" panose="02070309020205020404" pitchFamily="49" charset="0"/>
              </a:rPr>
              <a:t>struct Listenelement </a:t>
            </a:r>
            <a:r>
              <a:rPr lang="en-US" altLang="de-DE" sz="1800" b="1" dirty="0">
                <a:latin typeface="Courier New" panose="02070309020205020404" pitchFamily="49" charset="0"/>
              </a:rPr>
              <a:t>{</a:t>
            </a:r>
            <a:endParaRPr lang="en-US" altLang="de-DE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None/>
            </a:pPr>
            <a:r>
              <a:rPr lang="en-US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int wert;</a:t>
            </a:r>
          </a:p>
          <a:p>
            <a:pPr eaLnBrk="1" hangingPunct="1"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   </a:t>
            </a:r>
            <a:r>
              <a:rPr lang="en-US" altLang="de-DE" sz="1800" b="1">
                <a:latin typeface="Courier New" panose="02070309020205020404" pitchFamily="49" charset="0"/>
              </a:rPr>
              <a:t>struct Listenelement </a:t>
            </a:r>
            <a:r>
              <a:rPr lang="en-US" altLang="de-DE" sz="1800" b="1" dirty="0">
                <a:latin typeface="Courier New" panose="02070309020205020404" pitchFamily="49" charset="0"/>
              </a:rPr>
              <a:t>*</a:t>
            </a:r>
            <a:r>
              <a:rPr lang="en-US" altLang="de-DE" sz="1800" b="1" dirty="0" err="1">
                <a:latin typeface="Courier New" panose="02070309020205020404" pitchFamily="49" charset="0"/>
              </a:rPr>
              <a:t>nachfolger</a:t>
            </a:r>
            <a:r>
              <a:rPr lang="en-US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Die Funktionen sollen verdeutlichen,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wozu Listen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nützlich sind, was man mit ihnen so machen kann.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liennummernplatzhalter 3">
            <a:extLst>
              <a:ext uri="{FF2B5EF4-FFF2-40B4-BE49-F238E27FC236}">
                <a16:creationId xmlns:a16="http://schemas.microsoft.com/office/drawing/2014/main" id="{62EDCCD1-8526-4E3B-9646-0484B2880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A0A25F-9EF5-4C88-9086-C321CB26B07C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de-DE" altLang="de-DE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B106C3C-950E-42D1-886D-02F5DB645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025" y="295889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Funktionsbeispiele </a:t>
            </a:r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für Listen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– Teil 2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10A6C8C-13AA-46EA-A3C4-F46E39BE6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903288"/>
            <a:ext cx="8832850" cy="283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75781" name="Text Box 4">
            <a:extLst>
              <a:ext uri="{FF2B5EF4-FFF2-40B4-BE49-F238E27FC236}">
                <a16:creationId xmlns:a16="http://schemas.microsoft.com/office/drawing/2014/main" id="{DD4E693A-8E9E-4C51-8B23-DE001151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929302"/>
            <a:ext cx="8528050" cy="5078313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Folgende Funktionen werden nun definiert: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Funktion zum Anlegen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der Liste,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definiert wie in vorhergehender Folie: </a:t>
            </a:r>
            <a:b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de-DE" sz="1800" b="1">
                <a:latin typeface="Courier New" panose="02070309020205020404" pitchFamily="49" charset="0"/>
              </a:rPr>
              <a:t>struct Listenelement</a:t>
            </a:r>
            <a:r>
              <a:rPr lang="de-DE" altLang="de-DE" sz="1800" b="1">
                <a:latin typeface="Courier New" panose="02070309020205020404" pitchFamily="49" charset="0"/>
              </a:rPr>
              <a:t> *anlegenListe()</a:t>
            </a:r>
            <a:br>
              <a:rPr lang="de-DE" altLang="de-DE" sz="1800" b="1" dirty="0">
                <a:latin typeface="Courier New" panose="02070309020205020404" pitchFamily="49" charset="0"/>
              </a:rPr>
            </a:br>
            <a:r>
              <a:rPr lang="de-DE" altLang="de-DE" sz="1800" b="1" dirty="0"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Zurückgegeben wird die Adresse, wo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die Liste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beginnt.</a:t>
            </a:r>
            <a:endParaRPr lang="de-DE" alt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spcBef>
                <a:spcPct val="0"/>
              </a:spcBef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Funktion zum Ausgeben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der Liste: </a:t>
            </a:r>
            <a:b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altLang="de-DE" sz="1800" b="1" err="1">
                <a:latin typeface="Courier New" panose="02070309020205020404" pitchFamily="49" charset="0"/>
              </a:rPr>
              <a:t>void</a:t>
            </a:r>
            <a:r>
              <a:rPr lang="de-DE" altLang="de-DE" sz="1800" b="1">
                <a:latin typeface="Courier New" panose="02070309020205020404" pitchFamily="49" charset="0"/>
              </a:rPr>
              <a:t> ausgebenListe(</a:t>
            </a:r>
            <a:r>
              <a:rPr lang="en-US" altLang="de-DE" sz="1800" b="1">
                <a:latin typeface="Courier New" panose="02070309020205020404" pitchFamily="49" charset="0"/>
              </a:rPr>
              <a:t>struct Listenelement</a:t>
            </a:r>
            <a:r>
              <a:rPr lang="de-DE" altLang="de-DE" sz="1800" b="1">
                <a:latin typeface="Courier New" panose="02070309020205020404" pitchFamily="49" charset="0"/>
              </a:rPr>
              <a:t> *liste)</a:t>
            </a:r>
            <a:br>
              <a:rPr lang="de-DE" altLang="de-DE" sz="1800" b="1" dirty="0">
                <a:latin typeface="Courier New" panose="02070309020205020404" pitchFamily="49" charset="0"/>
              </a:rPr>
            </a:br>
            <a:r>
              <a:rPr lang="de-DE" altLang="de-DE" sz="1800" b="1" dirty="0"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der Funktion wird die Adresse übergeben, wo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die Liste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beginnt.</a:t>
            </a:r>
            <a:endParaRPr lang="de-DE" altLang="de-DE" sz="1800" b="1" dirty="0">
              <a:latin typeface="Courier New" panose="02070309020205020404" pitchFamily="49" charset="0"/>
            </a:endParaRPr>
          </a:p>
          <a:p>
            <a:pPr marL="285750" indent="-285750" eaLnBrk="1" hangingPunct="1">
              <a:spcBef>
                <a:spcPct val="0"/>
              </a:spcBef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Funktion zum Einfügen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eines Listenelementes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unsere Liste:</a:t>
            </a:r>
            <a:b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altLang="de-DE" sz="1800" b="1" err="1">
                <a:latin typeface="Courier New" panose="02070309020205020404" pitchFamily="49" charset="0"/>
              </a:rPr>
              <a:t>void</a:t>
            </a:r>
            <a:r>
              <a:rPr lang="de-DE" altLang="de-DE" sz="1800" b="1">
                <a:latin typeface="Courier New" panose="02070309020205020404" pitchFamily="49" charset="0"/>
              </a:rPr>
              <a:t> einfuegendavorinListe(</a:t>
            </a:r>
            <a:r>
              <a:rPr lang="en-US" altLang="de-DE" sz="1800" b="1">
                <a:latin typeface="Courier New" panose="02070309020205020404" pitchFamily="49" charset="0"/>
              </a:rPr>
              <a:t>struct Listenelement</a:t>
            </a:r>
            <a:r>
              <a:rPr lang="de-DE" altLang="de-DE" sz="1800" b="1">
                <a:latin typeface="Courier New" panose="02070309020205020404" pitchFamily="49" charset="0"/>
              </a:rPr>
              <a:t> *liste,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position</a:t>
            </a:r>
            <a:r>
              <a:rPr lang="de-DE" altLang="de-DE" sz="1800" b="1" dirty="0">
                <a:latin typeface="Courier New" panose="02070309020205020404" pitchFamily="49" charset="0"/>
              </a:rPr>
              <a:t>,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 </a:t>
            </a: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neuerWert</a:t>
            </a:r>
            <a:r>
              <a:rPr lang="de-DE" altLang="de-DE" sz="1800" b="1" dirty="0">
                <a:latin typeface="Courier New" panose="02070309020205020404" pitchFamily="49" charset="0"/>
              </a:rPr>
              <a:t>)</a:t>
            </a:r>
            <a:br>
              <a:rPr lang="de-DE" altLang="de-DE" sz="1800" b="1" dirty="0">
                <a:latin typeface="Courier New" panose="02070309020205020404" pitchFamily="49" charset="0"/>
              </a:rPr>
            </a:br>
            <a:r>
              <a:rPr lang="de-DE" altLang="de-DE" sz="1800" b="1" dirty="0"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der Funktion wird die Adresse übergeben, wo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die Liste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beginnt, die Position, wovor das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neue Listenelement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eingefügt werden soll und der neue Wert, den das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neue Listenelement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haben soll.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Funktion zum Löschen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eines Listenelementes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</a:rPr>
              <a:t>unsere Liste:</a:t>
            </a:r>
            <a:b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altLang="de-DE" sz="1800" b="1" err="1">
                <a:latin typeface="Courier New" panose="02070309020205020404" pitchFamily="49" charset="0"/>
              </a:rPr>
              <a:t>void</a:t>
            </a:r>
            <a:r>
              <a:rPr lang="de-DE" altLang="de-DE" sz="1800" b="1">
                <a:latin typeface="Courier New" panose="02070309020205020404" pitchFamily="49" charset="0"/>
              </a:rPr>
              <a:t> loescheninListe(</a:t>
            </a:r>
            <a:r>
              <a:rPr lang="en-US" altLang="de-DE" sz="1800" b="1">
                <a:latin typeface="Courier New" panose="02070309020205020404" pitchFamily="49" charset="0"/>
              </a:rPr>
              <a:t>struct Listenelement</a:t>
            </a:r>
            <a:r>
              <a:rPr lang="de-DE" altLang="de-DE" sz="1800" b="1">
                <a:latin typeface="Courier New" panose="02070309020205020404" pitchFamily="49" charset="0"/>
              </a:rPr>
              <a:t> *liste,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position</a:t>
            </a:r>
            <a:r>
              <a:rPr lang="de-DE" altLang="de-DE" sz="1800" b="1" dirty="0">
                <a:latin typeface="Courier New" panose="02070309020205020404" pitchFamily="49" charset="0"/>
              </a:rPr>
              <a:t>)</a:t>
            </a:r>
            <a:r>
              <a:rPr lang="de-DE" altLang="de-DE" sz="1800" b="1" dirty="0">
                <a:latin typeface="Courier New" panose="02070309020205020404" pitchFamily="49" charset="0"/>
                <a:sym typeface="Wingdings" panose="05000000000000000000" pitchFamily="2" charset="2"/>
              </a:rPr>
              <a:t> </a:t>
            </a:r>
            <a:br>
              <a:rPr lang="de-DE" altLang="de-DE" sz="1800" b="1" dirty="0">
                <a:latin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altLang="de-DE" sz="1800" b="1" dirty="0"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der Funktion wird die Adresse übergeben, wo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die Liste 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beginnt und die Position </a:t>
            </a:r>
            <a:r>
              <a:rPr lang="de-DE" altLang="de-DE" sz="180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des Listenelementes</a:t>
            </a:r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, das gelöscht werden soll.</a:t>
            </a:r>
            <a:endParaRPr lang="de-DE" altLang="de-DE" sz="2000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377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liennummernplatzhalter 3">
            <a:extLst>
              <a:ext uri="{FF2B5EF4-FFF2-40B4-BE49-F238E27FC236}">
                <a16:creationId xmlns:a16="http://schemas.microsoft.com/office/drawing/2014/main" id="{62EDCCD1-8526-4E3B-9646-0484B2880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A0A25F-9EF5-4C88-9086-C321CB26B07C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de-DE" altLang="de-DE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B106C3C-950E-42D1-886D-02F5DB645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025" y="295889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Funktionsbeispiele </a:t>
            </a:r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für Listen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– Teil 3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10A6C8C-13AA-46EA-A3C4-F46E39BE6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903288"/>
            <a:ext cx="8832850" cy="283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75781" name="Text Box 4">
            <a:extLst>
              <a:ext uri="{FF2B5EF4-FFF2-40B4-BE49-F238E27FC236}">
                <a16:creationId xmlns:a16="http://schemas.microsoft.com/office/drawing/2014/main" id="{DD4E693A-8E9E-4C51-8B23-DE001151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1195674"/>
            <a:ext cx="8528050" cy="2554545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In allen diesen Funktionen wird die Adresse des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ersten Listenelements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übergeben.</a:t>
            </a:r>
          </a:p>
          <a:p>
            <a:pPr eaLnBrk="1" hangingPunct="1">
              <a:spcBef>
                <a:spcPct val="0"/>
              </a:spcBef>
              <a:buNone/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de-DE" altLang="de-DE" sz="2000" b="1" dirty="0">
                <a:latin typeface="Calibri" panose="020F0502020204030204" pitchFamily="34" charset="0"/>
                <a:cs typeface="Calibri" panose="020F0502020204030204" pitchFamily="34" charset="0"/>
              </a:rPr>
              <a:t>Achtung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: Um es einfacher zu machen, wird das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erste Listenelement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immer übersprungen und als Dummy-Kopf behandelt, so wie „Max Mustermann“ bei Formularen ein Dummy-Eintrag ist.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Die Liste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beginnt dann also immer beim </a:t>
            </a:r>
            <a:r>
              <a:rPr lang="de-DE" altLang="de-DE" sz="20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zweiten Listenelement</a:t>
            </a:r>
            <a:r>
              <a:rPr lang="de-DE" altLang="de-DE" sz="20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5870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liennummernplatzhalter 3">
            <a:extLst>
              <a:ext uri="{FF2B5EF4-FFF2-40B4-BE49-F238E27FC236}">
                <a16:creationId xmlns:a16="http://schemas.microsoft.com/office/drawing/2014/main" id="{62EDCCD1-8526-4E3B-9646-0484B2880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A0A25F-9EF5-4C88-9086-C321CB26B07C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de-DE" altLang="de-DE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B106C3C-950E-42D1-886D-02F5DB645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60350"/>
            <a:ext cx="8512175" cy="633413"/>
          </a:xfrm>
        </p:spPr>
        <p:txBody>
          <a:bodyPr/>
          <a:lstStyle/>
          <a:p>
            <a:pPr eaLnBrk="1" hangingPunct="1"/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Liste: Beispiel – Funktion fürs Anlegen einer Liste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10A6C8C-13AA-46EA-A3C4-F46E39BE6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903288"/>
            <a:ext cx="8832850" cy="283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75781" name="Text Box 4">
            <a:extLst>
              <a:ext uri="{FF2B5EF4-FFF2-40B4-BE49-F238E27FC236}">
                <a16:creationId xmlns:a16="http://schemas.microsoft.com/office/drawing/2014/main" id="{DD4E693A-8E9E-4C51-8B23-DE001151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4" y="1447219"/>
            <a:ext cx="852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b="1" dirty="0">
                <a:latin typeface="Courier New" panose="02070309020205020404" pitchFamily="49" charset="0"/>
              </a:rPr>
              <a:t>struct </a:t>
            </a:r>
            <a:r>
              <a:rPr lang="en-US" altLang="de-DE" sz="18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800" b="1" dirty="0">
                <a:latin typeface="Courier New" panose="02070309020205020404" pitchFamily="49" charset="0"/>
              </a:rPr>
              <a:t> *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anlegenListe</a:t>
            </a:r>
            <a:r>
              <a:rPr lang="de-DE" altLang="de-DE" sz="1800" b="1" dirty="0">
                <a:latin typeface="Courier New" panose="02070309020205020404" pitchFamily="49" charset="0"/>
              </a:rPr>
              <a:t>(){…}</a:t>
            </a:r>
          </a:p>
        </p:txBody>
      </p:sp>
      <p:sp>
        <p:nvSpPr>
          <p:cNvPr id="75782" name="Text Box 5">
            <a:extLst>
              <a:ext uri="{FF2B5EF4-FFF2-40B4-BE49-F238E27FC236}">
                <a16:creationId xmlns:a16="http://schemas.microsoft.com/office/drawing/2014/main" id="{623691AA-35C8-464E-A5C7-2F9F81C20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2147650"/>
            <a:ext cx="7240588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Die Adresse (vom Typ </a:t>
            </a:r>
            <a:r>
              <a:rPr lang="en-US" altLang="de-DE" sz="2000" b="1" dirty="0">
                <a:latin typeface="Courier New" panose="02070309020205020404" pitchFamily="49" charset="0"/>
              </a:rPr>
              <a:t>struct </a:t>
            </a:r>
            <a:r>
              <a:rPr lang="en-US" altLang="de-DE" sz="20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, also der Zeiger zeigt auf einen Platz, wo etwas vom Typ </a:t>
            </a:r>
            <a:r>
              <a:rPr lang="en-US" altLang="de-DE" sz="2000" b="1" dirty="0">
                <a:latin typeface="Courier New" panose="02070309020205020404" pitchFamily="49" charset="0"/>
              </a:rPr>
              <a:t>struct </a:t>
            </a:r>
            <a:r>
              <a:rPr lang="en-US" altLang="de-DE" sz="20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gespeichert ist), wo die Liste beginnt, wird zurückgegeben.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dirty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14389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liennummernplatzhalter 3">
            <a:extLst>
              <a:ext uri="{FF2B5EF4-FFF2-40B4-BE49-F238E27FC236}">
                <a16:creationId xmlns:a16="http://schemas.microsoft.com/office/drawing/2014/main" id="{D5984459-176D-4229-A6D6-921AD9B560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81B0EA-B5FC-4452-B05B-A41FBE3B2597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de-DE" altLang="de-DE" sz="1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1FD660CF-4734-4B9E-8C61-9CF466709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800" y="260350"/>
            <a:ext cx="8788400" cy="633413"/>
          </a:xfrm>
        </p:spPr>
        <p:txBody>
          <a:bodyPr/>
          <a:lstStyle/>
          <a:p>
            <a:pPr eaLnBrk="1" hangingPunct="1"/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Anlegen – Speicher für Elemente anfordern </a:t>
            </a:r>
          </a:p>
        </p:txBody>
      </p:sp>
      <p:grpSp>
        <p:nvGrpSpPr>
          <p:cNvPr id="77828" name="Group 5">
            <a:extLst>
              <a:ext uri="{FF2B5EF4-FFF2-40B4-BE49-F238E27FC236}">
                <a16:creationId xmlns:a16="http://schemas.microsoft.com/office/drawing/2014/main" id="{D2EC78D7-5AD0-4A98-A384-A5CA46CAFF2E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5041900"/>
            <a:ext cx="1163637" cy="382588"/>
            <a:chOff x="912" y="2052"/>
            <a:chExt cx="733" cy="241"/>
          </a:xfrm>
        </p:grpSpPr>
        <p:sp>
          <p:nvSpPr>
            <p:cNvPr id="77837" name="Rectangle 6">
              <a:extLst>
                <a:ext uri="{FF2B5EF4-FFF2-40B4-BE49-F238E27FC236}">
                  <a16:creationId xmlns:a16="http://schemas.microsoft.com/office/drawing/2014/main" id="{ED28FF4F-0767-4BC9-9E7F-A5FE2B953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77838" name="Rectangle 7">
              <a:extLst>
                <a:ext uri="{FF2B5EF4-FFF2-40B4-BE49-F238E27FC236}">
                  <a16:creationId xmlns:a16="http://schemas.microsoft.com/office/drawing/2014/main" id="{016B619F-5B84-4C12-BDE9-AC323E9E4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de-DE" altLang="de-DE" sz="18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77830" name="Group 12">
            <a:extLst>
              <a:ext uri="{FF2B5EF4-FFF2-40B4-BE49-F238E27FC236}">
                <a16:creationId xmlns:a16="http://schemas.microsoft.com/office/drawing/2014/main" id="{B542B0A9-5484-45D2-9541-9FF7F6BAF053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5026025"/>
            <a:ext cx="1163638" cy="382588"/>
            <a:chOff x="912" y="2052"/>
            <a:chExt cx="733" cy="241"/>
          </a:xfrm>
        </p:grpSpPr>
        <p:sp>
          <p:nvSpPr>
            <p:cNvPr id="77833" name="Rectangle 13">
              <a:extLst>
                <a:ext uri="{FF2B5EF4-FFF2-40B4-BE49-F238E27FC236}">
                  <a16:creationId xmlns:a16="http://schemas.microsoft.com/office/drawing/2014/main" id="{08411E84-0BB2-4877-A76F-85F65B738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77834" name="Rectangle 14">
              <a:extLst>
                <a:ext uri="{FF2B5EF4-FFF2-40B4-BE49-F238E27FC236}">
                  <a16:creationId xmlns:a16="http://schemas.microsoft.com/office/drawing/2014/main" id="{55BB20F7-66FF-48AF-B293-9056A6B1B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de-DE" altLang="de-DE" sz="1800" b="1">
                <a:latin typeface="Courier New" panose="02070309020205020404" pitchFamily="49" charset="0"/>
              </a:endParaRPr>
            </a:p>
          </p:txBody>
        </p:sp>
      </p:grpSp>
      <p:sp>
        <p:nvSpPr>
          <p:cNvPr id="77831" name="Text Box 4">
            <a:extLst>
              <a:ext uri="{FF2B5EF4-FFF2-40B4-BE49-F238E27FC236}">
                <a16:creationId xmlns:a16="http://schemas.microsoft.com/office/drawing/2014/main" id="{154D4574-57E3-48BD-8987-AD7DF2B2C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78" y="1977817"/>
            <a:ext cx="7870825" cy="230832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 err="1">
                <a:latin typeface="Courier New" panose="02070309020205020404" pitchFamily="49" charset="0"/>
              </a:rPr>
              <a:t>struct</a:t>
            </a:r>
            <a:r>
              <a:rPr lang="de-DE" altLang="de-DE" sz="1400" b="1" dirty="0">
                <a:latin typeface="Courier New" panose="02070309020205020404" pitchFamily="49" charset="0"/>
              </a:rPr>
              <a:t> Listenelement *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anlegenListe</a:t>
            </a:r>
            <a:r>
              <a:rPr lang="de-DE" altLang="de-DE" sz="1400" b="1" dirty="0">
                <a:latin typeface="Courier New" panose="02070309020205020404" pitchFamily="49" charset="0"/>
              </a:rPr>
              <a:t>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</a:t>
            </a:r>
            <a:r>
              <a:rPr lang="en-US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*e0 =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*e1 =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));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e0-&gt;wert = 0;//interpretiert als Anfang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e0-&gt;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 = e1;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e1-&gt;wert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e1-&gt;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return</a:t>
            </a:r>
            <a:r>
              <a:rPr lang="de-DE" altLang="de-DE" sz="1400" b="1" dirty="0">
                <a:latin typeface="Courier New" panose="02070309020205020404" pitchFamily="49" charset="0"/>
              </a:rPr>
              <a:t> e0;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7832" name="Text Box 11">
            <a:extLst>
              <a:ext uri="{FF2B5EF4-FFF2-40B4-BE49-F238E27FC236}">
                <a16:creationId xmlns:a16="http://schemas.microsoft.com/office/drawing/2014/main" id="{3D03065F-F383-461C-B4C6-D24C2CAC6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704" y="2267960"/>
            <a:ext cx="1133831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Speicherplatz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bereit stellen</a:t>
            </a:r>
          </a:p>
        </p:txBody>
      </p:sp>
      <p:sp>
        <p:nvSpPr>
          <p:cNvPr id="2" name="Geschweifte Klammer rechts 1">
            <a:extLst>
              <a:ext uri="{FF2B5EF4-FFF2-40B4-BE49-F238E27FC236}">
                <a16:creationId xmlns:a16="http://schemas.microsoft.com/office/drawing/2014/main" id="{C73D2533-C2B6-4697-BDAF-9CE5B27D0FA0}"/>
              </a:ext>
            </a:extLst>
          </p:cNvPr>
          <p:cNvSpPr/>
          <p:nvPr/>
        </p:nvSpPr>
        <p:spPr>
          <a:xfrm>
            <a:off x="7660481" y="2175352"/>
            <a:ext cx="116446" cy="60406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198B0D0-AEBF-4935-B5D2-FCFF4462A9C3}"/>
              </a:ext>
            </a:extLst>
          </p:cNvPr>
          <p:cNvSpPr txBox="1"/>
          <p:nvPr/>
        </p:nvSpPr>
        <p:spPr>
          <a:xfrm>
            <a:off x="177801" y="991376"/>
            <a:ext cx="848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Hier wird eine Liste mit 2 Listenelementen angelegt. Davon soll das erste Element als Anfang der Liste interpretiert werden und nicht wirklich zur Liste selbst dazu gehören.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liennummernplatzhalter 3">
            <a:extLst>
              <a:ext uri="{FF2B5EF4-FFF2-40B4-BE49-F238E27FC236}">
                <a16:creationId xmlns:a16="http://schemas.microsoft.com/office/drawing/2014/main" id="{B4DF4453-4C24-4C5E-A48D-965F09E2B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2C69F7-CF1A-49F8-94B5-98DD88D8BE28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de-DE" altLang="de-DE" sz="14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A4D1FCF6-2587-46D1-AEBD-1A1D2CE67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Anlegen – Datenteile der Elemente füllen</a:t>
            </a:r>
          </a:p>
        </p:txBody>
      </p:sp>
      <p:sp>
        <p:nvSpPr>
          <p:cNvPr id="79876" name="Text Box 4">
            <a:extLst>
              <a:ext uri="{FF2B5EF4-FFF2-40B4-BE49-F238E27FC236}">
                <a16:creationId xmlns:a16="http://schemas.microsoft.com/office/drawing/2014/main" id="{0B9D5F42-7FDC-4549-B180-145A43DE4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8" y="1027113"/>
            <a:ext cx="7868577" cy="252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anlegenListe</a:t>
            </a:r>
            <a:r>
              <a:rPr lang="de-DE" altLang="de-DE" sz="1400" b="1" dirty="0">
                <a:latin typeface="Courier New" panose="02070309020205020404" pitchFamily="49" charset="0"/>
              </a:rPr>
              <a:t>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*e0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*e1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e0-&gt;wert = 0;//interpretiert als Anfang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e0-&gt;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 = e1;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e1-&gt;wert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e1-&gt;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return</a:t>
            </a:r>
            <a:r>
              <a:rPr lang="de-DE" altLang="de-DE" sz="1400" b="1" dirty="0">
                <a:latin typeface="Courier New" panose="02070309020205020404" pitchFamily="49" charset="0"/>
              </a:rPr>
              <a:t> e0;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</p:txBody>
      </p:sp>
      <p:grpSp>
        <p:nvGrpSpPr>
          <p:cNvPr id="79877" name="Group 5">
            <a:extLst>
              <a:ext uri="{FF2B5EF4-FFF2-40B4-BE49-F238E27FC236}">
                <a16:creationId xmlns:a16="http://schemas.microsoft.com/office/drawing/2014/main" id="{31C5C6F6-EA6E-4809-B936-CBF055D69FB3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5041900"/>
            <a:ext cx="1163637" cy="382588"/>
            <a:chOff x="912" y="2052"/>
            <a:chExt cx="733" cy="241"/>
          </a:xfrm>
        </p:grpSpPr>
        <p:sp>
          <p:nvSpPr>
            <p:cNvPr id="79885" name="Rectangle 6">
              <a:extLst>
                <a:ext uri="{FF2B5EF4-FFF2-40B4-BE49-F238E27FC236}">
                  <a16:creationId xmlns:a16="http://schemas.microsoft.com/office/drawing/2014/main" id="{B39B4C9A-94D4-483D-8FFC-C22E914E6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79886" name="Rectangle 7">
              <a:extLst>
                <a:ext uri="{FF2B5EF4-FFF2-40B4-BE49-F238E27FC236}">
                  <a16:creationId xmlns:a16="http://schemas.microsoft.com/office/drawing/2014/main" id="{C70097FA-E330-4C11-B698-C102DD785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9880" name="Group 12">
            <a:extLst>
              <a:ext uri="{FF2B5EF4-FFF2-40B4-BE49-F238E27FC236}">
                <a16:creationId xmlns:a16="http://schemas.microsoft.com/office/drawing/2014/main" id="{5F8748AE-4EBA-4253-BBDF-8273D780182D}"/>
              </a:ext>
            </a:extLst>
          </p:cNvPr>
          <p:cNvGrpSpPr>
            <a:grpSpLocks/>
          </p:cNvGrpSpPr>
          <p:nvPr/>
        </p:nvGrpSpPr>
        <p:grpSpPr bwMode="auto">
          <a:xfrm>
            <a:off x="1330325" y="5062538"/>
            <a:ext cx="1163638" cy="382587"/>
            <a:chOff x="912" y="2052"/>
            <a:chExt cx="733" cy="241"/>
          </a:xfrm>
        </p:grpSpPr>
        <p:sp>
          <p:nvSpPr>
            <p:cNvPr id="79881" name="Rectangle 13">
              <a:extLst>
                <a:ext uri="{FF2B5EF4-FFF2-40B4-BE49-F238E27FC236}">
                  <a16:creationId xmlns:a16="http://schemas.microsoft.com/office/drawing/2014/main" id="{89D8F15E-7307-46DA-A601-86B1CA24A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79882" name="Rectangle 14">
              <a:extLst>
                <a:ext uri="{FF2B5EF4-FFF2-40B4-BE49-F238E27FC236}">
                  <a16:creationId xmlns:a16="http://schemas.microsoft.com/office/drawing/2014/main" id="{3DD3E018-7D1C-453D-A3B6-97EFEEF67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liennummernplatzhalter 3">
            <a:extLst>
              <a:ext uri="{FF2B5EF4-FFF2-40B4-BE49-F238E27FC236}">
                <a16:creationId xmlns:a16="http://schemas.microsoft.com/office/drawing/2014/main" id="{F1158339-84B4-4FD9-8879-3CCADB7AA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F01868-1A87-476A-BF68-44C673864A5C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de-DE" altLang="de-DE" sz="14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D7182974-C3C0-47E8-8610-1395BA827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Anlegen – Aneinanderketten der Elemente</a:t>
            </a:r>
          </a:p>
        </p:txBody>
      </p:sp>
      <p:sp>
        <p:nvSpPr>
          <p:cNvPr id="81924" name="Text Box 4">
            <a:extLst>
              <a:ext uri="{FF2B5EF4-FFF2-40B4-BE49-F238E27FC236}">
                <a16:creationId xmlns:a16="http://schemas.microsoft.com/office/drawing/2014/main" id="{387E0600-444B-4068-B238-86CF69349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1" y="1027113"/>
            <a:ext cx="8655113" cy="255454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600" b="1" dirty="0">
                <a:latin typeface="Courier New" panose="02070309020205020404" pitchFamily="49" charset="0"/>
              </a:rPr>
              <a:t>struct </a:t>
            </a:r>
            <a:r>
              <a:rPr lang="en-US" altLang="de-DE" sz="16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600" b="1" dirty="0">
                <a:latin typeface="Courier New" panose="02070309020205020404" pitchFamily="49" charset="0"/>
              </a:rPr>
              <a:t> *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anlegenListe</a:t>
            </a:r>
            <a:r>
              <a:rPr lang="de-DE" altLang="de-DE" sz="1600" b="1" dirty="0">
                <a:latin typeface="Courier New" panose="02070309020205020404" pitchFamily="49" charset="0"/>
              </a:rPr>
              <a:t>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en-US" altLang="de-DE" sz="1600" b="1" dirty="0">
                <a:latin typeface="Courier New" panose="02070309020205020404" pitchFamily="49" charset="0"/>
              </a:rPr>
              <a:t>struct </a:t>
            </a:r>
            <a:r>
              <a:rPr lang="en-US" altLang="de-DE" sz="16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600" b="1" dirty="0">
                <a:latin typeface="Courier New" panose="02070309020205020404" pitchFamily="49" charset="0"/>
              </a:rPr>
              <a:t> *e0 =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600" b="1" dirty="0"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600" b="1" dirty="0">
                <a:latin typeface="Courier New" panose="02070309020205020404" pitchFamily="49" charset="0"/>
              </a:rPr>
              <a:t>(</a:t>
            </a:r>
            <a:r>
              <a:rPr lang="en-US" altLang="de-DE" sz="1600" b="1" dirty="0">
                <a:latin typeface="Courier New" panose="02070309020205020404" pitchFamily="49" charset="0"/>
              </a:rPr>
              <a:t>struct </a:t>
            </a:r>
            <a:r>
              <a:rPr lang="en-US" altLang="de-DE" sz="16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600" b="1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en-US" altLang="de-DE" sz="1600" b="1" dirty="0">
                <a:latin typeface="Courier New" panose="02070309020205020404" pitchFamily="49" charset="0"/>
              </a:rPr>
              <a:t>struct </a:t>
            </a:r>
            <a:r>
              <a:rPr lang="en-US" altLang="de-DE" sz="16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600" b="1" dirty="0">
                <a:latin typeface="Courier New" panose="02070309020205020404" pitchFamily="49" charset="0"/>
              </a:rPr>
              <a:t> *e1 =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600" b="1" dirty="0"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600" b="1" dirty="0">
                <a:latin typeface="Courier New" panose="02070309020205020404" pitchFamily="49" charset="0"/>
              </a:rPr>
              <a:t>(</a:t>
            </a:r>
            <a:r>
              <a:rPr lang="en-US" altLang="de-DE" sz="1600" b="1" dirty="0">
                <a:latin typeface="Courier New" panose="02070309020205020404" pitchFamily="49" charset="0"/>
              </a:rPr>
              <a:t>struct </a:t>
            </a:r>
            <a:r>
              <a:rPr lang="en-US" altLang="de-DE" sz="16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600" b="1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e0-&gt;wert = 0;//interpretiert als Anfang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e0-&gt;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  = e1;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e1-&gt;wert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</a:t>
            </a:r>
            <a:r>
              <a:rPr lang="de-DE" altLang="de-DE" sz="1600" b="1" dirty="0">
                <a:latin typeface="Courier New" panose="02070309020205020404" pitchFamily="49" charset="0"/>
              </a:rPr>
              <a:t>e1-&gt;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600" b="1" dirty="0">
                <a:latin typeface="Courier New" panose="02070309020205020404" pitchFamily="49" charset="0"/>
              </a:rPr>
              <a:t>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return</a:t>
            </a:r>
            <a:r>
              <a:rPr lang="de-DE" altLang="de-DE" sz="1600" b="1" dirty="0">
                <a:latin typeface="Courier New" panose="02070309020205020404" pitchFamily="49" charset="0"/>
              </a:rPr>
              <a:t> e0;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81925" name="Group 5">
            <a:extLst>
              <a:ext uri="{FF2B5EF4-FFF2-40B4-BE49-F238E27FC236}">
                <a16:creationId xmlns:a16="http://schemas.microsoft.com/office/drawing/2014/main" id="{E77FC431-9D36-43E9-B7CB-067484C3373F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5041900"/>
            <a:ext cx="1163637" cy="382588"/>
            <a:chOff x="912" y="2052"/>
            <a:chExt cx="733" cy="241"/>
          </a:xfrm>
        </p:grpSpPr>
        <p:sp>
          <p:nvSpPr>
            <p:cNvPr id="81935" name="Rectangle 6">
              <a:extLst>
                <a:ext uri="{FF2B5EF4-FFF2-40B4-BE49-F238E27FC236}">
                  <a16:creationId xmlns:a16="http://schemas.microsoft.com/office/drawing/2014/main" id="{E4F028E5-4F7C-4461-81E3-13FBC948B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81936" name="Rectangle 7">
              <a:extLst>
                <a:ext uri="{FF2B5EF4-FFF2-40B4-BE49-F238E27FC236}">
                  <a16:creationId xmlns:a16="http://schemas.microsoft.com/office/drawing/2014/main" id="{727F94E9-9589-4BFF-85B5-917E9569A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81929" name="Group 13">
            <a:extLst>
              <a:ext uri="{FF2B5EF4-FFF2-40B4-BE49-F238E27FC236}">
                <a16:creationId xmlns:a16="http://schemas.microsoft.com/office/drawing/2014/main" id="{446CF415-3915-4E36-AE14-D3E3407BB377}"/>
              </a:ext>
            </a:extLst>
          </p:cNvPr>
          <p:cNvGrpSpPr>
            <a:grpSpLocks/>
          </p:cNvGrpSpPr>
          <p:nvPr/>
        </p:nvGrpSpPr>
        <p:grpSpPr bwMode="auto">
          <a:xfrm>
            <a:off x="1317625" y="5049838"/>
            <a:ext cx="1163638" cy="382587"/>
            <a:chOff x="912" y="2052"/>
            <a:chExt cx="733" cy="241"/>
          </a:xfrm>
        </p:grpSpPr>
        <p:sp>
          <p:nvSpPr>
            <p:cNvPr id="81931" name="Rectangle 14">
              <a:extLst>
                <a:ext uri="{FF2B5EF4-FFF2-40B4-BE49-F238E27FC236}">
                  <a16:creationId xmlns:a16="http://schemas.microsoft.com/office/drawing/2014/main" id="{A31CD9E1-F9C2-408E-BCF8-764E6B2E7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81932" name="Rectangle 15">
              <a:extLst>
                <a:ext uri="{FF2B5EF4-FFF2-40B4-BE49-F238E27FC236}">
                  <a16:creationId xmlns:a16="http://schemas.microsoft.com/office/drawing/2014/main" id="{7AA30D69-DB0E-45C1-BD26-5E34BC6AC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latin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81930" name="Line 16">
            <a:extLst>
              <a:ext uri="{FF2B5EF4-FFF2-40B4-BE49-F238E27FC236}">
                <a16:creationId xmlns:a16="http://schemas.microsoft.com/office/drawing/2014/main" id="{1E26174F-B954-4092-82E1-E9CF252769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4738" y="5221288"/>
            <a:ext cx="515937" cy="142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liennummernplatzhalter 3">
            <a:extLst>
              <a:ext uri="{FF2B5EF4-FFF2-40B4-BE49-F238E27FC236}">
                <a16:creationId xmlns:a16="http://schemas.microsoft.com/office/drawing/2014/main" id="{64D197FD-FBC8-40BB-844B-47E991C718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0B7BC0-7C2D-4A94-B29D-9E8E1F3CD580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de-DE" altLang="de-DE" sz="14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B80CC19D-5A38-43E9-B29E-134CDF6F5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814" y="260350"/>
            <a:ext cx="8420986" cy="633413"/>
          </a:xfrm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Liste: Anlegen - Ende festlegen</a:t>
            </a:r>
          </a:p>
        </p:txBody>
      </p:sp>
      <p:sp>
        <p:nvSpPr>
          <p:cNvPr id="83972" name="Text Box 4">
            <a:extLst>
              <a:ext uri="{FF2B5EF4-FFF2-40B4-BE49-F238E27FC236}">
                <a16:creationId xmlns:a16="http://schemas.microsoft.com/office/drawing/2014/main" id="{CE691281-650D-409A-8922-D59E95DEB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92" y="1027113"/>
            <a:ext cx="8290208" cy="224676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anlegenListe</a:t>
            </a:r>
            <a:r>
              <a:rPr lang="de-DE" altLang="de-DE" sz="1400" b="1" dirty="0">
                <a:latin typeface="Courier New" panose="02070309020205020404" pitchFamily="49" charset="0"/>
              </a:rPr>
              <a:t>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*e0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*e1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e0-&gt;wert = 0;//interpretiert als Anfang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e0-&gt;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 = e1;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e1-&gt;wert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</a:t>
            </a:r>
            <a:r>
              <a:rPr lang="de-DE" altLang="de-DE" sz="1400" b="1" dirty="0">
                <a:solidFill>
                  <a:srgbClr val="FF00FF"/>
                </a:solidFill>
                <a:latin typeface="Courier New" panose="02070309020205020404" pitchFamily="49" charset="0"/>
              </a:rPr>
              <a:t>e1-&gt;</a:t>
            </a:r>
            <a:r>
              <a:rPr lang="de-DE" altLang="de-DE" sz="1400" b="1" dirty="0" err="1">
                <a:solidFill>
                  <a:srgbClr val="FF00FF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solidFill>
                  <a:srgbClr val="FF00FF"/>
                </a:solidFill>
                <a:latin typeface="Courier New" panose="02070309020205020404" pitchFamily="49" charset="0"/>
              </a:rPr>
              <a:t> 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return</a:t>
            </a:r>
            <a:r>
              <a:rPr lang="de-DE" altLang="de-DE" sz="1400" b="1" dirty="0">
                <a:latin typeface="Courier New" panose="02070309020205020404" pitchFamily="49" charset="0"/>
              </a:rPr>
              <a:t> e0;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83985" name="Group 6">
            <a:extLst>
              <a:ext uri="{FF2B5EF4-FFF2-40B4-BE49-F238E27FC236}">
                <a16:creationId xmlns:a16="http://schemas.microsoft.com/office/drawing/2014/main" id="{CFF97574-BBBD-498F-BF11-C5708F75A573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5041900"/>
            <a:ext cx="1163637" cy="382588"/>
            <a:chOff x="912" y="2052"/>
            <a:chExt cx="733" cy="241"/>
          </a:xfrm>
        </p:grpSpPr>
        <p:sp>
          <p:nvSpPr>
            <p:cNvPr id="83987" name="Rectangle 7">
              <a:extLst>
                <a:ext uri="{FF2B5EF4-FFF2-40B4-BE49-F238E27FC236}">
                  <a16:creationId xmlns:a16="http://schemas.microsoft.com/office/drawing/2014/main" id="{1755AFA4-8C6E-47D9-B236-F5A2F7E0E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83988" name="Rectangle 8">
              <a:extLst>
                <a:ext uri="{FF2B5EF4-FFF2-40B4-BE49-F238E27FC236}">
                  <a16:creationId xmlns:a16="http://schemas.microsoft.com/office/drawing/2014/main" id="{687EB0B4-4EC7-4193-8E37-38F7813A9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83975" name="Line 13">
            <a:extLst>
              <a:ext uri="{FF2B5EF4-FFF2-40B4-BE49-F238E27FC236}">
                <a16:creationId xmlns:a16="http://schemas.microsoft.com/office/drawing/2014/main" id="{681F0194-55D9-4ECC-BC4D-E0A770846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5299" y="5247301"/>
            <a:ext cx="490538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83976" name="Text Box 14">
            <a:extLst>
              <a:ext uri="{FF2B5EF4-FFF2-40B4-BE49-F238E27FC236}">
                <a16:creationId xmlns:a16="http://schemas.microsoft.com/office/drawing/2014/main" id="{27FA305A-6DA6-4560-8BFA-D71AB4FE0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837" y="5063944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rgbClr val="FF00FF"/>
                </a:solidFill>
                <a:latin typeface="Courier New" panose="02070309020205020404" pitchFamily="49" charset="0"/>
              </a:rPr>
              <a:t>NULL</a:t>
            </a:r>
          </a:p>
        </p:txBody>
      </p:sp>
      <p:grpSp>
        <p:nvGrpSpPr>
          <p:cNvPr id="83978" name="Group 16">
            <a:extLst>
              <a:ext uri="{FF2B5EF4-FFF2-40B4-BE49-F238E27FC236}">
                <a16:creationId xmlns:a16="http://schemas.microsoft.com/office/drawing/2014/main" id="{A4E4BDE1-D262-4575-B990-A5469E1FC930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5038725"/>
            <a:ext cx="1506538" cy="382588"/>
            <a:chOff x="821" y="1997"/>
            <a:chExt cx="949" cy="241"/>
          </a:xfrm>
        </p:grpSpPr>
        <p:grpSp>
          <p:nvGrpSpPr>
            <p:cNvPr id="83979" name="Group 17">
              <a:extLst>
                <a:ext uri="{FF2B5EF4-FFF2-40B4-BE49-F238E27FC236}">
                  <a16:creationId xmlns:a16="http://schemas.microsoft.com/office/drawing/2014/main" id="{46035749-FF27-4D01-9BAB-D67E9C6485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83981" name="Rectangle 18">
                <a:extLst>
                  <a:ext uri="{FF2B5EF4-FFF2-40B4-BE49-F238E27FC236}">
                    <a16:creationId xmlns:a16="http://schemas.microsoft.com/office/drawing/2014/main" id="{9BD31474-4C0A-4245-8BC5-D14E7B9DF6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83982" name="Rectangle 19">
                <a:extLst>
                  <a:ext uri="{FF2B5EF4-FFF2-40B4-BE49-F238E27FC236}">
                    <a16:creationId xmlns:a16="http://schemas.microsoft.com/office/drawing/2014/main" id="{0A70D6AF-30AB-471D-B08D-05B3D8F568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83980" name="Line 20">
              <a:extLst>
                <a:ext uri="{FF2B5EF4-FFF2-40B4-BE49-F238E27FC236}">
                  <a16:creationId xmlns:a16="http://schemas.microsoft.com/office/drawing/2014/main" id="{65500C6B-A0B8-4991-BB48-FA66DF33A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liennummernplatzhalter 3">
            <a:extLst>
              <a:ext uri="{FF2B5EF4-FFF2-40B4-BE49-F238E27FC236}">
                <a16:creationId xmlns:a16="http://schemas.microsoft.com/office/drawing/2014/main" id="{0F462147-F3F4-4A5D-AB41-3DB8191BB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511F74-6043-4675-B98A-EB2DA2ABFC9F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de-DE" altLang="de-DE" sz="14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703CF67-12A0-4D98-9A28-0376859CA2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" y="260350"/>
            <a:ext cx="8412480" cy="633413"/>
          </a:xfrm>
        </p:spPr>
        <p:txBody>
          <a:bodyPr/>
          <a:lstStyle/>
          <a:p>
            <a:pPr eaLnBrk="1" hangingPunct="1"/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Anlegen – Funktionsrückgabe: Adresse, wo </a:t>
            </a:r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die Liste 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beginnt</a:t>
            </a:r>
          </a:p>
        </p:txBody>
      </p:sp>
      <p:sp>
        <p:nvSpPr>
          <p:cNvPr id="86020" name="Text Box 4">
            <a:extLst>
              <a:ext uri="{FF2B5EF4-FFF2-40B4-BE49-F238E27FC236}">
                <a16:creationId xmlns:a16="http://schemas.microsoft.com/office/drawing/2014/main" id="{D7868DF8-67D0-460D-B200-33455A06F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59" y="1256507"/>
            <a:ext cx="8111905" cy="224676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anlegenListe</a:t>
            </a:r>
            <a:r>
              <a:rPr lang="de-DE" altLang="de-DE" sz="1400" b="1" dirty="0">
                <a:latin typeface="Courier New" panose="02070309020205020404" pitchFamily="49" charset="0"/>
              </a:rPr>
              <a:t>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*e0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*e1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));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e0-&gt;wert = 0;//interpretiert als Anfang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e0-&gt;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 = e1;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e1-&gt;wert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</a:t>
            </a:r>
            <a:r>
              <a:rPr lang="de-DE" altLang="de-DE" sz="1400" b="1" dirty="0">
                <a:latin typeface="Courier New" panose="02070309020205020404" pitchFamily="49" charset="0"/>
              </a:rPr>
              <a:t>e1-&gt;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solidFill>
                  <a:srgbClr val="FF00FF"/>
                </a:solidFill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solidFill>
                  <a:srgbClr val="FF00FF"/>
                </a:solidFill>
                <a:latin typeface="Courier New" panose="02070309020205020404" pitchFamily="49" charset="0"/>
              </a:rPr>
              <a:t>return</a:t>
            </a:r>
            <a:r>
              <a:rPr lang="de-DE" altLang="de-DE" sz="1400" b="1" dirty="0">
                <a:solidFill>
                  <a:srgbClr val="FF00FF"/>
                </a:solidFill>
                <a:latin typeface="Courier New" panose="02070309020205020404" pitchFamily="49" charset="0"/>
              </a:rPr>
              <a:t> e0;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86021" name="Group 5">
            <a:extLst>
              <a:ext uri="{FF2B5EF4-FFF2-40B4-BE49-F238E27FC236}">
                <a16:creationId xmlns:a16="http://schemas.microsoft.com/office/drawing/2014/main" id="{1368CEF5-7EDB-408D-897C-AC758ABD67FE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5041900"/>
            <a:ext cx="1506537" cy="382588"/>
            <a:chOff x="821" y="1997"/>
            <a:chExt cx="949" cy="241"/>
          </a:xfrm>
        </p:grpSpPr>
        <p:grpSp>
          <p:nvGrpSpPr>
            <p:cNvPr id="86035" name="Group 6">
              <a:extLst>
                <a:ext uri="{FF2B5EF4-FFF2-40B4-BE49-F238E27FC236}">
                  <a16:creationId xmlns:a16="http://schemas.microsoft.com/office/drawing/2014/main" id="{5A519483-4443-4998-BF31-B7E1B5E58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86037" name="Rectangle 7">
                <a:extLst>
                  <a:ext uri="{FF2B5EF4-FFF2-40B4-BE49-F238E27FC236}">
                    <a16:creationId xmlns:a16="http://schemas.microsoft.com/office/drawing/2014/main" id="{7C28F16C-B84B-471A-8797-D9A432700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86038" name="Rectangle 8">
                <a:extLst>
                  <a:ext uri="{FF2B5EF4-FFF2-40B4-BE49-F238E27FC236}">
                    <a16:creationId xmlns:a16="http://schemas.microsoft.com/office/drawing/2014/main" id="{FD16F7EC-400E-440F-AF03-939B0A131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1</a:t>
                </a:r>
              </a:p>
            </p:txBody>
          </p:sp>
        </p:grpSp>
        <p:sp>
          <p:nvSpPr>
            <p:cNvPr id="86036" name="Line 9">
              <a:extLst>
                <a:ext uri="{FF2B5EF4-FFF2-40B4-BE49-F238E27FC236}">
                  <a16:creationId xmlns:a16="http://schemas.microsoft.com/office/drawing/2014/main" id="{4149B2BB-B55F-4544-B9C4-88CF90C63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86023" name="Text Box 15">
            <a:extLst>
              <a:ext uri="{FF2B5EF4-FFF2-40B4-BE49-F238E27FC236}">
                <a16:creationId xmlns:a16="http://schemas.microsoft.com/office/drawing/2014/main" id="{8BA2FD9D-84D3-4E39-A4B4-194138936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800" y="50546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NULL</a:t>
            </a:r>
          </a:p>
        </p:txBody>
      </p:sp>
      <p:sp>
        <p:nvSpPr>
          <p:cNvPr id="86024" name="Line 16">
            <a:extLst>
              <a:ext uri="{FF2B5EF4-FFF2-40B4-BE49-F238E27FC236}">
                <a16:creationId xmlns:a16="http://schemas.microsoft.com/office/drawing/2014/main" id="{A276596D-05DF-4D21-95A7-BD454E7C0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3600" y="5216525"/>
            <a:ext cx="490538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86026" name="Group 18">
            <a:extLst>
              <a:ext uri="{FF2B5EF4-FFF2-40B4-BE49-F238E27FC236}">
                <a16:creationId xmlns:a16="http://schemas.microsoft.com/office/drawing/2014/main" id="{B89F7D55-E882-4E51-BC30-C89EB34605E4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5038725"/>
            <a:ext cx="1506538" cy="382588"/>
            <a:chOff x="821" y="1997"/>
            <a:chExt cx="949" cy="241"/>
          </a:xfrm>
        </p:grpSpPr>
        <p:grpSp>
          <p:nvGrpSpPr>
            <p:cNvPr id="86027" name="Group 19">
              <a:extLst>
                <a:ext uri="{FF2B5EF4-FFF2-40B4-BE49-F238E27FC236}">
                  <a16:creationId xmlns:a16="http://schemas.microsoft.com/office/drawing/2014/main" id="{C368A96F-5AF3-4CF3-8BB7-BF2E7CC656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86029" name="Rectangle 20">
                <a:extLst>
                  <a:ext uri="{FF2B5EF4-FFF2-40B4-BE49-F238E27FC236}">
                    <a16:creationId xmlns:a16="http://schemas.microsoft.com/office/drawing/2014/main" id="{2B0DECAD-ABB8-4C41-9927-376F55EE9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86030" name="Rectangle 21">
                <a:extLst>
                  <a:ext uri="{FF2B5EF4-FFF2-40B4-BE49-F238E27FC236}">
                    <a16:creationId xmlns:a16="http://schemas.microsoft.com/office/drawing/2014/main" id="{6D5E904A-5FF6-4325-BCDA-0A13AE70A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86028" name="Line 22">
              <a:extLst>
                <a:ext uri="{FF2B5EF4-FFF2-40B4-BE49-F238E27FC236}">
                  <a16:creationId xmlns:a16="http://schemas.microsoft.com/office/drawing/2014/main" id="{D96DBA48-5B22-4048-A660-A79534E69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liennummernplatzhalter 3">
            <a:extLst>
              <a:ext uri="{FF2B5EF4-FFF2-40B4-BE49-F238E27FC236}">
                <a16:creationId xmlns:a16="http://schemas.microsoft.com/office/drawing/2014/main" id="{CA6CD35C-DA67-4054-8EC6-4291A2343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94543A-95E0-4077-B1EE-967DC88E289A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de-DE" altLang="de-DE" sz="14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D01D8E90-C5F2-4E1F-BA55-3F09D1C0A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9400" y="260350"/>
            <a:ext cx="8407400" cy="633413"/>
          </a:xfrm>
        </p:spPr>
        <p:txBody>
          <a:bodyPr/>
          <a:lstStyle/>
          <a:p>
            <a:pPr eaLnBrk="1" hangingPunct="1"/>
            <a:r>
              <a:rPr lang="de-DE" altLang="de-DE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dirty="0">
                <a:latin typeface="Calibri" panose="020F0502020204030204" pitchFamily="34" charset="0"/>
                <a:cs typeface="Calibri" panose="020F0502020204030204" pitchFamily="34" charset="0"/>
              </a:rPr>
              <a:t>Ausgabe </a:t>
            </a:r>
            <a:r>
              <a:rPr lang="de-DE" altLang="de-DE">
                <a:latin typeface="Calibri" panose="020F0502020204030204" pitchFamily="34" charset="0"/>
                <a:cs typeface="Calibri" panose="020F0502020204030204" pitchFamily="34" charset="0"/>
              </a:rPr>
              <a:t>einer Liste</a:t>
            </a:r>
            <a:endParaRPr lang="de-DE" alt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068" name="Text Box 4">
            <a:extLst>
              <a:ext uri="{FF2B5EF4-FFF2-40B4-BE49-F238E27FC236}">
                <a16:creationId xmlns:a16="http://schemas.microsoft.com/office/drawing/2014/main" id="{1533036C-939E-421C-A54E-B6F1474B1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8" y="1027113"/>
            <a:ext cx="8269287" cy="19082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Funktion zum Ausgeben der Liste: </a:t>
            </a:r>
          </a:p>
          <a:p>
            <a:pPr eaLnBrk="1" hangingPunct="1">
              <a:spcBef>
                <a:spcPct val="0"/>
              </a:spcBef>
              <a:buNone/>
            </a:pPr>
            <a:b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altLang="de-DE" sz="20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2000" b="1" dirty="0">
                <a:latin typeface="Courier New" panose="02070309020205020404" pitchFamily="49" charset="0"/>
              </a:rPr>
              <a:t> </a:t>
            </a:r>
            <a:r>
              <a:rPr lang="de-DE" altLang="de-DE" sz="2000" b="1" dirty="0" err="1">
                <a:latin typeface="Courier New" panose="02070309020205020404" pitchFamily="49" charset="0"/>
              </a:rPr>
              <a:t>ausgebenListe</a:t>
            </a:r>
            <a:r>
              <a:rPr lang="de-DE" altLang="de-DE" sz="2000" b="1" dirty="0">
                <a:latin typeface="Courier New" panose="02070309020205020404" pitchFamily="49" charset="0"/>
              </a:rPr>
              <a:t>(</a:t>
            </a:r>
            <a:r>
              <a:rPr lang="en-US" altLang="de-DE" sz="2000" b="1" dirty="0">
                <a:latin typeface="Courier New" panose="02070309020205020404" pitchFamily="49" charset="0"/>
              </a:rPr>
              <a:t>struct </a:t>
            </a:r>
            <a:r>
              <a:rPr lang="en-US" altLang="de-DE" sz="20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2000" b="1" dirty="0">
                <a:latin typeface="Courier New" panose="02070309020205020404" pitchFamily="49" charset="0"/>
              </a:rPr>
              <a:t> *liste)</a:t>
            </a:r>
          </a:p>
          <a:p>
            <a:pPr eaLnBrk="1" hangingPunct="1">
              <a:spcBef>
                <a:spcPct val="0"/>
              </a:spcBef>
              <a:buNone/>
            </a:pPr>
            <a:br>
              <a:rPr lang="de-DE" altLang="de-DE" sz="2000" b="1" dirty="0">
                <a:latin typeface="Courier New" panose="02070309020205020404" pitchFamily="49" charset="0"/>
              </a:rPr>
            </a:b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Der Funktion wird die Adresse übergeben, wo die Liste beginnt.</a:t>
            </a:r>
            <a:endParaRPr lang="de-DE" altLang="de-DE" sz="20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liennummernplatzhalter 3">
            <a:extLst>
              <a:ext uri="{FF2B5EF4-FFF2-40B4-BE49-F238E27FC236}">
                <a16:creationId xmlns:a16="http://schemas.microsoft.com/office/drawing/2014/main" id="{CA6CD35C-DA67-4054-8EC6-4291A2343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94543A-95E0-4077-B1EE-967DC88E289A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de-DE" altLang="de-DE" sz="14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D01D8E90-C5F2-4E1F-BA55-3F09D1C0A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9400" y="260350"/>
            <a:ext cx="8407400" cy="633413"/>
          </a:xfrm>
        </p:spPr>
        <p:txBody>
          <a:bodyPr/>
          <a:lstStyle/>
          <a:p>
            <a:pPr eaLnBrk="1" hangingPunct="1"/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Liste: Ausgabe einer Liste</a:t>
            </a:r>
          </a:p>
        </p:txBody>
      </p:sp>
      <p:sp>
        <p:nvSpPr>
          <p:cNvPr id="88068" name="Text Box 4">
            <a:extLst>
              <a:ext uri="{FF2B5EF4-FFF2-40B4-BE49-F238E27FC236}">
                <a16:creationId xmlns:a16="http://schemas.microsoft.com/office/drawing/2014/main" id="{1533036C-939E-421C-A54E-B6F1474B1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166" y="1027113"/>
            <a:ext cx="8820948" cy="230832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ausgebenListe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en-US" altLang="de-DE" sz="1800" b="1" dirty="0">
                <a:latin typeface="Courier New" panose="02070309020205020404" pitchFamily="49" charset="0"/>
              </a:rPr>
              <a:t>struct </a:t>
            </a:r>
            <a:r>
              <a:rPr lang="en-US" altLang="de-DE" sz="18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800" b="1" dirty="0">
                <a:latin typeface="Courier New" panose="02070309020205020404" pitchFamily="49" charset="0"/>
              </a:rPr>
              <a:t> *liste){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liste = liste-&gt;</a:t>
            </a: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;//</a:t>
            </a: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Ueberspringen</a:t>
            </a: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 des Anfangs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800" b="1" dirty="0">
                <a:latin typeface="Courier New" panose="02070309020205020404" pitchFamily="49" charset="0"/>
              </a:rPr>
              <a:t>(liste != NULL)   {//solange man nicht am Ende ist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printf</a:t>
            </a:r>
            <a:r>
              <a:rPr lang="de-DE" altLang="de-DE" sz="1800" b="1" dirty="0">
                <a:latin typeface="Courier New" panose="02070309020205020404" pitchFamily="49" charset="0"/>
              </a:rPr>
              <a:t>("Listenelement:%i\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n",liste</a:t>
            </a:r>
            <a:r>
              <a:rPr lang="de-DE" altLang="de-DE" sz="1800" b="1" dirty="0">
                <a:latin typeface="Courier New" panose="02070309020205020404" pitchFamily="49" charset="0"/>
              </a:rPr>
              <a:t>-&gt;wert);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 //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huepfen</a:t>
            </a:r>
            <a:r>
              <a:rPr lang="de-DE" altLang="de-DE" sz="1800" b="1" dirty="0">
                <a:latin typeface="Courier New" panose="02070309020205020404" pitchFamily="49" charset="0"/>
              </a:rPr>
              <a:t> von Element zu Element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 liste = liste-&gt;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88069" name="Group 5">
            <a:extLst>
              <a:ext uri="{FF2B5EF4-FFF2-40B4-BE49-F238E27FC236}">
                <a16:creationId xmlns:a16="http://schemas.microsoft.com/office/drawing/2014/main" id="{50EB067D-F4B2-4AC3-8ECD-37E0445EED6C}"/>
              </a:ext>
            </a:extLst>
          </p:cNvPr>
          <p:cNvGrpSpPr>
            <a:grpSpLocks/>
          </p:cNvGrpSpPr>
          <p:nvPr/>
        </p:nvGrpSpPr>
        <p:grpSpPr bwMode="auto">
          <a:xfrm>
            <a:off x="3052763" y="4556125"/>
            <a:ext cx="1506537" cy="382588"/>
            <a:chOff x="821" y="1997"/>
            <a:chExt cx="949" cy="241"/>
          </a:xfrm>
        </p:grpSpPr>
        <p:grpSp>
          <p:nvGrpSpPr>
            <p:cNvPr id="88084" name="Group 6">
              <a:extLst>
                <a:ext uri="{FF2B5EF4-FFF2-40B4-BE49-F238E27FC236}">
                  <a16:creationId xmlns:a16="http://schemas.microsoft.com/office/drawing/2014/main" id="{39401111-1248-4732-A6C9-A6AD928040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88086" name="Rectangle 7">
                <a:extLst>
                  <a:ext uri="{FF2B5EF4-FFF2-40B4-BE49-F238E27FC236}">
                    <a16:creationId xmlns:a16="http://schemas.microsoft.com/office/drawing/2014/main" id="{DD68E59C-F4FB-4B2B-AA6E-5F5E4589F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88087" name="Rectangle 8">
                <a:extLst>
                  <a:ext uri="{FF2B5EF4-FFF2-40B4-BE49-F238E27FC236}">
                    <a16:creationId xmlns:a16="http://schemas.microsoft.com/office/drawing/2014/main" id="{988166BC-BBC5-4F47-9386-6F356D35E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1</a:t>
                </a:r>
              </a:p>
            </p:txBody>
          </p:sp>
        </p:grpSp>
        <p:sp>
          <p:nvSpPr>
            <p:cNvPr id="88085" name="Line 9">
              <a:extLst>
                <a:ext uri="{FF2B5EF4-FFF2-40B4-BE49-F238E27FC236}">
                  <a16:creationId xmlns:a16="http://schemas.microsoft.com/office/drawing/2014/main" id="{3E69426F-DD05-43EB-B862-CA2EA7DB8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88070" name="Group 10">
            <a:extLst>
              <a:ext uri="{FF2B5EF4-FFF2-40B4-BE49-F238E27FC236}">
                <a16:creationId xmlns:a16="http://schemas.microsoft.com/office/drawing/2014/main" id="{3B4B9F55-6BD2-45AB-8F4A-8C371761E1BC}"/>
              </a:ext>
            </a:extLst>
          </p:cNvPr>
          <p:cNvGrpSpPr>
            <a:grpSpLocks/>
          </p:cNvGrpSpPr>
          <p:nvPr/>
        </p:nvGrpSpPr>
        <p:grpSpPr bwMode="auto">
          <a:xfrm>
            <a:off x="4559300" y="4556125"/>
            <a:ext cx="1506538" cy="382588"/>
            <a:chOff x="821" y="1997"/>
            <a:chExt cx="949" cy="241"/>
          </a:xfrm>
        </p:grpSpPr>
        <p:grpSp>
          <p:nvGrpSpPr>
            <p:cNvPr id="88080" name="Group 11">
              <a:extLst>
                <a:ext uri="{FF2B5EF4-FFF2-40B4-BE49-F238E27FC236}">
                  <a16:creationId xmlns:a16="http://schemas.microsoft.com/office/drawing/2014/main" id="{DE805EC0-EAB4-47F7-8770-2CB70AE962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88082" name="Rectangle 12">
                <a:extLst>
                  <a:ext uri="{FF2B5EF4-FFF2-40B4-BE49-F238E27FC236}">
                    <a16:creationId xmlns:a16="http://schemas.microsoft.com/office/drawing/2014/main" id="{B6A01E4F-8230-4705-903B-128E54CB1D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88083" name="Rectangle 13">
                <a:extLst>
                  <a:ext uri="{FF2B5EF4-FFF2-40B4-BE49-F238E27FC236}">
                    <a16:creationId xmlns:a16="http://schemas.microsoft.com/office/drawing/2014/main" id="{50083317-FC46-4B25-879F-B6A34DDE5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sp>
          <p:nvSpPr>
            <p:cNvPr id="88081" name="Line 14">
              <a:extLst>
                <a:ext uri="{FF2B5EF4-FFF2-40B4-BE49-F238E27FC236}">
                  <a16:creationId xmlns:a16="http://schemas.microsoft.com/office/drawing/2014/main" id="{2033343A-6110-4E97-802B-2D42170C0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88071" name="Text Box 15">
            <a:extLst>
              <a:ext uri="{FF2B5EF4-FFF2-40B4-BE49-F238E27FC236}">
                <a16:creationId xmlns:a16="http://schemas.microsoft.com/office/drawing/2014/main" id="{CF937CE3-E193-469B-B677-F401BFC97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463" y="4594225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NULL</a:t>
            </a:r>
          </a:p>
        </p:txBody>
      </p:sp>
      <p:sp>
        <p:nvSpPr>
          <p:cNvPr id="88072" name="Text Box 16">
            <a:extLst>
              <a:ext uri="{FF2B5EF4-FFF2-40B4-BE49-F238E27FC236}">
                <a16:creationId xmlns:a16="http://schemas.microsoft.com/office/drawing/2014/main" id="{B55BA5BA-3DA1-4AE6-B56D-3FA83E665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5324475"/>
            <a:ext cx="873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solidFill>
                  <a:srgbClr val="FF0066"/>
                </a:solidFill>
                <a:latin typeface="Courier New" panose="02070309020205020404" pitchFamily="49" charset="0"/>
              </a:rPr>
              <a:t>liste</a:t>
            </a:r>
            <a:endParaRPr lang="de-DE" altLang="de-DE" sz="1800" b="1" dirty="0">
              <a:solidFill>
                <a:srgbClr val="FF0066"/>
              </a:solidFill>
              <a:latin typeface="Courier New" panose="02070309020205020404" pitchFamily="49" charset="0"/>
            </a:endParaRPr>
          </a:p>
        </p:txBody>
      </p:sp>
      <p:sp>
        <p:nvSpPr>
          <p:cNvPr id="88073" name="Line 17">
            <a:extLst>
              <a:ext uri="{FF2B5EF4-FFF2-40B4-BE49-F238E27FC236}">
                <a16:creationId xmlns:a16="http://schemas.microsoft.com/office/drawing/2014/main" id="{14ECDC43-FCA7-4BF7-92A1-1566B48D4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8938" y="5499100"/>
            <a:ext cx="5159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88074" name="Line 18">
            <a:extLst>
              <a:ext uri="{FF2B5EF4-FFF2-40B4-BE49-F238E27FC236}">
                <a16:creationId xmlns:a16="http://schemas.microsoft.com/office/drawing/2014/main" id="{7A12E0ED-1BB0-4FDA-BDA6-001B5AD121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2175" y="4956175"/>
            <a:ext cx="0" cy="530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88075" name="Group 20">
            <a:extLst>
              <a:ext uri="{FF2B5EF4-FFF2-40B4-BE49-F238E27FC236}">
                <a16:creationId xmlns:a16="http://schemas.microsoft.com/office/drawing/2014/main" id="{97793533-6D23-4CCC-92FB-4D29BD44106D}"/>
              </a:ext>
            </a:extLst>
          </p:cNvPr>
          <p:cNvGrpSpPr>
            <a:grpSpLocks/>
          </p:cNvGrpSpPr>
          <p:nvPr/>
        </p:nvGrpSpPr>
        <p:grpSpPr bwMode="auto">
          <a:xfrm>
            <a:off x="1546225" y="4581525"/>
            <a:ext cx="1506538" cy="382588"/>
            <a:chOff x="821" y="1997"/>
            <a:chExt cx="949" cy="241"/>
          </a:xfrm>
        </p:grpSpPr>
        <p:grpSp>
          <p:nvGrpSpPr>
            <p:cNvPr id="88076" name="Group 21">
              <a:extLst>
                <a:ext uri="{FF2B5EF4-FFF2-40B4-BE49-F238E27FC236}">
                  <a16:creationId xmlns:a16="http://schemas.microsoft.com/office/drawing/2014/main" id="{2030FF38-50E1-49AA-970B-A64FF4D269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88078" name="Rectangle 22">
                <a:extLst>
                  <a:ext uri="{FF2B5EF4-FFF2-40B4-BE49-F238E27FC236}">
                    <a16:creationId xmlns:a16="http://schemas.microsoft.com/office/drawing/2014/main" id="{C8117DC7-F17C-4893-AB30-0894BF176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88079" name="Rectangle 23">
                <a:extLst>
                  <a:ext uri="{FF2B5EF4-FFF2-40B4-BE49-F238E27FC236}">
                    <a16:creationId xmlns:a16="http://schemas.microsoft.com/office/drawing/2014/main" id="{D198C36E-D7F3-4C44-A237-5BA489B13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88077" name="Line 24">
              <a:extLst>
                <a:ext uri="{FF2B5EF4-FFF2-40B4-BE49-F238E27FC236}">
                  <a16:creationId xmlns:a16="http://schemas.microsoft.com/office/drawing/2014/main" id="{2B698736-87A3-405D-AF47-BF2176174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40D3FA60-48B4-4526-BE9F-947CC4564051}"/>
              </a:ext>
            </a:extLst>
          </p:cNvPr>
          <p:cNvSpPr txBox="1"/>
          <p:nvPr/>
        </p:nvSpPr>
        <p:spPr>
          <a:xfrm>
            <a:off x="488887" y="385874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liennummernplatzhalter 3">
            <a:extLst>
              <a:ext uri="{FF2B5EF4-FFF2-40B4-BE49-F238E27FC236}">
                <a16:creationId xmlns:a16="http://schemas.microsoft.com/office/drawing/2014/main" id="{F9B91A14-05B0-4C44-8FB6-9A14B8465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53A733-18CA-4167-B188-27CA3D5A4D1D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de-DE" altLang="de-DE" sz="140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DE744838-A05F-42C8-AA51-E968FE8A98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600" y="260350"/>
            <a:ext cx="8953500" cy="633413"/>
          </a:xfrm>
        </p:spPr>
        <p:txBody>
          <a:bodyPr/>
          <a:lstStyle/>
          <a:p>
            <a:pPr eaLnBrk="1" hangingPunct="1"/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Ausgabe - in </a:t>
            </a:r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der Liste 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voranschreiten</a:t>
            </a:r>
          </a:p>
        </p:txBody>
      </p:sp>
      <p:sp>
        <p:nvSpPr>
          <p:cNvPr id="90116" name="Text Box 4">
            <a:extLst>
              <a:ext uri="{FF2B5EF4-FFF2-40B4-BE49-F238E27FC236}">
                <a16:creationId xmlns:a16="http://schemas.microsoft.com/office/drawing/2014/main" id="{3A506C6C-A311-4777-AE52-339A53E8F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027113"/>
            <a:ext cx="8340725" cy="230832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ausgebenListe</a:t>
            </a:r>
            <a:r>
              <a:rPr lang="de-DE" altLang="de-DE" sz="1800" b="1" dirty="0">
                <a:latin typeface="Courier New" panose="02070309020205020404" pitchFamily="49" charset="0"/>
              </a:rPr>
              <a:t>(</a:t>
            </a:r>
            <a:r>
              <a:rPr lang="en-US" altLang="de-DE" sz="1800" b="1" dirty="0">
                <a:latin typeface="Courier New" panose="02070309020205020404" pitchFamily="49" charset="0"/>
              </a:rPr>
              <a:t>struct </a:t>
            </a:r>
            <a:r>
              <a:rPr lang="en-US" altLang="de-DE" sz="18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800" b="1" dirty="0">
                <a:latin typeface="Courier New" panose="02070309020205020404" pitchFamily="49" charset="0"/>
              </a:rPr>
              <a:t> *liste){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liste = liste-&gt;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800" b="1" dirty="0">
                <a:latin typeface="Courier New" panose="02070309020205020404" pitchFamily="49" charset="0"/>
              </a:rPr>
              <a:t>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800" b="1" dirty="0">
                <a:latin typeface="Courier New" panose="02070309020205020404" pitchFamily="49" charset="0"/>
              </a:rPr>
              <a:t>(liste != NULL)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 //Datenteil des Listenelementes ausgeben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printf</a:t>
            </a:r>
            <a:r>
              <a:rPr lang="de-DE" altLang="de-DE" sz="1800" b="1" dirty="0">
                <a:latin typeface="Courier New" panose="02070309020205020404" pitchFamily="49" charset="0"/>
              </a:rPr>
              <a:t>("Element: %i\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n",liste</a:t>
            </a:r>
            <a:r>
              <a:rPr lang="de-DE" altLang="de-DE" sz="1800" b="1" dirty="0">
                <a:latin typeface="Courier New" panose="02070309020205020404" pitchFamily="49" charset="0"/>
              </a:rPr>
              <a:t>-&gt;wert);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 </a:t>
            </a: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liste = liste-&gt;</a:t>
            </a:r>
            <a:r>
              <a:rPr lang="de-DE" altLang="de-DE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90117" name="Group 5">
            <a:extLst>
              <a:ext uri="{FF2B5EF4-FFF2-40B4-BE49-F238E27FC236}">
                <a16:creationId xmlns:a16="http://schemas.microsoft.com/office/drawing/2014/main" id="{1BBE9F2B-02A7-4031-B829-E8C4642ED23C}"/>
              </a:ext>
            </a:extLst>
          </p:cNvPr>
          <p:cNvGrpSpPr>
            <a:grpSpLocks/>
          </p:cNvGrpSpPr>
          <p:nvPr/>
        </p:nvGrpSpPr>
        <p:grpSpPr bwMode="auto">
          <a:xfrm>
            <a:off x="3052763" y="4556125"/>
            <a:ext cx="1506537" cy="382588"/>
            <a:chOff x="821" y="1997"/>
            <a:chExt cx="949" cy="241"/>
          </a:xfrm>
        </p:grpSpPr>
        <p:grpSp>
          <p:nvGrpSpPr>
            <p:cNvPr id="90136" name="Group 6">
              <a:extLst>
                <a:ext uri="{FF2B5EF4-FFF2-40B4-BE49-F238E27FC236}">
                  <a16:creationId xmlns:a16="http://schemas.microsoft.com/office/drawing/2014/main" id="{E4B5524C-ACEC-4A4E-BD23-91FB7F9F73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0138" name="Rectangle 7">
                <a:extLst>
                  <a:ext uri="{FF2B5EF4-FFF2-40B4-BE49-F238E27FC236}">
                    <a16:creationId xmlns:a16="http://schemas.microsoft.com/office/drawing/2014/main" id="{F017D76E-8E4B-4063-A675-552E887DC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0139" name="Rectangle 8">
                <a:extLst>
                  <a:ext uri="{FF2B5EF4-FFF2-40B4-BE49-F238E27FC236}">
                    <a16:creationId xmlns:a16="http://schemas.microsoft.com/office/drawing/2014/main" id="{22DA60C4-8342-40C6-8848-AC5D34BEA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1</a:t>
                </a:r>
              </a:p>
            </p:txBody>
          </p:sp>
        </p:grpSp>
        <p:sp>
          <p:nvSpPr>
            <p:cNvPr id="90137" name="Line 9">
              <a:extLst>
                <a:ext uri="{FF2B5EF4-FFF2-40B4-BE49-F238E27FC236}">
                  <a16:creationId xmlns:a16="http://schemas.microsoft.com/office/drawing/2014/main" id="{3F32681E-E97D-43B6-86DF-7A46EA83E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0118" name="Group 10">
            <a:extLst>
              <a:ext uri="{FF2B5EF4-FFF2-40B4-BE49-F238E27FC236}">
                <a16:creationId xmlns:a16="http://schemas.microsoft.com/office/drawing/2014/main" id="{412AD6D3-DB27-4616-9D73-B3D659FD9AAB}"/>
              </a:ext>
            </a:extLst>
          </p:cNvPr>
          <p:cNvGrpSpPr>
            <a:grpSpLocks/>
          </p:cNvGrpSpPr>
          <p:nvPr/>
        </p:nvGrpSpPr>
        <p:grpSpPr bwMode="auto">
          <a:xfrm>
            <a:off x="4559300" y="4556125"/>
            <a:ext cx="1506538" cy="382588"/>
            <a:chOff x="821" y="1997"/>
            <a:chExt cx="949" cy="241"/>
          </a:xfrm>
        </p:grpSpPr>
        <p:grpSp>
          <p:nvGrpSpPr>
            <p:cNvPr id="90132" name="Group 11">
              <a:extLst>
                <a:ext uri="{FF2B5EF4-FFF2-40B4-BE49-F238E27FC236}">
                  <a16:creationId xmlns:a16="http://schemas.microsoft.com/office/drawing/2014/main" id="{9F76F7DB-9EE3-4279-808F-1ECC799F85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0134" name="Rectangle 12">
                <a:extLst>
                  <a:ext uri="{FF2B5EF4-FFF2-40B4-BE49-F238E27FC236}">
                    <a16:creationId xmlns:a16="http://schemas.microsoft.com/office/drawing/2014/main" id="{467B9022-EBC3-48C8-B481-A53261197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0135" name="Rectangle 13">
                <a:extLst>
                  <a:ext uri="{FF2B5EF4-FFF2-40B4-BE49-F238E27FC236}">
                    <a16:creationId xmlns:a16="http://schemas.microsoft.com/office/drawing/2014/main" id="{6052F8CC-917F-4CBC-A685-50CC3881F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sp>
          <p:nvSpPr>
            <p:cNvPr id="90133" name="Line 14">
              <a:extLst>
                <a:ext uri="{FF2B5EF4-FFF2-40B4-BE49-F238E27FC236}">
                  <a16:creationId xmlns:a16="http://schemas.microsoft.com/office/drawing/2014/main" id="{583B9918-22B0-43A3-8555-299F40391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0119" name="Text Box 15">
            <a:extLst>
              <a:ext uri="{FF2B5EF4-FFF2-40B4-BE49-F238E27FC236}">
                <a16:creationId xmlns:a16="http://schemas.microsoft.com/office/drawing/2014/main" id="{B72B3F5F-81D9-459B-AC96-7C377CF03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463" y="4594225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NULL</a:t>
            </a:r>
          </a:p>
        </p:txBody>
      </p:sp>
      <p:sp>
        <p:nvSpPr>
          <p:cNvPr id="90120" name="Text Box 18">
            <a:extLst>
              <a:ext uri="{FF2B5EF4-FFF2-40B4-BE49-F238E27FC236}">
                <a16:creationId xmlns:a16="http://schemas.microsoft.com/office/drawing/2014/main" id="{3A08109B-E7D4-473A-A744-48EC04692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5351463"/>
            <a:ext cx="873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liste</a:t>
            </a:r>
            <a:endParaRPr lang="de-DE" altLang="de-DE" sz="1800" b="1" dirty="0">
              <a:latin typeface="Courier New" panose="02070309020205020404" pitchFamily="49" charset="0"/>
            </a:endParaRPr>
          </a:p>
        </p:txBody>
      </p:sp>
      <p:sp>
        <p:nvSpPr>
          <p:cNvPr id="90121" name="Line 19">
            <a:extLst>
              <a:ext uri="{FF2B5EF4-FFF2-40B4-BE49-F238E27FC236}">
                <a16:creationId xmlns:a16="http://schemas.microsoft.com/office/drawing/2014/main" id="{A99EA425-3414-47E2-9DF2-5CF629AB2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8938" y="5499100"/>
            <a:ext cx="5159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90122" name="Line 20">
            <a:extLst>
              <a:ext uri="{FF2B5EF4-FFF2-40B4-BE49-F238E27FC236}">
                <a16:creationId xmlns:a16="http://schemas.microsoft.com/office/drawing/2014/main" id="{A08ECE2C-A897-427B-91CD-98429529C7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2175" y="4956175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90123" name="Line 21">
            <a:extLst>
              <a:ext uri="{FF2B5EF4-FFF2-40B4-BE49-F238E27FC236}">
                <a16:creationId xmlns:a16="http://schemas.microsoft.com/office/drawing/2014/main" id="{406A362D-6C3E-421C-9F20-213AF2ED3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6400" y="5499100"/>
            <a:ext cx="2038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90124" name="Line 22">
            <a:extLst>
              <a:ext uri="{FF2B5EF4-FFF2-40B4-BE49-F238E27FC236}">
                <a16:creationId xmlns:a16="http://schemas.microsoft.com/office/drawing/2014/main" id="{A1F1DFD2-4422-4A0A-91AE-9248B75DB9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8875" y="4956175"/>
            <a:ext cx="0" cy="530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90125" name="Line 23">
            <a:extLst>
              <a:ext uri="{FF2B5EF4-FFF2-40B4-BE49-F238E27FC236}">
                <a16:creationId xmlns:a16="http://schemas.microsoft.com/office/drawing/2014/main" id="{3F943DC1-6815-4BFC-997A-963D1A3B45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4175" y="5499100"/>
            <a:ext cx="35083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90126" name="Line 24">
            <a:extLst>
              <a:ext uri="{FF2B5EF4-FFF2-40B4-BE49-F238E27FC236}">
                <a16:creationId xmlns:a16="http://schemas.microsoft.com/office/drawing/2014/main" id="{CD4BC733-074F-4535-9428-BFAF036C0E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6675" y="4956175"/>
            <a:ext cx="0" cy="530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0127" name="Group 26">
            <a:extLst>
              <a:ext uri="{FF2B5EF4-FFF2-40B4-BE49-F238E27FC236}">
                <a16:creationId xmlns:a16="http://schemas.microsoft.com/office/drawing/2014/main" id="{E9CE5A37-C1C8-45C4-8F2E-FA8951236C14}"/>
              </a:ext>
            </a:extLst>
          </p:cNvPr>
          <p:cNvGrpSpPr>
            <a:grpSpLocks/>
          </p:cNvGrpSpPr>
          <p:nvPr/>
        </p:nvGrpSpPr>
        <p:grpSpPr bwMode="auto">
          <a:xfrm>
            <a:off x="1546225" y="4581525"/>
            <a:ext cx="1506538" cy="382588"/>
            <a:chOff x="821" y="1997"/>
            <a:chExt cx="949" cy="241"/>
          </a:xfrm>
        </p:grpSpPr>
        <p:grpSp>
          <p:nvGrpSpPr>
            <p:cNvPr id="90128" name="Group 27">
              <a:extLst>
                <a:ext uri="{FF2B5EF4-FFF2-40B4-BE49-F238E27FC236}">
                  <a16:creationId xmlns:a16="http://schemas.microsoft.com/office/drawing/2014/main" id="{2E4B8EF8-8774-4C86-B7AF-9B9012569E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0130" name="Rectangle 28">
                <a:extLst>
                  <a:ext uri="{FF2B5EF4-FFF2-40B4-BE49-F238E27FC236}">
                    <a16:creationId xmlns:a16="http://schemas.microsoft.com/office/drawing/2014/main" id="{EFA9C9E0-9223-49BF-B75C-C7F93D07F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0131" name="Rectangle 29">
                <a:extLst>
                  <a:ext uri="{FF2B5EF4-FFF2-40B4-BE49-F238E27FC236}">
                    <a16:creationId xmlns:a16="http://schemas.microsoft.com/office/drawing/2014/main" id="{E8D4B3AA-12A8-4CD5-BE2A-FA00018FE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90129" name="Line 30">
              <a:extLst>
                <a:ext uri="{FF2B5EF4-FFF2-40B4-BE49-F238E27FC236}">
                  <a16:creationId xmlns:a16="http://schemas.microsoft.com/office/drawing/2014/main" id="{015337A8-9082-40D3-BC14-2EAC9FA97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8" name="Textfeld 27">
            <a:extLst>
              <a:ext uri="{FF2B5EF4-FFF2-40B4-BE49-F238E27FC236}">
                <a16:creationId xmlns:a16="http://schemas.microsoft.com/office/drawing/2014/main" id="{BAADFFCD-91ED-4523-9D31-7A0E3D581151}"/>
              </a:ext>
            </a:extLst>
          </p:cNvPr>
          <p:cNvSpPr txBox="1"/>
          <p:nvPr/>
        </p:nvSpPr>
        <p:spPr>
          <a:xfrm>
            <a:off x="488887" y="385874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liennummernplatzhalter 3">
            <a:extLst>
              <a:ext uri="{FF2B5EF4-FFF2-40B4-BE49-F238E27FC236}">
                <a16:creationId xmlns:a16="http://schemas.microsoft.com/office/drawing/2014/main" id="{DBB42049-F64D-4542-AB97-146073AF7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FEA571-990F-4467-A708-D9CF7433AE32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de-DE" altLang="de-DE" sz="140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E599FB60-3282-44F2-A427-02BC126C4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200" y="260350"/>
            <a:ext cx="8483600" cy="633413"/>
          </a:xfrm>
        </p:spPr>
        <p:txBody>
          <a:bodyPr/>
          <a:lstStyle/>
          <a:p>
            <a:pPr eaLnBrk="1" hangingPunct="1"/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Liste: Einfügen eines Elements in eine Liste </a:t>
            </a:r>
            <a:r>
              <a:rPr lang="de-DE" altLang="de-DE" sz="3200" i="1" dirty="0">
                <a:latin typeface="Calibri" panose="020F0502020204030204" pitchFamily="34" charset="0"/>
                <a:cs typeface="Calibri" panose="020F0502020204030204" pitchFamily="34" charset="0"/>
              </a:rPr>
              <a:t>nach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einem anderen Element </a:t>
            </a: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8384F309-FE9E-490C-BE63-E70644DC4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484313"/>
            <a:ext cx="8832850" cy="283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92166" name="Text Box 5">
            <a:extLst>
              <a:ext uri="{FF2B5EF4-FFF2-40B4-BE49-F238E27FC236}">
                <a16:creationId xmlns:a16="http://schemas.microsoft.com/office/drawing/2014/main" id="{F3D81DA7-7C74-4285-AE23-058BBCF8B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" y="1015207"/>
            <a:ext cx="870394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Ein neues Listenelement wird </a:t>
            </a:r>
            <a:r>
              <a:rPr lang="de-DE" altLang="de-DE" sz="20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nach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dem Listenelement mit der Position </a:t>
            </a:r>
            <a:r>
              <a:rPr lang="de-DE" altLang="de-DE" sz="2000" b="1" dirty="0" err="1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position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in die Liste eingefügt. </a:t>
            </a:r>
            <a:r>
              <a:rPr lang="de-DE" altLang="de-DE" sz="2000" b="1" dirty="0" err="1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neuerWert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ist der neue Datenteil des neuen Listenelements. Wie immer wird die Anfangsadresse der Liste übergeben, damit die Funktion weiß, </a:t>
            </a:r>
            <a:r>
              <a:rPr lang="de-DE" altLang="de-DE" sz="20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welcher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Liste das neue Listenelement eingefügt werden soll: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de-DE" altLang="de-DE" sz="12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einfuegenDanachInListe</a:t>
            </a:r>
            <a:r>
              <a:rPr lang="de-DE" altLang="de-DE" sz="1200" b="1" dirty="0">
                <a:latin typeface="Courier New" panose="02070309020205020404" pitchFamily="49" charset="0"/>
              </a:rPr>
              <a:t>(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*liste,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position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 </a:t>
            </a:r>
            <a:r>
              <a:rPr lang="de-DE" altLang="de-DE" sz="12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neuerWert</a:t>
            </a:r>
            <a:r>
              <a:rPr lang="de-DE" altLang="de-DE" sz="1200" b="1" dirty="0">
                <a:solidFill>
                  <a:srgbClr val="FF0066"/>
                </a:solidFill>
                <a:latin typeface="Courier New" panose="02070309020205020404" pitchFamily="49" charset="0"/>
              </a:rPr>
              <a:t>)</a:t>
            </a:r>
            <a:endParaRPr lang="de-DE" altLang="de-DE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de-DE" altLang="de-DE" sz="18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de-DE" altLang="de-DE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12964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liennummernplatzhalter 3">
            <a:extLst>
              <a:ext uri="{FF2B5EF4-FFF2-40B4-BE49-F238E27FC236}">
                <a16:creationId xmlns:a16="http://schemas.microsoft.com/office/drawing/2014/main" id="{A9508074-33E2-441B-9025-D3A135773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EA8EC1-5DD8-42F4-8BFC-9756040D201A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de-DE" altLang="de-DE" sz="14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7CA60DE5-55D4-4CC1-B893-11A21491E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Liste: Einfügen </a:t>
            </a:r>
            <a:r>
              <a:rPr lang="de-DE" altLang="de-DE" sz="2800" dirty="0">
                <a:latin typeface="Calibri" panose="020F0502020204030204" pitchFamily="34" charset="0"/>
                <a:cs typeface="Calibri" panose="020F0502020204030204" pitchFamily="34" charset="0"/>
              </a:rPr>
              <a:t>(danach)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- Speicher anfordern</a:t>
            </a:r>
          </a:p>
        </p:txBody>
      </p:sp>
      <p:sp>
        <p:nvSpPr>
          <p:cNvPr id="94212" name="Text Box 4">
            <a:extLst>
              <a:ext uri="{FF2B5EF4-FFF2-40B4-BE49-F238E27FC236}">
                <a16:creationId xmlns:a16="http://schemas.microsoft.com/office/drawing/2014/main" id="{8AF06102-B7DC-4B66-B74B-7BA47F40D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2" y="961826"/>
            <a:ext cx="8994775" cy="32932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einfuegenDanachInListe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*liste,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200" b="1" dirty="0">
                <a:latin typeface="Courier New" panose="02070309020205020404" pitchFamily="49" charset="0"/>
              </a:rPr>
              <a:t>){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i=0;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400" b="1" dirty="0">
                <a:latin typeface="Courier New" panose="02070309020205020404" pitchFamily="49" charset="0"/>
              </a:rPr>
              <a:t> 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400" b="1" dirty="0">
                <a:latin typeface="Courier New" panose="02070309020205020404" pitchFamily="49" charset="0"/>
              </a:rPr>
              <a:t>(i ==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= 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-&gt;wert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liste=liste-&gt;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94213" name="Group 5">
            <a:extLst>
              <a:ext uri="{FF2B5EF4-FFF2-40B4-BE49-F238E27FC236}">
                <a16:creationId xmlns:a16="http://schemas.microsoft.com/office/drawing/2014/main" id="{AAD1CC86-FF42-4DC1-A58D-420848C78FF8}"/>
              </a:ext>
            </a:extLst>
          </p:cNvPr>
          <p:cNvGrpSpPr>
            <a:grpSpLocks/>
          </p:cNvGrpSpPr>
          <p:nvPr/>
        </p:nvGrpSpPr>
        <p:grpSpPr bwMode="auto">
          <a:xfrm>
            <a:off x="3306763" y="4719638"/>
            <a:ext cx="1163637" cy="382587"/>
            <a:chOff x="912" y="2052"/>
            <a:chExt cx="733" cy="241"/>
          </a:xfrm>
        </p:grpSpPr>
        <p:sp>
          <p:nvSpPr>
            <p:cNvPr id="94235" name="Rectangle 6">
              <a:extLst>
                <a:ext uri="{FF2B5EF4-FFF2-40B4-BE49-F238E27FC236}">
                  <a16:creationId xmlns:a16="http://schemas.microsoft.com/office/drawing/2014/main" id="{AB82E2A8-DD8C-4E40-8C8C-0278C9E14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94236" name="Rectangle 7">
              <a:extLst>
                <a:ext uri="{FF2B5EF4-FFF2-40B4-BE49-F238E27FC236}">
                  <a16:creationId xmlns:a16="http://schemas.microsoft.com/office/drawing/2014/main" id="{13DD5C64-D3E4-4B66-BDD6-21A95CE99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chemeClr val="accent2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94214" name="Line 8">
            <a:extLst>
              <a:ext uri="{FF2B5EF4-FFF2-40B4-BE49-F238E27FC236}">
                <a16:creationId xmlns:a16="http://schemas.microsoft.com/office/drawing/2014/main" id="{2D618CE7-A131-4C2F-BC67-16ABEFD6B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2763" y="4914900"/>
            <a:ext cx="4905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4215" name="Group 9">
            <a:extLst>
              <a:ext uri="{FF2B5EF4-FFF2-40B4-BE49-F238E27FC236}">
                <a16:creationId xmlns:a16="http://schemas.microsoft.com/office/drawing/2014/main" id="{5819A600-5BEA-42A8-A8C2-EA421834FACF}"/>
              </a:ext>
            </a:extLst>
          </p:cNvPr>
          <p:cNvGrpSpPr>
            <a:grpSpLocks/>
          </p:cNvGrpSpPr>
          <p:nvPr/>
        </p:nvGrpSpPr>
        <p:grpSpPr bwMode="auto">
          <a:xfrm>
            <a:off x="4813300" y="4719638"/>
            <a:ext cx="1506538" cy="382587"/>
            <a:chOff x="821" y="1997"/>
            <a:chExt cx="949" cy="241"/>
          </a:xfrm>
        </p:grpSpPr>
        <p:grpSp>
          <p:nvGrpSpPr>
            <p:cNvPr id="94231" name="Group 10">
              <a:extLst>
                <a:ext uri="{FF2B5EF4-FFF2-40B4-BE49-F238E27FC236}">
                  <a16:creationId xmlns:a16="http://schemas.microsoft.com/office/drawing/2014/main" id="{DBC65830-D381-4533-B133-CBCD1EC44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4233" name="Rectangle 11">
                <a:extLst>
                  <a:ext uri="{FF2B5EF4-FFF2-40B4-BE49-F238E27FC236}">
                    <a16:creationId xmlns:a16="http://schemas.microsoft.com/office/drawing/2014/main" id="{EDAFC1AE-5057-4D3C-8E90-53B918135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4234" name="Rectangle 12">
                <a:extLst>
                  <a:ext uri="{FF2B5EF4-FFF2-40B4-BE49-F238E27FC236}">
                    <a16:creationId xmlns:a16="http://schemas.microsoft.com/office/drawing/2014/main" id="{1D59BD9D-E791-4C26-B8F5-CDE259237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sp>
          <p:nvSpPr>
            <p:cNvPr id="94232" name="Line 13">
              <a:extLst>
                <a:ext uri="{FF2B5EF4-FFF2-40B4-BE49-F238E27FC236}">
                  <a16:creationId xmlns:a16="http://schemas.microsoft.com/office/drawing/2014/main" id="{5A9482B9-6DA9-4218-9753-FDC70486D8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4216" name="Text Box 14">
            <a:extLst>
              <a:ext uri="{FF2B5EF4-FFF2-40B4-BE49-F238E27FC236}">
                <a16:creationId xmlns:a16="http://schemas.microsoft.com/office/drawing/2014/main" id="{B6BF351A-A5A1-4D2F-9653-B6FEF2D62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463" y="4757738"/>
            <a:ext cx="73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NULL</a:t>
            </a:r>
          </a:p>
        </p:txBody>
      </p:sp>
      <p:grpSp>
        <p:nvGrpSpPr>
          <p:cNvPr id="94217" name="Group 17">
            <a:extLst>
              <a:ext uri="{FF2B5EF4-FFF2-40B4-BE49-F238E27FC236}">
                <a16:creationId xmlns:a16="http://schemas.microsoft.com/office/drawing/2014/main" id="{A7F3979E-5233-42AA-87CA-EDBF82787EE3}"/>
              </a:ext>
            </a:extLst>
          </p:cNvPr>
          <p:cNvGrpSpPr>
            <a:grpSpLocks/>
          </p:cNvGrpSpPr>
          <p:nvPr/>
        </p:nvGrpSpPr>
        <p:grpSpPr bwMode="auto">
          <a:xfrm>
            <a:off x="5647076" y="5358210"/>
            <a:ext cx="1506537" cy="382588"/>
            <a:chOff x="821" y="1997"/>
            <a:chExt cx="949" cy="241"/>
          </a:xfrm>
        </p:grpSpPr>
        <p:grpSp>
          <p:nvGrpSpPr>
            <p:cNvPr id="94227" name="Group 18">
              <a:extLst>
                <a:ext uri="{FF2B5EF4-FFF2-40B4-BE49-F238E27FC236}">
                  <a16:creationId xmlns:a16="http://schemas.microsoft.com/office/drawing/2014/main" id="{63BE5671-0642-4958-A457-639B422FC0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4229" name="Rectangle 19">
                <a:extLst>
                  <a:ext uri="{FF2B5EF4-FFF2-40B4-BE49-F238E27FC236}">
                    <a16:creationId xmlns:a16="http://schemas.microsoft.com/office/drawing/2014/main" id="{EA78FFC1-A83C-402C-BBF9-D45BD9480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4230" name="Rectangle 20">
                <a:extLst>
                  <a:ext uri="{FF2B5EF4-FFF2-40B4-BE49-F238E27FC236}">
                    <a16:creationId xmlns:a16="http://schemas.microsoft.com/office/drawing/2014/main" id="{F0851663-AA74-4C9E-942B-A98D788D4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94228" name="Line 21">
              <a:extLst>
                <a:ext uri="{FF2B5EF4-FFF2-40B4-BE49-F238E27FC236}">
                  <a16:creationId xmlns:a16="http://schemas.microsoft.com/office/drawing/2014/main" id="{0BEEB951-6249-463D-B073-072D49DBA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4220" name="Line 24">
            <a:extLst>
              <a:ext uri="{FF2B5EF4-FFF2-40B4-BE49-F238E27FC236}">
                <a16:creationId xmlns:a16="http://schemas.microsoft.com/office/drawing/2014/main" id="{69D0654B-0C48-409A-9C60-21E2214A4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0000" y="4927600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4221" name="Group 25">
            <a:extLst>
              <a:ext uri="{FF2B5EF4-FFF2-40B4-BE49-F238E27FC236}">
                <a16:creationId xmlns:a16="http://schemas.microsoft.com/office/drawing/2014/main" id="{99E50D86-256E-4A10-AA1A-95128A61A70E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4711700"/>
            <a:ext cx="1506538" cy="382588"/>
            <a:chOff x="821" y="1997"/>
            <a:chExt cx="949" cy="241"/>
          </a:xfrm>
        </p:grpSpPr>
        <p:grpSp>
          <p:nvGrpSpPr>
            <p:cNvPr id="94223" name="Group 26">
              <a:extLst>
                <a:ext uri="{FF2B5EF4-FFF2-40B4-BE49-F238E27FC236}">
                  <a16:creationId xmlns:a16="http://schemas.microsoft.com/office/drawing/2014/main" id="{D177010A-EFFB-47E4-AEB1-F6CE80A5A0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4225" name="Rectangle 27">
                <a:extLst>
                  <a:ext uri="{FF2B5EF4-FFF2-40B4-BE49-F238E27FC236}">
                    <a16:creationId xmlns:a16="http://schemas.microsoft.com/office/drawing/2014/main" id="{CBC5329B-401D-4879-8E1D-58FB16B5A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4226" name="Rectangle 28">
                <a:extLst>
                  <a:ext uri="{FF2B5EF4-FFF2-40B4-BE49-F238E27FC236}">
                    <a16:creationId xmlns:a16="http://schemas.microsoft.com/office/drawing/2014/main" id="{4CA2B997-D167-4553-B6A3-9EDA25EA1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94224" name="Line 29">
              <a:extLst>
                <a:ext uri="{FF2B5EF4-FFF2-40B4-BE49-F238E27FC236}">
                  <a16:creationId xmlns:a16="http://schemas.microsoft.com/office/drawing/2014/main" id="{6D7623FC-E256-4E9C-8861-6EA2E5DC8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4222" name="Text Box 30">
            <a:extLst>
              <a:ext uri="{FF2B5EF4-FFF2-40B4-BE49-F238E27FC236}">
                <a16:creationId xmlns:a16="http://schemas.microsoft.com/office/drawing/2014/main" id="{A9C0CF6D-AAFF-47EC-BE63-0C59BDD30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55" y="5684731"/>
            <a:ext cx="748919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einfuegenDanachInListe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(zahlenliste,2,17) 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2AD61BA-A0F1-4824-9EC5-BF23A9513580}"/>
              </a:ext>
            </a:extLst>
          </p:cNvPr>
          <p:cNvSpPr txBox="1"/>
          <p:nvPr/>
        </p:nvSpPr>
        <p:spPr>
          <a:xfrm>
            <a:off x="325755" y="5932495"/>
            <a:ext cx="7673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Bemerkung: wenn die </a:t>
            </a:r>
            <a:r>
              <a:rPr lang="de-DE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  <a:r>
              <a:rPr 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 größer ist, als die Liste lang, passiert leider nichts. Das müsste man noch programmieren.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EE6245F-C5E1-4FD9-B75D-3DF1E7370432}"/>
              </a:ext>
            </a:extLst>
          </p:cNvPr>
          <p:cNvSpPr txBox="1"/>
          <p:nvPr/>
        </p:nvSpPr>
        <p:spPr>
          <a:xfrm>
            <a:off x="315912" y="441588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  <p:extLst>
      <p:ext uri="{BB962C8B-B14F-4D97-AF65-F5344CB8AC3E}">
        <p14:creationId xmlns:p14="http://schemas.microsoft.com/office/powerpoint/2010/main" val="1659807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liennummernplatzhalter 3">
            <a:extLst>
              <a:ext uri="{FF2B5EF4-FFF2-40B4-BE49-F238E27FC236}">
                <a16:creationId xmlns:a16="http://schemas.microsoft.com/office/drawing/2014/main" id="{152C709D-59FC-45CE-9C9C-5E9742FA4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A2B207-C2CC-43B8-ACC4-6C14F6E93E49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de-DE" altLang="de-DE" sz="14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B0884114-DC8E-481E-85B7-DE5CFCC34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Liste: Einfügen </a:t>
            </a:r>
            <a:r>
              <a:rPr lang="de-DE" altLang="de-DE" sz="2800" dirty="0">
                <a:latin typeface="Calibri" panose="020F0502020204030204" pitchFamily="34" charset="0"/>
                <a:cs typeface="Calibri" panose="020F0502020204030204" pitchFamily="34" charset="0"/>
              </a:rPr>
              <a:t>(danach)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- Datenteil füllen</a:t>
            </a:r>
          </a:p>
        </p:txBody>
      </p:sp>
      <p:sp>
        <p:nvSpPr>
          <p:cNvPr id="96260" name="Text Box 4">
            <a:extLst>
              <a:ext uri="{FF2B5EF4-FFF2-40B4-BE49-F238E27FC236}">
                <a16:creationId xmlns:a16="http://schemas.microsoft.com/office/drawing/2014/main" id="{2E031B09-C833-47F8-8A23-473042195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1" y="907206"/>
            <a:ext cx="8367100" cy="32932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einfuegenDanachInListe</a:t>
            </a:r>
            <a:r>
              <a:rPr lang="de-DE" alt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*liste,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2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i=0;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400" b="1" dirty="0">
                <a:latin typeface="Courier New" panose="02070309020205020404" pitchFamily="49" charset="0"/>
              </a:rPr>
              <a:t> 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400" b="1" dirty="0">
                <a:latin typeface="Courier New" panose="02070309020205020404" pitchFamily="49" charset="0"/>
              </a:rPr>
              <a:t>(i ==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=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-&gt;wert=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neuerWert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liste=liste-&gt;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  <a:endParaRPr lang="de-DE" altLang="de-DE" sz="1800" b="1" dirty="0">
              <a:latin typeface="Courier New" panose="02070309020205020404" pitchFamily="49" charset="0"/>
            </a:endParaRPr>
          </a:p>
        </p:txBody>
      </p:sp>
      <p:grpSp>
        <p:nvGrpSpPr>
          <p:cNvPr id="96261" name="Group 5">
            <a:extLst>
              <a:ext uri="{FF2B5EF4-FFF2-40B4-BE49-F238E27FC236}">
                <a16:creationId xmlns:a16="http://schemas.microsoft.com/office/drawing/2014/main" id="{138C79FD-05CE-4BE3-B4E4-E04D4EFEE94E}"/>
              </a:ext>
            </a:extLst>
          </p:cNvPr>
          <p:cNvGrpSpPr>
            <a:grpSpLocks/>
          </p:cNvGrpSpPr>
          <p:nvPr/>
        </p:nvGrpSpPr>
        <p:grpSpPr bwMode="auto">
          <a:xfrm>
            <a:off x="3187700" y="4560888"/>
            <a:ext cx="1163638" cy="382587"/>
            <a:chOff x="912" y="2052"/>
            <a:chExt cx="733" cy="241"/>
          </a:xfrm>
        </p:grpSpPr>
        <p:sp>
          <p:nvSpPr>
            <p:cNvPr id="96283" name="Rectangle 6">
              <a:extLst>
                <a:ext uri="{FF2B5EF4-FFF2-40B4-BE49-F238E27FC236}">
                  <a16:creationId xmlns:a16="http://schemas.microsoft.com/office/drawing/2014/main" id="{EAED5D79-5823-48EB-A89B-C751D3A9E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96284" name="Rectangle 7">
              <a:extLst>
                <a:ext uri="{FF2B5EF4-FFF2-40B4-BE49-F238E27FC236}">
                  <a16:creationId xmlns:a16="http://schemas.microsoft.com/office/drawing/2014/main" id="{87100CC6-708A-4F66-8BBB-946097EED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chemeClr val="accent2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96262" name="Line 8">
            <a:extLst>
              <a:ext uri="{FF2B5EF4-FFF2-40B4-BE49-F238E27FC236}">
                <a16:creationId xmlns:a16="http://schemas.microsoft.com/office/drawing/2014/main" id="{D9EC010F-4334-4AFB-9D5D-D387159470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3700" y="4756150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6263" name="Group 9">
            <a:extLst>
              <a:ext uri="{FF2B5EF4-FFF2-40B4-BE49-F238E27FC236}">
                <a16:creationId xmlns:a16="http://schemas.microsoft.com/office/drawing/2014/main" id="{CAD6F903-EB47-4767-88DB-EC5C4F7A7AE6}"/>
              </a:ext>
            </a:extLst>
          </p:cNvPr>
          <p:cNvGrpSpPr>
            <a:grpSpLocks/>
          </p:cNvGrpSpPr>
          <p:nvPr/>
        </p:nvGrpSpPr>
        <p:grpSpPr bwMode="auto">
          <a:xfrm>
            <a:off x="4694238" y="4560888"/>
            <a:ext cx="1506537" cy="382587"/>
            <a:chOff x="821" y="1997"/>
            <a:chExt cx="949" cy="241"/>
          </a:xfrm>
        </p:grpSpPr>
        <p:grpSp>
          <p:nvGrpSpPr>
            <p:cNvPr id="96279" name="Group 10">
              <a:extLst>
                <a:ext uri="{FF2B5EF4-FFF2-40B4-BE49-F238E27FC236}">
                  <a16:creationId xmlns:a16="http://schemas.microsoft.com/office/drawing/2014/main" id="{B51D9346-5253-42BB-B771-85BB19C41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6281" name="Rectangle 11">
                <a:extLst>
                  <a:ext uri="{FF2B5EF4-FFF2-40B4-BE49-F238E27FC236}">
                    <a16:creationId xmlns:a16="http://schemas.microsoft.com/office/drawing/2014/main" id="{CB10B3EB-7D0A-439E-8D5D-E2267444D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6282" name="Rectangle 12">
                <a:extLst>
                  <a:ext uri="{FF2B5EF4-FFF2-40B4-BE49-F238E27FC236}">
                    <a16:creationId xmlns:a16="http://schemas.microsoft.com/office/drawing/2014/main" id="{5118C81F-421E-4A40-8401-3BEACEB80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sp>
          <p:nvSpPr>
            <p:cNvPr id="96280" name="Line 13">
              <a:extLst>
                <a:ext uri="{FF2B5EF4-FFF2-40B4-BE49-F238E27FC236}">
                  <a16:creationId xmlns:a16="http://schemas.microsoft.com/office/drawing/2014/main" id="{E53E4975-EEFA-46D4-A1B9-23BE4378D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6264" name="Text Box 14">
            <a:extLst>
              <a:ext uri="{FF2B5EF4-FFF2-40B4-BE49-F238E27FC236}">
                <a16:creationId xmlns:a16="http://schemas.microsoft.com/office/drawing/2014/main" id="{89E1B5CE-0909-4909-8457-E6E1F8267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598988"/>
            <a:ext cx="73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NULL</a:t>
            </a:r>
          </a:p>
        </p:txBody>
      </p:sp>
      <p:grpSp>
        <p:nvGrpSpPr>
          <p:cNvPr id="96265" name="Group 17">
            <a:extLst>
              <a:ext uri="{FF2B5EF4-FFF2-40B4-BE49-F238E27FC236}">
                <a16:creationId xmlns:a16="http://schemas.microsoft.com/office/drawing/2014/main" id="{8C019D61-2715-4063-92F2-294CD9A90CD7}"/>
              </a:ext>
            </a:extLst>
          </p:cNvPr>
          <p:cNvGrpSpPr>
            <a:grpSpLocks/>
          </p:cNvGrpSpPr>
          <p:nvPr/>
        </p:nvGrpSpPr>
        <p:grpSpPr bwMode="auto">
          <a:xfrm>
            <a:off x="5545138" y="5138848"/>
            <a:ext cx="1506538" cy="382587"/>
            <a:chOff x="821" y="1997"/>
            <a:chExt cx="949" cy="241"/>
          </a:xfrm>
        </p:grpSpPr>
        <p:grpSp>
          <p:nvGrpSpPr>
            <p:cNvPr id="96275" name="Group 18">
              <a:extLst>
                <a:ext uri="{FF2B5EF4-FFF2-40B4-BE49-F238E27FC236}">
                  <a16:creationId xmlns:a16="http://schemas.microsoft.com/office/drawing/2014/main" id="{AC6D54A6-F255-42FC-A06D-F78D3A4712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6277" name="Rectangle 19">
                <a:extLst>
                  <a:ext uri="{FF2B5EF4-FFF2-40B4-BE49-F238E27FC236}">
                    <a16:creationId xmlns:a16="http://schemas.microsoft.com/office/drawing/2014/main" id="{7EBC8F49-F689-4DD7-B976-3F81BB950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6278" name="Rectangle 20">
                <a:extLst>
                  <a:ext uri="{FF2B5EF4-FFF2-40B4-BE49-F238E27FC236}">
                    <a16:creationId xmlns:a16="http://schemas.microsoft.com/office/drawing/2014/main" id="{65F11DC5-7F1F-4C66-8811-A18E1CF34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solidFill>
                      <a:srgbClr val="FF0000"/>
                    </a:solidFill>
                    <a:latin typeface="Courier New" panose="02070309020205020404" pitchFamily="49" charset="0"/>
                  </a:rPr>
                  <a:t>17</a:t>
                </a:r>
              </a:p>
            </p:txBody>
          </p:sp>
        </p:grpSp>
        <p:sp>
          <p:nvSpPr>
            <p:cNvPr id="96276" name="Line 21">
              <a:extLst>
                <a:ext uri="{FF2B5EF4-FFF2-40B4-BE49-F238E27FC236}">
                  <a16:creationId xmlns:a16="http://schemas.microsoft.com/office/drawing/2014/main" id="{E3B5673E-DC89-4B9A-BA7C-6C091297C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6266" name="Line 23">
            <a:extLst>
              <a:ext uri="{FF2B5EF4-FFF2-40B4-BE49-F238E27FC236}">
                <a16:creationId xmlns:a16="http://schemas.microsoft.com/office/drawing/2014/main" id="{66445C61-8E21-47FC-8408-B39E23FBD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4759325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6267" name="Group 24">
            <a:extLst>
              <a:ext uri="{FF2B5EF4-FFF2-40B4-BE49-F238E27FC236}">
                <a16:creationId xmlns:a16="http://schemas.microsoft.com/office/drawing/2014/main" id="{F343F1AC-DA8C-4BCC-85EB-9CB593B16016}"/>
              </a:ext>
            </a:extLst>
          </p:cNvPr>
          <p:cNvGrpSpPr>
            <a:grpSpLocks/>
          </p:cNvGrpSpPr>
          <p:nvPr/>
        </p:nvGrpSpPr>
        <p:grpSpPr bwMode="auto">
          <a:xfrm>
            <a:off x="1698625" y="4568825"/>
            <a:ext cx="1506538" cy="382588"/>
            <a:chOff x="821" y="1997"/>
            <a:chExt cx="949" cy="241"/>
          </a:xfrm>
        </p:grpSpPr>
        <p:grpSp>
          <p:nvGrpSpPr>
            <p:cNvPr id="96271" name="Group 25">
              <a:extLst>
                <a:ext uri="{FF2B5EF4-FFF2-40B4-BE49-F238E27FC236}">
                  <a16:creationId xmlns:a16="http://schemas.microsoft.com/office/drawing/2014/main" id="{F1396A3D-A62E-4EBB-A33A-D97280CC4D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6273" name="Rectangle 26">
                <a:extLst>
                  <a:ext uri="{FF2B5EF4-FFF2-40B4-BE49-F238E27FC236}">
                    <a16:creationId xmlns:a16="http://schemas.microsoft.com/office/drawing/2014/main" id="{411A0636-6A01-4C29-9C56-519994A14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6274" name="Rectangle 27">
                <a:extLst>
                  <a:ext uri="{FF2B5EF4-FFF2-40B4-BE49-F238E27FC236}">
                    <a16:creationId xmlns:a16="http://schemas.microsoft.com/office/drawing/2014/main" id="{2DFE8119-5855-4A4B-B19D-9043553F1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96272" name="Line 28">
              <a:extLst>
                <a:ext uri="{FF2B5EF4-FFF2-40B4-BE49-F238E27FC236}">
                  <a16:creationId xmlns:a16="http://schemas.microsoft.com/office/drawing/2014/main" id="{C3D58E68-64BF-4B64-99A6-9B27B4EF8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6268" name="Text Box 29">
            <a:extLst>
              <a:ext uri="{FF2B5EF4-FFF2-40B4-BE49-F238E27FC236}">
                <a16:creationId xmlns:a16="http://schemas.microsoft.com/office/drawing/2014/main" id="{A285E831-D7D0-4A18-B4A3-876E411AA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608" y="5613400"/>
            <a:ext cx="64267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einfuegenDanachInListe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(zahlenliste,2,17)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3D9526A-B138-4F0E-8956-66ACCBEF5681}"/>
              </a:ext>
            </a:extLst>
          </p:cNvPr>
          <p:cNvSpPr txBox="1"/>
          <p:nvPr/>
        </p:nvSpPr>
        <p:spPr>
          <a:xfrm>
            <a:off x="315521" y="421367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  <p:extLst>
      <p:ext uri="{BB962C8B-B14F-4D97-AF65-F5344CB8AC3E}">
        <p14:creationId xmlns:p14="http://schemas.microsoft.com/office/powerpoint/2010/main" val="13833524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liennummernplatzhalter 3">
            <a:extLst>
              <a:ext uri="{FF2B5EF4-FFF2-40B4-BE49-F238E27FC236}">
                <a16:creationId xmlns:a16="http://schemas.microsoft.com/office/drawing/2014/main" id="{CBE130B1-8637-4079-A2D1-387A6524E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74910" y="6427787"/>
            <a:ext cx="2001838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de-DE" sz="1400" dirty="0"/>
              <a:t>52</a:t>
            </a: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05D7B010-2A33-49C3-98F2-985A5A3EF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835" y="260350"/>
            <a:ext cx="8726913" cy="633413"/>
          </a:xfrm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Liste: Einfügen </a:t>
            </a:r>
            <a:r>
              <a:rPr lang="de-DE" altLang="de-DE" sz="2800" dirty="0">
                <a:latin typeface="Calibri" panose="020F0502020204030204" pitchFamily="34" charset="0"/>
                <a:cs typeface="Calibri" panose="020F0502020204030204" pitchFamily="34" charset="0"/>
              </a:rPr>
              <a:t>(danach)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- Zeiger auf Nachfolger</a:t>
            </a:r>
          </a:p>
        </p:txBody>
      </p:sp>
      <p:sp>
        <p:nvSpPr>
          <p:cNvPr id="98308" name="Text Box 4">
            <a:extLst>
              <a:ext uri="{FF2B5EF4-FFF2-40B4-BE49-F238E27FC236}">
                <a16:creationId xmlns:a16="http://schemas.microsoft.com/office/drawing/2014/main" id="{63AAC6B4-1421-4DB1-BB2E-CAC9E8BA6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927100"/>
            <a:ext cx="8950325" cy="32932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einfuegenDanachInListe</a:t>
            </a:r>
            <a:r>
              <a:rPr lang="de-DE" altLang="de-DE" sz="1200" b="1" dirty="0">
                <a:latin typeface="Courier New" panose="02070309020205020404" pitchFamily="49" charset="0"/>
              </a:rPr>
              <a:t>(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*liste,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2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i=0;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400" b="1" dirty="0">
                <a:latin typeface="Courier New" panose="02070309020205020404" pitchFamily="49" charset="0"/>
              </a:rPr>
              <a:t> 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400" b="1" dirty="0">
                <a:latin typeface="Courier New" panose="02070309020205020404" pitchFamily="49" charset="0"/>
              </a:rPr>
              <a:t>(i ==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-&gt;wert=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-&gt;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= liste-&gt;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liste=liste-&gt;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98309" name="Group 5">
            <a:extLst>
              <a:ext uri="{FF2B5EF4-FFF2-40B4-BE49-F238E27FC236}">
                <a16:creationId xmlns:a16="http://schemas.microsoft.com/office/drawing/2014/main" id="{5522C300-46F2-43A1-9019-609335FA2345}"/>
              </a:ext>
            </a:extLst>
          </p:cNvPr>
          <p:cNvGrpSpPr>
            <a:grpSpLocks/>
          </p:cNvGrpSpPr>
          <p:nvPr/>
        </p:nvGrpSpPr>
        <p:grpSpPr bwMode="auto">
          <a:xfrm>
            <a:off x="3368675" y="4630738"/>
            <a:ext cx="1163638" cy="382587"/>
            <a:chOff x="912" y="2052"/>
            <a:chExt cx="733" cy="241"/>
          </a:xfrm>
        </p:grpSpPr>
        <p:sp>
          <p:nvSpPr>
            <p:cNvPr id="98330" name="Rectangle 6">
              <a:extLst>
                <a:ext uri="{FF2B5EF4-FFF2-40B4-BE49-F238E27FC236}">
                  <a16:creationId xmlns:a16="http://schemas.microsoft.com/office/drawing/2014/main" id="{0C37BC4C-439A-4482-AF71-D04A30693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98331" name="Rectangle 7">
              <a:extLst>
                <a:ext uri="{FF2B5EF4-FFF2-40B4-BE49-F238E27FC236}">
                  <a16:creationId xmlns:a16="http://schemas.microsoft.com/office/drawing/2014/main" id="{4166D44C-0C92-46D6-85D6-AD148CDC8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chemeClr val="accent2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98310" name="Line 8">
            <a:extLst>
              <a:ext uri="{FF2B5EF4-FFF2-40B4-BE49-F238E27FC236}">
                <a16:creationId xmlns:a16="http://schemas.microsoft.com/office/drawing/2014/main" id="{FD9564C7-6E93-4F7F-94D5-52EC3B8851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4675" y="4826000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8311" name="Group 9">
            <a:extLst>
              <a:ext uri="{FF2B5EF4-FFF2-40B4-BE49-F238E27FC236}">
                <a16:creationId xmlns:a16="http://schemas.microsoft.com/office/drawing/2014/main" id="{B42E2362-3D05-4309-8C9E-18DF3CDA71BA}"/>
              </a:ext>
            </a:extLst>
          </p:cNvPr>
          <p:cNvGrpSpPr>
            <a:grpSpLocks/>
          </p:cNvGrpSpPr>
          <p:nvPr/>
        </p:nvGrpSpPr>
        <p:grpSpPr bwMode="auto">
          <a:xfrm>
            <a:off x="4875213" y="4630738"/>
            <a:ext cx="1506537" cy="382587"/>
            <a:chOff x="821" y="1997"/>
            <a:chExt cx="949" cy="241"/>
          </a:xfrm>
        </p:grpSpPr>
        <p:grpSp>
          <p:nvGrpSpPr>
            <p:cNvPr id="98326" name="Group 10">
              <a:extLst>
                <a:ext uri="{FF2B5EF4-FFF2-40B4-BE49-F238E27FC236}">
                  <a16:creationId xmlns:a16="http://schemas.microsoft.com/office/drawing/2014/main" id="{9F1D1B99-498B-46E4-9BDC-039076810B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8328" name="Rectangle 11">
                <a:extLst>
                  <a:ext uri="{FF2B5EF4-FFF2-40B4-BE49-F238E27FC236}">
                    <a16:creationId xmlns:a16="http://schemas.microsoft.com/office/drawing/2014/main" id="{817C9C3A-831E-4850-AEE8-4F8C7A56F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8329" name="Rectangle 12">
                <a:extLst>
                  <a:ext uri="{FF2B5EF4-FFF2-40B4-BE49-F238E27FC236}">
                    <a16:creationId xmlns:a16="http://schemas.microsoft.com/office/drawing/2014/main" id="{2C4B7434-B303-460E-8F6E-BBAEC7FC04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sp>
          <p:nvSpPr>
            <p:cNvPr id="98327" name="Line 13">
              <a:extLst>
                <a:ext uri="{FF2B5EF4-FFF2-40B4-BE49-F238E27FC236}">
                  <a16:creationId xmlns:a16="http://schemas.microsoft.com/office/drawing/2014/main" id="{439A5F7F-DC2E-4653-9D60-98BCA70EB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8312" name="Text Box 14">
            <a:extLst>
              <a:ext uri="{FF2B5EF4-FFF2-40B4-BE49-F238E27FC236}">
                <a16:creationId xmlns:a16="http://schemas.microsoft.com/office/drawing/2014/main" id="{073D7897-B0F9-4CB3-9194-518614F1F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4668838"/>
            <a:ext cx="73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NULL</a:t>
            </a:r>
          </a:p>
        </p:txBody>
      </p:sp>
      <p:grpSp>
        <p:nvGrpSpPr>
          <p:cNvPr id="98313" name="Group 17">
            <a:extLst>
              <a:ext uri="{FF2B5EF4-FFF2-40B4-BE49-F238E27FC236}">
                <a16:creationId xmlns:a16="http://schemas.microsoft.com/office/drawing/2014/main" id="{B8749848-F25B-4D6C-89E4-684130E40D18}"/>
              </a:ext>
            </a:extLst>
          </p:cNvPr>
          <p:cNvGrpSpPr>
            <a:grpSpLocks/>
          </p:cNvGrpSpPr>
          <p:nvPr/>
        </p:nvGrpSpPr>
        <p:grpSpPr bwMode="auto">
          <a:xfrm>
            <a:off x="5630863" y="5334000"/>
            <a:ext cx="1163637" cy="382587"/>
            <a:chOff x="912" y="2052"/>
            <a:chExt cx="733" cy="241"/>
          </a:xfrm>
        </p:grpSpPr>
        <p:sp>
          <p:nvSpPr>
            <p:cNvPr id="98324" name="Rectangle 18">
              <a:extLst>
                <a:ext uri="{FF2B5EF4-FFF2-40B4-BE49-F238E27FC236}">
                  <a16:creationId xmlns:a16="http://schemas.microsoft.com/office/drawing/2014/main" id="{74B27873-B59A-4AFE-8C53-D8471C44C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98325" name="Rectangle 19">
              <a:extLst>
                <a:ext uri="{FF2B5EF4-FFF2-40B4-BE49-F238E27FC236}">
                  <a16:creationId xmlns:a16="http://schemas.microsoft.com/office/drawing/2014/main" id="{E7561D08-9C51-4302-B8F7-CF8AD6126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chemeClr val="hlink"/>
                  </a:solidFill>
                  <a:latin typeface="Courier New" panose="02070309020205020404" pitchFamily="49" charset="0"/>
                </a:rPr>
                <a:t>17</a:t>
              </a:r>
            </a:p>
          </p:txBody>
        </p:sp>
      </p:grpSp>
      <p:sp>
        <p:nvSpPr>
          <p:cNvPr id="98314" name="Line 20">
            <a:extLst>
              <a:ext uri="{FF2B5EF4-FFF2-40B4-BE49-F238E27FC236}">
                <a16:creationId xmlns:a16="http://schemas.microsoft.com/office/drawing/2014/main" id="{C00A5B65-C6EE-40BE-9C64-23B1474BBD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0071" y="4966012"/>
            <a:ext cx="2172" cy="47550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98315" name="Line 21">
            <a:extLst>
              <a:ext uri="{FF2B5EF4-FFF2-40B4-BE49-F238E27FC236}">
                <a16:creationId xmlns:a16="http://schemas.microsoft.com/office/drawing/2014/main" id="{644711D0-B85A-42B9-A9F6-CEB782912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6200" y="4813300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8316" name="Group 22">
            <a:extLst>
              <a:ext uri="{FF2B5EF4-FFF2-40B4-BE49-F238E27FC236}">
                <a16:creationId xmlns:a16="http://schemas.microsoft.com/office/drawing/2014/main" id="{18DDBA88-A86E-430C-BEF9-81A2B03BC130}"/>
              </a:ext>
            </a:extLst>
          </p:cNvPr>
          <p:cNvGrpSpPr>
            <a:grpSpLocks/>
          </p:cNvGrpSpPr>
          <p:nvPr/>
        </p:nvGrpSpPr>
        <p:grpSpPr bwMode="auto">
          <a:xfrm>
            <a:off x="1876425" y="4635500"/>
            <a:ext cx="1506538" cy="382588"/>
            <a:chOff x="821" y="1997"/>
            <a:chExt cx="949" cy="241"/>
          </a:xfrm>
        </p:grpSpPr>
        <p:grpSp>
          <p:nvGrpSpPr>
            <p:cNvPr id="98320" name="Group 23">
              <a:extLst>
                <a:ext uri="{FF2B5EF4-FFF2-40B4-BE49-F238E27FC236}">
                  <a16:creationId xmlns:a16="http://schemas.microsoft.com/office/drawing/2014/main" id="{DEDAB3B9-2CFB-4221-BD57-BDB8BFFFA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8322" name="Rectangle 24">
                <a:extLst>
                  <a:ext uri="{FF2B5EF4-FFF2-40B4-BE49-F238E27FC236}">
                    <a16:creationId xmlns:a16="http://schemas.microsoft.com/office/drawing/2014/main" id="{3E82A388-14CD-48C4-ADFD-D5C3805AD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8323" name="Rectangle 25">
                <a:extLst>
                  <a:ext uri="{FF2B5EF4-FFF2-40B4-BE49-F238E27FC236}">
                    <a16:creationId xmlns:a16="http://schemas.microsoft.com/office/drawing/2014/main" id="{85B6FCCD-8EBD-4879-B269-79FE98041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98321" name="Line 26">
              <a:extLst>
                <a:ext uri="{FF2B5EF4-FFF2-40B4-BE49-F238E27FC236}">
                  <a16:creationId xmlns:a16="http://schemas.microsoft.com/office/drawing/2014/main" id="{787BB4A4-8751-4EBE-A7E7-A26C7AEAB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8" name="Text Box 29">
            <a:extLst>
              <a:ext uri="{FF2B5EF4-FFF2-40B4-BE49-F238E27FC236}">
                <a16:creationId xmlns:a16="http://schemas.microsoft.com/office/drawing/2014/main" id="{3666B486-4103-4B53-82EB-8443C7B7E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8" y="5836920"/>
            <a:ext cx="64267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einfuegenDanachInListe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(zahlenliste,2,17)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3D8DE2D-6958-4418-B161-973B8F6B40DC}"/>
              </a:ext>
            </a:extLst>
          </p:cNvPr>
          <p:cNvSpPr txBox="1"/>
          <p:nvPr/>
        </p:nvSpPr>
        <p:spPr>
          <a:xfrm>
            <a:off x="249835" y="4230767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  <p:extLst>
      <p:ext uri="{BB962C8B-B14F-4D97-AF65-F5344CB8AC3E}">
        <p14:creationId xmlns:p14="http://schemas.microsoft.com/office/powerpoint/2010/main" val="16929970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liennummernplatzhalter 3">
            <a:extLst>
              <a:ext uri="{FF2B5EF4-FFF2-40B4-BE49-F238E27FC236}">
                <a16:creationId xmlns:a16="http://schemas.microsoft.com/office/drawing/2014/main" id="{567A3FE2-7B82-47D6-91AB-66A1EFE8C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6F6CF8-08DA-4B85-879E-1CD5D318C38A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de-DE" altLang="de-DE" sz="1400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63476701-EC53-46C3-BC0D-8D1C89511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738" y="260350"/>
            <a:ext cx="8970962" cy="633413"/>
          </a:xfrm>
        </p:spPr>
        <p:txBody>
          <a:bodyPr/>
          <a:lstStyle/>
          <a:p>
            <a:pPr eaLnBrk="1" hangingPunct="1"/>
            <a:r>
              <a:rPr lang="de-DE" altLang="de-DE" sz="2800" dirty="0">
                <a:latin typeface="Calibri" panose="020F0502020204030204" pitchFamily="34" charset="0"/>
                <a:cs typeface="Calibri" panose="020F0502020204030204" pitchFamily="34" charset="0"/>
              </a:rPr>
              <a:t>Liste: Einfügen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(danach) </a:t>
            </a:r>
            <a:r>
              <a:rPr lang="de-DE" altLang="de-DE" sz="2800" dirty="0">
                <a:latin typeface="Calibri" panose="020F0502020204030204" pitchFamily="34" charset="0"/>
                <a:cs typeface="Calibri" panose="020F0502020204030204" pitchFamily="34" charset="0"/>
              </a:rPr>
              <a:t>- Setzen des neuen Nachfolgers</a:t>
            </a:r>
          </a:p>
        </p:txBody>
      </p:sp>
      <p:sp>
        <p:nvSpPr>
          <p:cNvPr id="100356" name="Text Box 4">
            <a:extLst>
              <a:ext uri="{FF2B5EF4-FFF2-40B4-BE49-F238E27FC236}">
                <a16:creationId xmlns:a16="http://schemas.microsoft.com/office/drawing/2014/main" id="{9391E651-0809-4652-9FCE-C16E6437A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8" y="954088"/>
            <a:ext cx="9085262" cy="32624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einfuegenDanachInListe</a:t>
            </a:r>
            <a:r>
              <a:rPr lang="de-DE" altLang="de-DE" sz="1200" b="1" dirty="0">
                <a:latin typeface="Courier New" panose="02070309020205020404" pitchFamily="49" charset="0"/>
              </a:rPr>
              <a:t>(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*liste,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2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200" b="1" dirty="0">
                <a:latin typeface="Courier New" panose="02070309020205020404" pitchFamily="49" charset="0"/>
              </a:rPr>
              <a:t>;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i=0;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400" b="1" dirty="0">
                <a:latin typeface="Courier New" panose="02070309020205020404" pitchFamily="49" charset="0"/>
              </a:rPr>
              <a:t> 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400" b="1" dirty="0">
                <a:latin typeface="Courier New" panose="02070309020205020404" pitchFamily="49" charset="0"/>
              </a:rPr>
              <a:t>(i ==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-&gt;wert=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liste-&gt;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liste=liste-&gt;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  <a:endParaRPr lang="de-DE" altLang="de-DE" sz="1800" b="1" dirty="0">
              <a:latin typeface="Courier New" panose="02070309020205020404" pitchFamily="49" charset="0"/>
            </a:endParaRPr>
          </a:p>
        </p:txBody>
      </p:sp>
      <p:grpSp>
        <p:nvGrpSpPr>
          <p:cNvPr id="100357" name="Group 5">
            <a:extLst>
              <a:ext uri="{FF2B5EF4-FFF2-40B4-BE49-F238E27FC236}">
                <a16:creationId xmlns:a16="http://schemas.microsoft.com/office/drawing/2014/main" id="{A50160E7-9840-484C-8B9D-EA89FCBF4B2E}"/>
              </a:ext>
            </a:extLst>
          </p:cNvPr>
          <p:cNvGrpSpPr>
            <a:grpSpLocks/>
          </p:cNvGrpSpPr>
          <p:nvPr/>
        </p:nvGrpSpPr>
        <p:grpSpPr bwMode="auto">
          <a:xfrm>
            <a:off x="3294063" y="4568825"/>
            <a:ext cx="1163637" cy="382588"/>
            <a:chOff x="912" y="2052"/>
            <a:chExt cx="733" cy="241"/>
          </a:xfrm>
        </p:grpSpPr>
        <p:sp>
          <p:nvSpPr>
            <p:cNvPr id="100378" name="Rectangle 6">
              <a:extLst>
                <a:ext uri="{FF2B5EF4-FFF2-40B4-BE49-F238E27FC236}">
                  <a16:creationId xmlns:a16="http://schemas.microsoft.com/office/drawing/2014/main" id="{5FEE7C5F-46D5-454A-9602-208AC4DA7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100379" name="Rectangle 7">
              <a:extLst>
                <a:ext uri="{FF2B5EF4-FFF2-40B4-BE49-F238E27FC236}">
                  <a16:creationId xmlns:a16="http://schemas.microsoft.com/office/drawing/2014/main" id="{9D1108AD-9B36-4A57-BC58-FE538B520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chemeClr val="accent2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0374" name="Group 10">
            <a:extLst>
              <a:ext uri="{FF2B5EF4-FFF2-40B4-BE49-F238E27FC236}">
                <a16:creationId xmlns:a16="http://schemas.microsoft.com/office/drawing/2014/main" id="{44400F33-CCF1-4990-9868-1DFB8604AFDC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568825"/>
            <a:ext cx="1163638" cy="382588"/>
            <a:chOff x="912" y="2052"/>
            <a:chExt cx="733" cy="241"/>
          </a:xfrm>
        </p:grpSpPr>
        <p:sp>
          <p:nvSpPr>
            <p:cNvPr id="100376" name="Rectangle 11">
              <a:extLst>
                <a:ext uri="{FF2B5EF4-FFF2-40B4-BE49-F238E27FC236}">
                  <a16:creationId xmlns:a16="http://schemas.microsoft.com/office/drawing/2014/main" id="{E26DBF8C-2D3C-43A9-8903-BCB87C84F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100377" name="Rectangle 12">
              <a:extLst>
                <a:ext uri="{FF2B5EF4-FFF2-40B4-BE49-F238E27FC236}">
                  <a16:creationId xmlns:a16="http://schemas.microsoft.com/office/drawing/2014/main" id="{4A47A632-ABA1-46F5-915B-8AA343F7E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100375" name="Line 13">
            <a:extLst>
              <a:ext uri="{FF2B5EF4-FFF2-40B4-BE49-F238E27FC236}">
                <a16:creationId xmlns:a16="http://schemas.microsoft.com/office/drawing/2014/main" id="{BCE5350C-2F86-49B8-993F-C442993D3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0062" y="4773613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0360" name="Text Box 14">
            <a:extLst>
              <a:ext uri="{FF2B5EF4-FFF2-40B4-BE49-F238E27FC236}">
                <a16:creationId xmlns:a16="http://schemas.microsoft.com/office/drawing/2014/main" id="{9583C2CB-AFDF-45A6-B163-53F1ADD25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4606925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NULL</a:t>
            </a:r>
          </a:p>
        </p:txBody>
      </p:sp>
      <p:grpSp>
        <p:nvGrpSpPr>
          <p:cNvPr id="100361" name="Group 17">
            <a:extLst>
              <a:ext uri="{FF2B5EF4-FFF2-40B4-BE49-F238E27FC236}">
                <a16:creationId xmlns:a16="http://schemas.microsoft.com/office/drawing/2014/main" id="{0DC2ADBF-8652-451A-8A06-5041651EE83D}"/>
              </a:ext>
            </a:extLst>
          </p:cNvPr>
          <p:cNvGrpSpPr>
            <a:grpSpLocks/>
          </p:cNvGrpSpPr>
          <p:nvPr/>
        </p:nvGrpSpPr>
        <p:grpSpPr bwMode="auto">
          <a:xfrm>
            <a:off x="5772944" y="5244783"/>
            <a:ext cx="1163638" cy="382588"/>
            <a:chOff x="912" y="2052"/>
            <a:chExt cx="733" cy="241"/>
          </a:xfrm>
        </p:grpSpPr>
        <p:sp>
          <p:nvSpPr>
            <p:cNvPr id="100372" name="Rectangle 18">
              <a:extLst>
                <a:ext uri="{FF2B5EF4-FFF2-40B4-BE49-F238E27FC236}">
                  <a16:creationId xmlns:a16="http://schemas.microsoft.com/office/drawing/2014/main" id="{A8D0E599-8DFF-45BC-9DE3-8B20BA36A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100373" name="Rectangle 19">
              <a:extLst>
                <a:ext uri="{FF2B5EF4-FFF2-40B4-BE49-F238E27FC236}">
                  <a16:creationId xmlns:a16="http://schemas.microsoft.com/office/drawing/2014/main" id="{A66CAAD7-B4CE-473C-9E83-2B49E567A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chemeClr val="hlink"/>
                  </a:solidFill>
                  <a:latin typeface="Courier New" panose="02070309020205020404" pitchFamily="49" charset="0"/>
                </a:rPr>
                <a:t>17</a:t>
              </a:r>
            </a:p>
          </p:txBody>
        </p:sp>
      </p:grpSp>
      <p:sp>
        <p:nvSpPr>
          <p:cNvPr id="100362" name="Line 20">
            <a:extLst>
              <a:ext uri="{FF2B5EF4-FFF2-40B4-BE49-F238E27FC236}">
                <a16:creationId xmlns:a16="http://schemas.microsoft.com/office/drawing/2014/main" id="{91E07DF0-2C6C-4EB0-8FC2-9CD25AF105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5194" y="4920534"/>
            <a:ext cx="0" cy="49125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0363" name="Line 21">
            <a:extLst>
              <a:ext uri="{FF2B5EF4-FFF2-40B4-BE49-F238E27FC236}">
                <a16:creationId xmlns:a16="http://schemas.microsoft.com/office/drawing/2014/main" id="{BAEB2CA5-852B-44F4-A36A-DBE422880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7775" y="4756150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100364" name="Group 22">
            <a:extLst>
              <a:ext uri="{FF2B5EF4-FFF2-40B4-BE49-F238E27FC236}">
                <a16:creationId xmlns:a16="http://schemas.microsoft.com/office/drawing/2014/main" id="{58ED0C8F-BB7D-4B66-9B69-E594815B0DC8}"/>
              </a:ext>
            </a:extLst>
          </p:cNvPr>
          <p:cNvGrpSpPr>
            <a:grpSpLocks/>
          </p:cNvGrpSpPr>
          <p:nvPr/>
        </p:nvGrpSpPr>
        <p:grpSpPr bwMode="auto">
          <a:xfrm>
            <a:off x="1765300" y="4578350"/>
            <a:ext cx="1506538" cy="382588"/>
            <a:chOff x="821" y="1997"/>
            <a:chExt cx="949" cy="241"/>
          </a:xfrm>
        </p:grpSpPr>
        <p:grpSp>
          <p:nvGrpSpPr>
            <p:cNvPr id="100368" name="Group 23">
              <a:extLst>
                <a:ext uri="{FF2B5EF4-FFF2-40B4-BE49-F238E27FC236}">
                  <a16:creationId xmlns:a16="http://schemas.microsoft.com/office/drawing/2014/main" id="{F844BA86-049A-42CF-9142-4DD2B6CC5F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100370" name="Rectangle 24">
                <a:extLst>
                  <a:ext uri="{FF2B5EF4-FFF2-40B4-BE49-F238E27FC236}">
                    <a16:creationId xmlns:a16="http://schemas.microsoft.com/office/drawing/2014/main" id="{EFC94D65-84F4-415A-8157-C7336518A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100371" name="Rectangle 25">
                <a:extLst>
                  <a:ext uri="{FF2B5EF4-FFF2-40B4-BE49-F238E27FC236}">
                    <a16:creationId xmlns:a16="http://schemas.microsoft.com/office/drawing/2014/main" id="{44419934-2D39-4E72-9235-D6AC364B1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100369" name="Line 26">
              <a:extLst>
                <a:ext uri="{FF2B5EF4-FFF2-40B4-BE49-F238E27FC236}">
                  <a16:creationId xmlns:a16="http://schemas.microsoft.com/office/drawing/2014/main" id="{CDD4AF92-59DA-41F5-BEDE-8498AC599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8" name="Text Box 29">
            <a:extLst>
              <a:ext uri="{FF2B5EF4-FFF2-40B4-BE49-F238E27FC236}">
                <a16:creationId xmlns:a16="http://schemas.microsoft.com/office/drawing/2014/main" id="{F94F28DD-B1E0-4664-AC13-6C74343A2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8" y="5836920"/>
            <a:ext cx="64267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einfuegenDanachInListe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(zahlenliste,2,17)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B7C53D6-4066-4146-8B45-90A0D4C16218}"/>
              </a:ext>
            </a:extLst>
          </p:cNvPr>
          <p:cNvSpPr txBox="1"/>
          <p:nvPr/>
        </p:nvSpPr>
        <p:spPr>
          <a:xfrm>
            <a:off x="249835" y="4230767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  <p:sp>
        <p:nvSpPr>
          <p:cNvPr id="100358" name="Line 8">
            <a:extLst>
              <a:ext uri="{FF2B5EF4-FFF2-40B4-BE49-F238E27FC236}">
                <a16:creationId xmlns:a16="http://schemas.microsoft.com/office/drawing/2014/main" id="{A7DFD7C9-FD7E-4A16-A181-719F164C94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8487" y="4786693"/>
            <a:ext cx="0" cy="45938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9078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liennummernplatzhalter 3">
            <a:extLst>
              <a:ext uri="{FF2B5EF4-FFF2-40B4-BE49-F238E27FC236}">
                <a16:creationId xmlns:a16="http://schemas.microsoft.com/office/drawing/2014/main" id="{DBB42049-F64D-4542-AB97-146073AF7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FEA571-990F-4467-A708-D9CF7433AE32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de-DE" altLang="de-DE" sz="140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E599FB60-3282-44F2-A427-02BC126C4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200" y="260350"/>
            <a:ext cx="8483600" cy="633413"/>
          </a:xfrm>
        </p:spPr>
        <p:txBody>
          <a:bodyPr/>
          <a:lstStyle/>
          <a:p>
            <a:pPr eaLnBrk="1" hangingPunct="1"/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Liste: Einfügen eines Elements in eine Liste </a:t>
            </a:r>
            <a:r>
              <a:rPr lang="de-DE" altLang="de-DE" sz="3200" i="1" dirty="0">
                <a:latin typeface="Calibri" panose="020F0502020204030204" pitchFamily="34" charset="0"/>
                <a:cs typeface="Calibri" panose="020F0502020204030204" pitchFamily="34" charset="0"/>
              </a:rPr>
              <a:t>vor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 ein anderes Element </a:t>
            </a: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8384F309-FE9E-490C-BE63-E70644DC4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484313"/>
            <a:ext cx="8832850" cy="283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92166" name="Text Box 5">
            <a:extLst>
              <a:ext uri="{FF2B5EF4-FFF2-40B4-BE49-F238E27FC236}">
                <a16:creationId xmlns:a16="http://schemas.microsoft.com/office/drawing/2014/main" id="{F3D81DA7-7C74-4285-AE23-058BBCF8B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" y="1015207"/>
            <a:ext cx="870394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Ein neues Listenelement wird </a:t>
            </a:r>
            <a:r>
              <a:rPr lang="de-DE" altLang="de-DE" sz="20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das Listenelement mit der Position </a:t>
            </a:r>
            <a:r>
              <a:rPr lang="de-DE" altLang="de-DE" sz="2000" b="1" dirty="0" err="1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position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in die Liste eingefügt. </a:t>
            </a:r>
            <a:r>
              <a:rPr lang="de-DE" altLang="de-DE" sz="2000" b="1" dirty="0" err="1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neuerWert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ist der neue Datenteil des neuen Listenelements. Wie immer wird die Anfangsadresse der Liste übergeben, damit die Funktion weiß, </a:t>
            </a:r>
            <a:r>
              <a:rPr lang="de-DE" altLang="de-DE" sz="2000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welcher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Liste das neue Listenelement eingefügt werden soll: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de-DE" alt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de-DE" altLang="de-DE" sz="12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einfuegenDavorInListe</a:t>
            </a:r>
            <a:r>
              <a:rPr lang="de-DE" altLang="de-DE" sz="1200" b="1" dirty="0">
                <a:latin typeface="Courier New" panose="02070309020205020404" pitchFamily="49" charset="0"/>
              </a:rPr>
              <a:t>(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*liste,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position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 </a:t>
            </a:r>
            <a:r>
              <a:rPr lang="de-DE" altLang="de-DE" sz="12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neuerWert</a:t>
            </a:r>
            <a:r>
              <a:rPr lang="de-DE" altLang="de-DE" sz="1200" b="1" dirty="0">
                <a:solidFill>
                  <a:srgbClr val="FF0066"/>
                </a:solidFill>
                <a:latin typeface="Courier New" panose="02070309020205020404" pitchFamily="49" charset="0"/>
              </a:rPr>
              <a:t>)</a:t>
            </a:r>
            <a:endParaRPr lang="de-DE" altLang="de-DE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de-DE" altLang="de-DE" sz="18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de-DE" altLang="de-DE" sz="1800" dirty="0">
              <a:latin typeface="+mn-lt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9C7B725-6C17-464C-9FBF-C2E8083DC701}"/>
              </a:ext>
            </a:extLst>
          </p:cNvPr>
          <p:cNvSpPr txBox="1"/>
          <p:nvPr/>
        </p:nvSpPr>
        <p:spPr>
          <a:xfrm>
            <a:off x="462756" y="5196462"/>
            <a:ext cx="65823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alt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Siehe Video</a:t>
            </a:r>
            <a:r>
              <a:rPr lang="de-DE" altLang="de-DE" dirty="0"/>
              <a:t>: https://www.youtube.com/watch?v=p8ZLiDG1WnY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61037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liennummernplatzhalter 3">
            <a:extLst>
              <a:ext uri="{FF2B5EF4-FFF2-40B4-BE49-F238E27FC236}">
                <a16:creationId xmlns:a16="http://schemas.microsoft.com/office/drawing/2014/main" id="{A9508074-33E2-441B-9025-D3A135773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EA8EC1-5DD8-42F4-8BFC-9756040D201A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de-DE" altLang="de-DE" sz="14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7CA60DE5-55D4-4CC1-B893-11A21491E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445578" cy="633413"/>
          </a:xfrm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Liste: Einfügen </a:t>
            </a:r>
            <a:r>
              <a:rPr lang="de-DE" altLang="de-DE" sz="2800" dirty="0">
                <a:latin typeface="Calibri" panose="020F0502020204030204" pitchFamily="34" charset="0"/>
                <a:cs typeface="Calibri" panose="020F0502020204030204" pitchFamily="34" charset="0"/>
              </a:rPr>
              <a:t>(davor)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- Speicher anfordern</a:t>
            </a:r>
          </a:p>
        </p:txBody>
      </p:sp>
      <p:sp>
        <p:nvSpPr>
          <p:cNvPr id="94212" name="Text Box 4">
            <a:extLst>
              <a:ext uri="{FF2B5EF4-FFF2-40B4-BE49-F238E27FC236}">
                <a16:creationId xmlns:a16="http://schemas.microsoft.com/office/drawing/2014/main" id="{8AF06102-B7DC-4B66-B74B-7BA47F40D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2" y="961826"/>
            <a:ext cx="8994775" cy="32932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einfuegenDavorInListe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*liste,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200" b="1" dirty="0">
                <a:latin typeface="Courier New" panose="02070309020205020404" pitchFamily="49" charset="0"/>
              </a:rPr>
              <a:t>){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i=1;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400" b="1" dirty="0">
                <a:latin typeface="Courier New" panose="02070309020205020404" pitchFamily="49" charset="0"/>
              </a:rPr>
              <a:t> 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400" b="1" dirty="0">
                <a:latin typeface="Courier New" panose="02070309020205020404" pitchFamily="49" charset="0"/>
              </a:rPr>
              <a:t>(i ==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= 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-&gt;wert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liste=liste-&gt;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94213" name="Group 5">
            <a:extLst>
              <a:ext uri="{FF2B5EF4-FFF2-40B4-BE49-F238E27FC236}">
                <a16:creationId xmlns:a16="http://schemas.microsoft.com/office/drawing/2014/main" id="{AAD1CC86-FF42-4DC1-A58D-420848C78FF8}"/>
              </a:ext>
            </a:extLst>
          </p:cNvPr>
          <p:cNvGrpSpPr>
            <a:grpSpLocks/>
          </p:cNvGrpSpPr>
          <p:nvPr/>
        </p:nvGrpSpPr>
        <p:grpSpPr bwMode="auto">
          <a:xfrm>
            <a:off x="3306763" y="4719638"/>
            <a:ext cx="1163637" cy="382587"/>
            <a:chOff x="912" y="2052"/>
            <a:chExt cx="733" cy="241"/>
          </a:xfrm>
        </p:grpSpPr>
        <p:sp>
          <p:nvSpPr>
            <p:cNvPr id="94235" name="Rectangle 6">
              <a:extLst>
                <a:ext uri="{FF2B5EF4-FFF2-40B4-BE49-F238E27FC236}">
                  <a16:creationId xmlns:a16="http://schemas.microsoft.com/office/drawing/2014/main" id="{AB82E2A8-DD8C-4E40-8C8C-0278C9E14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94236" name="Rectangle 7">
              <a:extLst>
                <a:ext uri="{FF2B5EF4-FFF2-40B4-BE49-F238E27FC236}">
                  <a16:creationId xmlns:a16="http://schemas.microsoft.com/office/drawing/2014/main" id="{13DD5C64-D3E4-4B66-BDD6-21A95CE99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chemeClr val="accent2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94214" name="Line 8">
            <a:extLst>
              <a:ext uri="{FF2B5EF4-FFF2-40B4-BE49-F238E27FC236}">
                <a16:creationId xmlns:a16="http://schemas.microsoft.com/office/drawing/2014/main" id="{2D618CE7-A131-4C2F-BC67-16ABEFD6B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2763" y="4914900"/>
            <a:ext cx="4905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4215" name="Group 9">
            <a:extLst>
              <a:ext uri="{FF2B5EF4-FFF2-40B4-BE49-F238E27FC236}">
                <a16:creationId xmlns:a16="http://schemas.microsoft.com/office/drawing/2014/main" id="{5819A600-5BEA-42A8-A8C2-EA421834FACF}"/>
              </a:ext>
            </a:extLst>
          </p:cNvPr>
          <p:cNvGrpSpPr>
            <a:grpSpLocks/>
          </p:cNvGrpSpPr>
          <p:nvPr/>
        </p:nvGrpSpPr>
        <p:grpSpPr bwMode="auto">
          <a:xfrm>
            <a:off x="4813300" y="4719638"/>
            <a:ext cx="1506538" cy="382587"/>
            <a:chOff x="821" y="1997"/>
            <a:chExt cx="949" cy="241"/>
          </a:xfrm>
        </p:grpSpPr>
        <p:grpSp>
          <p:nvGrpSpPr>
            <p:cNvPr id="94231" name="Group 10">
              <a:extLst>
                <a:ext uri="{FF2B5EF4-FFF2-40B4-BE49-F238E27FC236}">
                  <a16:creationId xmlns:a16="http://schemas.microsoft.com/office/drawing/2014/main" id="{DBC65830-D381-4533-B133-CBCD1EC44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4233" name="Rectangle 11">
                <a:extLst>
                  <a:ext uri="{FF2B5EF4-FFF2-40B4-BE49-F238E27FC236}">
                    <a16:creationId xmlns:a16="http://schemas.microsoft.com/office/drawing/2014/main" id="{EDAFC1AE-5057-4D3C-8E90-53B918135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4234" name="Rectangle 12">
                <a:extLst>
                  <a:ext uri="{FF2B5EF4-FFF2-40B4-BE49-F238E27FC236}">
                    <a16:creationId xmlns:a16="http://schemas.microsoft.com/office/drawing/2014/main" id="{1D59BD9D-E791-4C26-B8F5-CDE259237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sp>
          <p:nvSpPr>
            <p:cNvPr id="94232" name="Line 13">
              <a:extLst>
                <a:ext uri="{FF2B5EF4-FFF2-40B4-BE49-F238E27FC236}">
                  <a16:creationId xmlns:a16="http://schemas.microsoft.com/office/drawing/2014/main" id="{5A9482B9-6DA9-4218-9753-FDC70486D8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4216" name="Text Box 14">
            <a:extLst>
              <a:ext uri="{FF2B5EF4-FFF2-40B4-BE49-F238E27FC236}">
                <a16:creationId xmlns:a16="http://schemas.microsoft.com/office/drawing/2014/main" id="{B6BF351A-A5A1-4D2F-9653-B6FEF2D62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463" y="4757738"/>
            <a:ext cx="73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NULL</a:t>
            </a:r>
          </a:p>
        </p:txBody>
      </p:sp>
      <p:grpSp>
        <p:nvGrpSpPr>
          <p:cNvPr id="94217" name="Group 17">
            <a:extLst>
              <a:ext uri="{FF2B5EF4-FFF2-40B4-BE49-F238E27FC236}">
                <a16:creationId xmlns:a16="http://schemas.microsoft.com/office/drawing/2014/main" id="{A7F3979E-5233-42AA-87CA-EDBF82787EE3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5365750"/>
            <a:ext cx="1506537" cy="382588"/>
            <a:chOff x="821" y="1997"/>
            <a:chExt cx="949" cy="241"/>
          </a:xfrm>
        </p:grpSpPr>
        <p:grpSp>
          <p:nvGrpSpPr>
            <p:cNvPr id="94227" name="Group 18">
              <a:extLst>
                <a:ext uri="{FF2B5EF4-FFF2-40B4-BE49-F238E27FC236}">
                  <a16:creationId xmlns:a16="http://schemas.microsoft.com/office/drawing/2014/main" id="{63BE5671-0642-4958-A457-639B422FC0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4229" name="Rectangle 19">
                <a:extLst>
                  <a:ext uri="{FF2B5EF4-FFF2-40B4-BE49-F238E27FC236}">
                    <a16:creationId xmlns:a16="http://schemas.microsoft.com/office/drawing/2014/main" id="{EA78FFC1-A83C-402C-BBF9-D45BD9480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4230" name="Rectangle 20">
                <a:extLst>
                  <a:ext uri="{FF2B5EF4-FFF2-40B4-BE49-F238E27FC236}">
                    <a16:creationId xmlns:a16="http://schemas.microsoft.com/office/drawing/2014/main" id="{F0851663-AA74-4C9E-942B-A98D788D4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94228" name="Line 21">
              <a:extLst>
                <a:ext uri="{FF2B5EF4-FFF2-40B4-BE49-F238E27FC236}">
                  <a16:creationId xmlns:a16="http://schemas.microsoft.com/office/drawing/2014/main" id="{0BEEB951-6249-463D-B073-072D49DBA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4220" name="Line 24">
            <a:extLst>
              <a:ext uri="{FF2B5EF4-FFF2-40B4-BE49-F238E27FC236}">
                <a16:creationId xmlns:a16="http://schemas.microsoft.com/office/drawing/2014/main" id="{69D0654B-0C48-409A-9C60-21E2214A4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0000" y="4927600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4221" name="Group 25">
            <a:extLst>
              <a:ext uri="{FF2B5EF4-FFF2-40B4-BE49-F238E27FC236}">
                <a16:creationId xmlns:a16="http://schemas.microsoft.com/office/drawing/2014/main" id="{99E50D86-256E-4A10-AA1A-95128A61A70E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4711700"/>
            <a:ext cx="1506538" cy="382588"/>
            <a:chOff x="821" y="1997"/>
            <a:chExt cx="949" cy="241"/>
          </a:xfrm>
        </p:grpSpPr>
        <p:grpSp>
          <p:nvGrpSpPr>
            <p:cNvPr id="94223" name="Group 26">
              <a:extLst>
                <a:ext uri="{FF2B5EF4-FFF2-40B4-BE49-F238E27FC236}">
                  <a16:creationId xmlns:a16="http://schemas.microsoft.com/office/drawing/2014/main" id="{D177010A-EFFB-47E4-AEB1-F6CE80A5A0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4225" name="Rectangle 27">
                <a:extLst>
                  <a:ext uri="{FF2B5EF4-FFF2-40B4-BE49-F238E27FC236}">
                    <a16:creationId xmlns:a16="http://schemas.microsoft.com/office/drawing/2014/main" id="{CBC5329B-401D-4879-8E1D-58FB16B5A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4226" name="Rectangle 28">
                <a:extLst>
                  <a:ext uri="{FF2B5EF4-FFF2-40B4-BE49-F238E27FC236}">
                    <a16:creationId xmlns:a16="http://schemas.microsoft.com/office/drawing/2014/main" id="{4CA2B997-D167-4553-B6A3-9EDA25EA1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94224" name="Line 29">
              <a:extLst>
                <a:ext uri="{FF2B5EF4-FFF2-40B4-BE49-F238E27FC236}">
                  <a16:creationId xmlns:a16="http://schemas.microsoft.com/office/drawing/2014/main" id="{6D7623FC-E256-4E9C-8861-6EA2E5DC8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4222" name="Text Box 30">
            <a:extLst>
              <a:ext uri="{FF2B5EF4-FFF2-40B4-BE49-F238E27FC236}">
                <a16:creationId xmlns:a16="http://schemas.microsoft.com/office/drawing/2014/main" id="{A9C0CF6D-AAFF-47EC-BE63-0C59BDD30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55" y="5684731"/>
            <a:ext cx="748919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einfuegenDavorInListe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(zahlenliste,2,19) 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2AD61BA-A0F1-4824-9EC5-BF23A9513580}"/>
              </a:ext>
            </a:extLst>
          </p:cNvPr>
          <p:cNvSpPr txBox="1"/>
          <p:nvPr/>
        </p:nvSpPr>
        <p:spPr>
          <a:xfrm>
            <a:off x="325755" y="5932495"/>
            <a:ext cx="7673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Bemerkung: wenn die </a:t>
            </a:r>
            <a:r>
              <a:rPr lang="de-DE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  <a:r>
              <a:rPr 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 größer ist, als die Liste lang, passiert leider nichts. Das müsste man noch programmieren.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EE6245F-C5E1-4FD9-B75D-3DF1E7370432}"/>
              </a:ext>
            </a:extLst>
          </p:cNvPr>
          <p:cNvSpPr txBox="1"/>
          <p:nvPr/>
        </p:nvSpPr>
        <p:spPr>
          <a:xfrm>
            <a:off x="315912" y="441588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  <p:extLst>
      <p:ext uri="{BB962C8B-B14F-4D97-AF65-F5344CB8AC3E}">
        <p14:creationId xmlns:p14="http://schemas.microsoft.com/office/powerpoint/2010/main" val="29389864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liennummernplatzhalter 3">
            <a:extLst>
              <a:ext uri="{FF2B5EF4-FFF2-40B4-BE49-F238E27FC236}">
                <a16:creationId xmlns:a16="http://schemas.microsoft.com/office/drawing/2014/main" id="{152C709D-59FC-45CE-9C9C-5E9742FA4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A2B207-C2CC-43B8-ACC4-6C14F6E93E49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de-DE" altLang="de-DE" sz="14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B0884114-DC8E-481E-85B7-DE5CFCC34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Liste: Einfügen </a:t>
            </a:r>
            <a:r>
              <a:rPr lang="de-DE" altLang="de-DE" sz="2800" dirty="0">
                <a:latin typeface="Calibri" panose="020F0502020204030204" pitchFamily="34" charset="0"/>
                <a:cs typeface="Calibri" panose="020F0502020204030204" pitchFamily="34" charset="0"/>
              </a:rPr>
              <a:t>(davor)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- Datenteil füllen</a:t>
            </a:r>
          </a:p>
        </p:txBody>
      </p:sp>
      <p:sp>
        <p:nvSpPr>
          <p:cNvPr id="96260" name="Text Box 4">
            <a:extLst>
              <a:ext uri="{FF2B5EF4-FFF2-40B4-BE49-F238E27FC236}">
                <a16:creationId xmlns:a16="http://schemas.microsoft.com/office/drawing/2014/main" id="{2E031B09-C833-47F8-8A23-473042195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1" y="907206"/>
            <a:ext cx="8367100" cy="32932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einfuegenDavorInListe</a:t>
            </a:r>
            <a:r>
              <a:rPr lang="de-DE" alt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*liste,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2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i=1;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400" b="1" dirty="0">
                <a:latin typeface="Courier New" panose="02070309020205020404" pitchFamily="49" charset="0"/>
              </a:rPr>
              <a:t> 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400" b="1" dirty="0">
                <a:latin typeface="Courier New" panose="02070309020205020404" pitchFamily="49" charset="0"/>
              </a:rPr>
              <a:t>(i ==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=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-&gt;wert=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neuerWert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liste=liste-&gt;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  <a:endParaRPr lang="de-DE" altLang="de-DE" sz="1800" b="1" dirty="0">
              <a:latin typeface="Courier New" panose="02070309020205020404" pitchFamily="49" charset="0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B5758B5-3790-4F24-8115-1D375F1E5D0F}"/>
              </a:ext>
            </a:extLst>
          </p:cNvPr>
          <p:cNvGrpSpPr/>
          <p:nvPr/>
        </p:nvGrpSpPr>
        <p:grpSpPr>
          <a:xfrm>
            <a:off x="1193800" y="4560888"/>
            <a:ext cx="5784850" cy="1052512"/>
            <a:chOff x="1143000" y="4916488"/>
            <a:chExt cx="5784850" cy="1052512"/>
          </a:xfrm>
        </p:grpSpPr>
        <p:grpSp>
          <p:nvGrpSpPr>
            <p:cNvPr id="96261" name="Group 5">
              <a:extLst>
                <a:ext uri="{FF2B5EF4-FFF2-40B4-BE49-F238E27FC236}">
                  <a16:creationId xmlns:a16="http://schemas.microsoft.com/office/drawing/2014/main" id="{138C79FD-05CE-4BE3-B4E4-E04D4EFEE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6900" y="4916488"/>
              <a:ext cx="1163638" cy="382587"/>
              <a:chOff x="912" y="2052"/>
              <a:chExt cx="733" cy="241"/>
            </a:xfrm>
          </p:grpSpPr>
          <p:sp>
            <p:nvSpPr>
              <p:cNvPr id="96283" name="Rectangle 6">
                <a:extLst>
                  <a:ext uri="{FF2B5EF4-FFF2-40B4-BE49-F238E27FC236}">
                    <a16:creationId xmlns:a16="http://schemas.microsoft.com/office/drawing/2014/main" id="{EAED5D79-5823-48EB-A89B-C751D3A9E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6284" name="Rectangle 7">
                <a:extLst>
                  <a:ext uri="{FF2B5EF4-FFF2-40B4-BE49-F238E27FC236}">
                    <a16:creationId xmlns:a16="http://schemas.microsoft.com/office/drawing/2014/main" id="{87100CC6-708A-4F66-8BBB-946097EED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1</a:t>
                </a:r>
              </a:p>
            </p:txBody>
          </p:sp>
        </p:grpSp>
        <p:sp>
          <p:nvSpPr>
            <p:cNvPr id="96262" name="Line 8">
              <a:extLst>
                <a:ext uri="{FF2B5EF4-FFF2-40B4-BE49-F238E27FC236}">
                  <a16:creationId xmlns:a16="http://schemas.microsoft.com/office/drawing/2014/main" id="{D9EC010F-4334-4AFB-9D5D-D38715947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900" y="5111750"/>
              <a:ext cx="49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grpSp>
          <p:nvGrpSpPr>
            <p:cNvPr id="96263" name="Group 9">
              <a:extLst>
                <a:ext uri="{FF2B5EF4-FFF2-40B4-BE49-F238E27FC236}">
                  <a16:creationId xmlns:a16="http://schemas.microsoft.com/office/drawing/2014/main" id="{CAD6F903-EB47-4767-88DB-EC5C4F7A7A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3438" y="4916488"/>
              <a:ext cx="1506537" cy="382587"/>
              <a:chOff x="821" y="1997"/>
              <a:chExt cx="949" cy="241"/>
            </a:xfrm>
          </p:grpSpPr>
          <p:grpSp>
            <p:nvGrpSpPr>
              <p:cNvPr id="96279" name="Group 10">
                <a:extLst>
                  <a:ext uri="{FF2B5EF4-FFF2-40B4-BE49-F238E27FC236}">
                    <a16:creationId xmlns:a16="http://schemas.microsoft.com/office/drawing/2014/main" id="{B51D9346-5253-42BB-B771-85BB19C419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96281" name="Rectangle 11">
                  <a:extLst>
                    <a:ext uri="{FF2B5EF4-FFF2-40B4-BE49-F238E27FC236}">
                      <a16:creationId xmlns:a16="http://schemas.microsoft.com/office/drawing/2014/main" id="{CB10B3EB-7D0A-439E-8D5D-E2267444D2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96282" name="Rectangle 12">
                  <a:extLst>
                    <a:ext uri="{FF2B5EF4-FFF2-40B4-BE49-F238E27FC236}">
                      <a16:creationId xmlns:a16="http://schemas.microsoft.com/office/drawing/2014/main" id="{5118C81F-421E-4A40-8401-3BEACEB802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</p:grpSp>
          <p:sp>
            <p:nvSpPr>
              <p:cNvPr id="96280" name="Line 13">
                <a:extLst>
                  <a:ext uri="{FF2B5EF4-FFF2-40B4-BE49-F238E27FC236}">
                    <a16:creationId xmlns:a16="http://schemas.microsoft.com/office/drawing/2014/main" id="{E53E4975-EEFA-46D4-A1B9-23BE4378DF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96264" name="Text Box 14">
              <a:extLst>
                <a:ext uri="{FF2B5EF4-FFF2-40B4-BE49-F238E27FC236}">
                  <a16:creationId xmlns:a16="http://schemas.microsoft.com/office/drawing/2014/main" id="{89E1B5CE-0909-4909-8457-E6E1F8267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7600" y="49545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latin typeface="Courier New" panose="02070309020205020404" pitchFamily="49" charset="0"/>
                </a:rPr>
                <a:t>NULL</a:t>
              </a:r>
            </a:p>
          </p:txBody>
        </p:sp>
        <p:grpSp>
          <p:nvGrpSpPr>
            <p:cNvPr id="96265" name="Group 17">
              <a:extLst>
                <a:ext uri="{FF2B5EF4-FFF2-40B4-BE49-F238E27FC236}">
                  <a16:creationId xmlns:a16="http://schemas.microsoft.com/office/drawing/2014/main" id="{8C019D61-2715-4063-92F2-294CD9A90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5075" y="5586413"/>
              <a:ext cx="1506538" cy="382587"/>
              <a:chOff x="821" y="1997"/>
              <a:chExt cx="949" cy="241"/>
            </a:xfrm>
          </p:grpSpPr>
          <p:grpSp>
            <p:nvGrpSpPr>
              <p:cNvPr id="96275" name="Group 18">
                <a:extLst>
                  <a:ext uri="{FF2B5EF4-FFF2-40B4-BE49-F238E27FC236}">
                    <a16:creationId xmlns:a16="http://schemas.microsoft.com/office/drawing/2014/main" id="{AC6D54A6-F255-42FC-A06D-F78D3A4712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96277" name="Rectangle 19">
                  <a:extLst>
                    <a:ext uri="{FF2B5EF4-FFF2-40B4-BE49-F238E27FC236}">
                      <a16:creationId xmlns:a16="http://schemas.microsoft.com/office/drawing/2014/main" id="{7EBC8F49-F689-4DD7-B976-3F81BB9500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96278" name="Rectangle 20">
                  <a:extLst>
                    <a:ext uri="{FF2B5EF4-FFF2-40B4-BE49-F238E27FC236}">
                      <a16:creationId xmlns:a16="http://schemas.microsoft.com/office/drawing/2014/main" id="{65F11DC5-7F1F-4C66-8811-A18E1CF349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 dirty="0">
                      <a:solidFill>
                        <a:srgbClr val="FF0000"/>
                      </a:solidFill>
                      <a:latin typeface="Courier New" panose="02070309020205020404" pitchFamily="49" charset="0"/>
                    </a:rPr>
                    <a:t>19</a:t>
                  </a:r>
                </a:p>
              </p:txBody>
            </p:sp>
          </p:grpSp>
          <p:sp>
            <p:nvSpPr>
              <p:cNvPr id="96276" name="Line 21">
                <a:extLst>
                  <a:ext uri="{FF2B5EF4-FFF2-40B4-BE49-F238E27FC236}">
                    <a16:creationId xmlns:a16="http://schemas.microsoft.com/office/drawing/2014/main" id="{E3B5673E-DC89-4B9A-BA7C-6C091297C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96266" name="Line 23">
              <a:extLst>
                <a:ext uri="{FF2B5EF4-FFF2-40B4-BE49-F238E27FC236}">
                  <a16:creationId xmlns:a16="http://schemas.microsoft.com/office/drawing/2014/main" id="{66445C61-8E21-47FC-8408-B39E23FBD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5114925"/>
              <a:ext cx="49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grpSp>
          <p:nvGrpSpPr>
            <p:cNvPr id="96267" name="Group 24">
              <a:extLst>
                <a:ext uri="{FF2B5EF4-FFF2-40B4-BE49-F238E27FC236}">
                  <a16:creationId xmlns:a16="http://schemas.microsoft.com/office/drawing/2014/main" id="{F343F1AC-DA8C-4BCC-85EB-9CB593B160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7825" y="4924425"/>
              <a:ext cx="1506538" cy="382588"/>
              <a:chOff x="821" y="1997"/>
              <a:chExt cx="949" cy="241"/>
            </a:xfrm>
          </p:grpSpPr>
          <p:grpSp>
            <p:nvGrpSpPr>
              <p:cNvPr id="96271" name="Group 25">
                <a:extLst>
                  <a:ext uri="{FF2B5EF4-FFF2-40B4-BE49-F238E27FC236}">
                    <a16:creationId xmlns:a16="http://schemas.microsoft.com/office/drawing/2014/main" id="{F1396A3D-A62E-4EBB-A33A-D97280CC4D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96273" name="Rectangle 26">
                  <a:extLst>
                    <a:ext uri="{FF2B5EF4-FFF2-40B4-BE49-F238E27FC236}">
                      <a16:creationId xmlns:a16="http://schemas.microsoft.com/office/drawing/2014/main" id="{411A0636-6A01-4C29-9C56-519994A148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96274" name="Rectangle 27">
                  <a:extLst>
                    <a:ext uri="{FF2B5EF4-FFF2-40B4-BE49-F238E27FC236}">
                      <a16:creationId xmlns:a16="http://schemas.microsoft.com/office/drawing/2014/main" id="{2DFE8119-5855-4A4B-B19D-9043553F1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>
                      <a:latin typeface="Courier New" panose="02070309020205020404" pitchFamily="49" charset="0"/>
                    </a:rPr>
                    <a:t>0</a:t>
                  </a:r>
                </a:p>
              </p:txBody>
            </p:sp>
          </p:grpSp>
          <p:sp>
            <p:nvSpPr>
              <p:cNvPr id="96272" name="Line 28">
                <a:extLst>
                  <a:ext uri="{FF2B5EF4-FFF2-40B4-BE49-F238E27FC236}">
                    <a16:creationId xmlns:a16="http://schemas.microsoft.com/office/drawing/2014/main" id="{C3D58E68-64BF-4B64-99A6-9B27B4EF8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</p:grpSp>
      <p:sp>
        <p:nvSpPr>
          <p:cNvPr id="96268" name="Text Box 29">
            <a:extLst>
              <a:ext uri="{FF2B5EF4-FFF2-40B4-BE49-F238E27FC236}">
                <a16:creationId xmlns:a16="http://schemas.microsoft.com/office/drawing/2014/main" id="{A285E831-D7D0-4A18-B4A3-876E411AA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608" y="5613400"/>
            <a:ext cx="64267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einfuegenDavorInListe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(zahlenliste,2,19)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3D9526A-B138-4F0E-8956-66ACCBEF5681}"/>
              </a:ext>
            </a:extLst>
          </p:cNvPr>
          <p:cNvSpPr txBox="1"/>
          <p:nvPr/>
        </p:nvSpPr>
        <p:spPr>
          <a:xfrm>
            <a:off x="315521" y="421367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  <p:extLst>
      <p:ext uri="{BB962C8B-B14F-4D97-AF65-F5344CB8AC3E}">
        <p14:creationId xmlns:p14="http://schemas.microsoft.com/office/powerpoint/2010/main" val="39735903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liennummernplatzhalter 3">
            <a:extLst>
              <a:ext uri="{FF2B5EF4-FFF2-40B4-BE49-F238E27FC236}">
                <a16:creationId xmlns:a16="http://schemas.microsoft.com/office/drawing/2014/main" id="{CBE130B1-8637-4079-A2D1-387A6524E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74910" y="6427787"/>
            <a:ext cx="2001838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de-DE" sz="1400" dirty="0"/>
              <a:t>52</a:t>
            </a: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05D7B010-2A33-49C3-98F2-985A5A3EF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Liste: Einfügen </a:t>
            </a:r>
            <a:r>
              <a:rPr lang="de-DE" altLang="de-DE" sz="2800" dirty="0">
                <a:latin typeface="Calibri" panose="020F0502020204030204" pitchFamily="34" charset="0"/>
                <a:cs typeface="Calibri" panose="020F0502020204030204" pitchFamily="34" charset="0"/>
              </a:rPr>
              <a:t>(davor) 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- Zeiger auf Nachfolger</a:t>
            </a:r>
          </a:p>
        </p:txBody>
      </p:sp>
      <p:sp>
        <p:nvSpPr>
          <p:cNvPr id="98308" name="Text Box 4">
            <a:extLst>
              <a:ext uri="{FF2B5EF4-FFF2-40B4-BE49-F238E27FC236}">
                <a16:creationId xmlns:a16="http://schemas.microsoft.com/office/drawing/2014/main" id="{63AAC6B4-1421-4DB1-BB2E-CAC9E8BA6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927100"/>
            <a:ext cx="8950325" cy="32932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einfuegenDavorInListe</a:t>
            </a:r>
            <a:r>
              <a:rPr lang="de-DE" altLang="de-DE" sz="1200" b="1" dirty="0">
                <a:latin typeface="Courier New" panose="02070309020205020404" pitchFamily="49" charset="0"/>
              </a:rPr>
              <a:t>(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*liste,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2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*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i=1;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400" b="1" dirty="0">
                <a:latin typeface="Courier New" panose="02070309020205020404" pitchFamily="49" charset="0"/>
              </a:rPr>
              <a:t> 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400" b="1" dirty="0">
                <a:latin typeface="Courier New" panose="02070309020205020404" pitchFamily="49" charset="0"/>
              </a:rPr>
              <a:t>(i ==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-&gt;wert=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-&gt;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= liste-&gt;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liste=liste-&gt;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98309" name="Group 5">
            <a:extLst>
              <a:ext uri="{FF2B5EF4-FFF2-40B4-BE49-F238E27FC236}">
                <a16:creationId xmlns:a16="http://schemas.microsoft.com/office/drawing/2014/main" id="{5522C300-46F2-43A1-9019-609335FA2345}"/>
              </a:ext>
            </a:extLst>
          </p:cNvPr>
          <p:cNvGrpSpPr>
            <a:grpSpLocks/>
          </p:cNvGrpSpPr>
          <p:nvPr/>
        </p:nvGrpSpPr>
        <p:grpSpPr bwMode="auto">
          <a:xfrm>
            <a:off x="3368675" y="4630738"/>
            <a:ext cx="1163638" cy="382587"/>
            <a:chOff x="912" y="2052"/>
            <a:chExt cx="733" cy="241"/>
          </a:xfrm>
        </p:grpSpPr>
        <p:sp>
          <p:nvSpPr>
            <p:cNvPr id="98330" name="Rectangle 6">
              <a:extLst>
                <a:ext uri="{FF2B5EF4-FFF2-40B4-BE49-F238E27FC236}">
                  <a16:creationId xmlns:a16="http://schemas.microsoft.com/office/drawing/2014/main" id="{0C37BC4C-439A-4482-AF71-D04A30693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98331" name="Rectangle 7">
              <a:extLst>
                <a:ext uri="{FF2B5EF4-FFF2-40B4-BE49-F238E27FC236}">
                  <a16:creationId xmlns:a16="http://schemas.microsoft.com/office/drawing/2014/main" id="{4166D44C-0C92-46D6-85D6-AD148CDC8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chemeClr val="accent2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98310" name="Line 8">
            <a:extLst>
              <a:ext uri="{FF2B5EF4-FFF2-40B4-BE49-F238E27FC236}">
                <a16:creationId xmlns:a16="http://schemas.microsoft.com/office/drawing/2014/main" id="{FD9564C7-6E93-4F7F-94D5-52EC3B8851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4675" y="4826000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8311" name="Group 9">
            <a:extLst>
              <a:ext uri="{FF2B5EF4-FFF2-40B4-BE49-F238E27FC236}">
                <a16:creationId xmlns:a16="http://schemas.microsoft.com/office/drawing/2014/main" id="{B42E2362-3D05-4309-8C9E-18DF3CDA71BA}"/>
              </a:ext>
            </a:extLst>
          </p:cNvPr>
          <p:cNvGrpSpPr>
            <a:grpSpLocks/>
          </p:cNvGrpSpPr>
          <p:nvPr/>
        </p:nvGrpSpPr>
        <p:grpSpPr bwMode="auto">
          <a:xfrm>
            <a:off x="4875213" y="4630738"/>
            <a:ext cx="1506537" cy="382587"/>
            <a:chOff x="821" y="1997"/>
            <a:chExt cx="949" cy="241"/>
          </a:xfrm>
        </p:grpSpPr>
        <p:grpSp>
          <p:nvGrpSpPr>
            <p:cNvPr id="98326" name="Group 10">
              <a:extLst>
                <a:ext uri="{FF2B5EF4-FFF2-40B4-BE49-F238E27FC236}">
                  <a16:creationId xmlns:a16="http://schemas.microsoft.com/office/drawing/2014/main" id="{9F1D1B99-498B-46E4-9BDC-039076810B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8328" name="Rectangle 11">
                <a:extLst>
                  <a:ext uri="{FF2B5EF4-FFF2-40B4-BE49-F238E27FC236}">
                    <a16:creationId xmlns:a16="http://schemas.microsoft.com/office/drawing/2014/main" id="{817C9C3A-831E-4850-AEE8-4F8C7A56F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8329" name="Rectangle 12">
                <a:extLst>
                  <a:ext uri="{FF2B5EF4-FFF2-40B4-BE49-F238E27FC236}">
                    <a16:creationId xmlns:a16="http://schemas.microsoft.com/office/drawing/2014/main" id="{2C4B7434-B303-460E-8F6E-BBAEC7FC04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sp>
          <p:nvSpPr>
            <p:cNvPr id="98327" name="Line 13">
              <a:extLst>
                <a:ext uri="{FF2B5EF4-FFF2-40B4-BE49-F238E27FC236}">
                  <a16:creationId xmlns:a16="http://schemas.microsoft.com/office/drawing/2014/main" id="{439A5F7F-DC2E-4653-9D60-98BCA70EB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8312" name="Text Box 14">
            <a:extLst>
              <a:ext uri="{FF2B5EF4-FFF2-40B4-BE49-F238E27FC236}">
                <a16:creationId xmlns:a16="http://schemas.microsoft.com/office/drawing/2014/main" id="{073D7897-B0F9-4CB3-9194-518614F1F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4668838"/>
            <a:ext cx="73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NULL</a:t>
            </a:r>
          </a:p>
        </p:txBody>
      </p:sp>
      <p:grpSp>
        <p:nvGrpSpPr>
          <p:cNvPr id="98313" name="Group 17">
            <a:extLst>
              <a:ext uri="{FF2B5EF4-FFF2-40B4-BE49-F238E27FC236}">
                <a16:creationId xmlns:a16="http://schemas.microsoft.com/office/drawing/2014/main" id="{B8749848-F25B-4D6C-89E4-684130E40D18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5456238"/>
            <a:ext cx="1163637" cy="382587"/>
            <a:chOff x="912" y="2052"/>
            <a:chExt cx="733" cy="241"/>
          </a:xfrm>
        </p:grpSpPr>
        <p:sp>
          <p:nvSpPr>
            <p:cNvPr id="98324" name="Rectangle 18">
              <a:extLst>
                <a:ext uri="{FF2B5EF4-FFF2-40B4-BE49-F238E27FC236}">
                  <a16:creationId xmlns:a16="http://schemas.microsoft.com/office/drawing/2014/main" id="{74B27873-B59A-4AFE-8C53-D8471C44C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98325" name="Rectangle 19">
              <a:extLst>
                <a:ext uri="{FF2B5EF4-FFF2-40B4-BE49-F238E27FC236}">
                  <a16:creationId xmlns:a16="http://schemas.microsoft.com/office/drawing/2014/main" id="{E7561D08-9C51-4302-B8F7-CF8AD6126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19</a:t>
              </a:r>
            </a:p>
          </p:txBody>
        </p:sp>
      </p:grpSp>
      <p:sp>
        <p:nvSpPr>
          <p:cNvPr id="98314" name="Line 20">
            <a:extLst>
              <a:ext uri="{FF2B5EF4-FFF2-40B4-BE49-F238E27FC236}">
                <a16:creationId xmlns:a16="http://schemas.microsoft.com/office/drawing/2014/main" id="{C00A5B65-C6EE-40BE-9C64-23B1474BBD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11738" y="5016500"/>
            <a:ext cx="0" cy="635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98315" name="Line 21">
            <a:extLst>
              <a:ext uri="{FF2B5EF4-FFF2-40B4-BE49-F238E27FC236}">
                <a16:creationId xmlns:a16="http://schemas.microsoft.com/office/drawing/2014/main" id="{644711D0-B85A-42B9-A9F6-CEB782912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6200" y="4813300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98316" name="Group 22">
            <a:extLst>
              <a:ext uri="{FF2B5EF4-FFF2-40B4-BE49-F238E27FC236}">
                <a16:creationId xmlns:a16="http://schemas.microsoft.com/office/drawing/2014/main" id="{18DDBA88-A86E-430C-BEF9-81A2B03BC130}"/>
              </a:ext>
            </a:extLst>
          </p:cNvPr>
          <p:cNvGrpSpPr>
            <a:grpSpLocks/>
          </p:cNvGrpSpPr>
          <p:nvPr/>
        </p:nvGrpSpPr>
        <p:grpSpPr bwMode="auto">
          <a:xfrm>
            <a:off x="1876425" y="4635500"/>
            <a:ext cx="1506538" cy="382588"/>
            <a:chOff x="821" y="1997"/>
            <a:chExt cx="949" cy="241"/>
          </a:xfrm>
        </p:grpSpPr>
        <p:grpSp>
          <p:nvGrpSpPr>
            <p:cNvPr id="98320" name="Group 23">
              <a:extLst>
                <a:ext uri="{FF2B5EF4-FFF2-40B4-BE49-F238E27FC236}">
                  <a16:creationId xmlns:a16="http://schemas.microsoft.com/office/drawing/2014/main" id="{DEDAB3B9-2CFB-4221-BD57-BDB8BFFFA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98322" name="Rectangle 24">
                <a:extLst>
                  <a:ext uri="{FF2B5EF4-FFF2-40B4-BE49-F238E27FC236}">
                    <a16:creationId xmlns:a16="http://schemas.microsoft.com/office/drawing/2014/main" id="{3E82A388-14CD-48C4-ADFD-D5C3805AD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98323" name="Rectangle 25">
                <a:extLst>
                  <a:ext uri="{FF2B5EF4-FFF2-40B4-BE49-F238E27FC236}">
                    <a16:creationId xmlns:a16="http://schemas.microsoft.com/office/drawing/2014/main" id="{85B6FCCD-8EBD-4879-B269-79FE98041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98321" name="Line 26">
              <a:extLst>
                <a:ext uri="{FF2B5EF4-FFF2-40B4-BE49-F238E27FC236}">
                  <a16:creationId xmlns:a16="http://schemas.microsoft.com/office/drawing/2014/main" id="{787BB4A4-8751-4EBE-A7E7-A26C7AEAB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8" name="Text Box 29">
            <a:extLst>
              <a:ext uri="{FF2B5EF4-FFF2-40B4-BE49-F238E27FC236}">
                <a16:creationId xmlns:a16="http://schemas.microsoft.com/office/drawing/2014/main" id="{3666B486-4103-4B53-82EB-8443C7B7E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8" y="5836920"/>
            <a:ext cx="64267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einfuegenDavorInListe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(zahlenliste,2,19)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3D8DE2D-6958-4418-B161-973B8F6B40DC}"/>
              </a:ext>
            </a:extLst>
          </p:cNvPr>
          <p:cNvSpPr txBox="1"/>
          <p:nvPr/>
        </p:nvSpPr>
        <p:spPr>
          <a:xfrm>
            <a:off x="249835" y="4230767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  <p:extLst>
      <p:ext uri="{BB962C8B-B14F-4D97-AF65-F5344CB8AC3E}">
        <p14:creationId xmlns:p14="http://schemas.microsoft.com/office/powerpoint/2010/main" val="7569527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liennummernplatzhalter 3">
            <a:extLst>
              <a:ext uri="{FF2B5EF4-FFF2-40B4-BE49-F238E27FC236}">
                <a16:creationId xmlns:a16="http://schemas.microsoft.com/office/drawing/2014/main" id="{567A3FE2-7B82-47D6-91AB-66A1EFE8C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6F6CF8-08DA-4B85-879E-1CD5D318C38A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de-DE" altLang="de-DE" sz="1400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63476701-EC53-46C3-BC0D-8D1C89511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700" y="260350"/>
            <a:ext cx="8890000" cy="633413"/>
          </a:xfrm>
        </p:spPr>
        <p:txBody>
          <a:bodyPr/>
          <a:lstStyle/>
          <a:p>
            <a:pPr eaLnBrk="1" hangingPunct="1"/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Liste: Einfügen </a:t>
            </a:r>
            <a:r>
              <a:rPr lang="de-DE" altLang="de-DE" sz="2400" dirty="0">
                <a:latin typeface="Calibri" panose="020F0502020204030204" pitchFamily="34" charset="0"/>
                <a:cs typeface="Calibri" panose="020F0502020204030204" pitchFamily="34" charset="0"/>
              </a:rPr>
              <a:t>(davor) 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- Setzen des neuen Nachfolgers</a:t>
            </a:r>
          </a:p>
        </p:txBody>
      </p:sp>
      <p:sp>
        <p:nvSpPr>
          <p:cNvPr id="100356" name="Text Box 4">
            <a:extLst>
              <a:ext uri="{FF2B5EF4-FFF2-40B4-BE49-F238E27FC236}">
                <a16:creationId xmlns:a16="http://schemas.microsoft.com/office/drawing/2014/main" id="{9391E651-0809-4652-9FCE-C16E6437A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8" y="954088"/>
            <a:ext cx="9085262" cy="32624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einfuegenDavorInListe</a:t>
            </a:r>
            <a:r>
              <a:rPr lang="de-DE" altLang="de-DE" sz="1200" b="1" dirty="0">
                <a:latin typeface="Courier New" panose="02070309020205020404" pitchFamily="49" charset="0"/>
              </a:rPr>
              <a:t>(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*liste,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2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200" b="1" dirty="0">
                <a:latin typeface="Courier New" panose="02070309020205020404" pitchFamily="49" charset="0"/>
              </a:rPr>
              <a:t> *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200" b="1" dirty="0">
                <a:latin typeface="Courier New" panose="02070309020205020404" pitchFamily="49" charset="0"/>
              </a:rPr>
              <a:t>;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i=1;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400" b="1" dirty="0">
                <a:latin typeface="Courier New" panose="02070309020205020404" pitchFamily="49" charset="0"/>
              </a:rPr>
              <a:t> 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400" b="1" dirty="0">
                <a:latin typeface="Courier New" panose="02070309020205020404" pitchFamily="49" charset="0"/>
              </a:rPr>
              <a:t>(i ==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malloc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sizeof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en-US" altLang="de-DE" sz="1400" b="1" dirty="0">
                <a:latin typeface="Courier New" panose="02070309020205020404" pitchFamily="49" charset="0"/>
              </a:rPr>
              <a:t>struct </a:t>
            </a:r>
            <a:r>
              <a:rPr lang="en-US" altLang="de-DE" sz="1400" b="1" dirty="0" err="1">
                <a:latin typeface="Courier New" panose="02070309020205020404" pitchFamily="49" charset="0"/>
              </a:rPr>
              <a:t>Listenelement</a:t>
            </a:r>
            <a:r>
              <a:rPr lang="de-DE" altLang="de-DE" sz="1400" b="1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-&gt;wert=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neuerWert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latin typeface="Courier New" panose="02070309020205020404" pitchFamily="49" charset="0"/>
              </a:rPr>
              <a:t>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 =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    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liste-&gt;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=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neuesElement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liste=liste-&gt;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  <a:endParaRPr lang="de-DE" altLang="de-DE" sz="1800" b="1" dirty="0">
              <a:latin typeface="Courier New" panose="02070309020205020404" pitchFamily="49" charset="0"/>
            </a:endParaRPr>
          </a:p>
        </p:txBody>
      </p:sp>
      <p:grpSp>
        <p:nvGrpSpPr>
          <p:cNvPr id="100357" name="Group 5">
            <a:extLst>
              <a:ext uri="{FF2B5EF4-FFF2-40B4-BE49-F238E27FC236}">
                <a16:creationId xmlns:a16="http://schemas.microsoft.com/office/drawing/2014/main" id="{A50160E7-9840-484C-8B9D-EA89FCBF4B2E}"/>
              </a:ext>
            </a:extLst>
          </p:cNvPr>
          <p:cNvGrpSpPr>
            <a:grpSpLocks/>
          </p:cNvGrpSpPr>
          <p:nvPr/>
        </p:nvGrpSpPr>
        <p:grpSpPr bwMode="auto">
          <a:xfrm>
            <a:off x="3294063" y="4568825"/>
            <a:ext cx="1163637" cy="382588"/>
            <a:chOff x="912" y="2052"/>
            <a:chExt cx="733" cy="241"/>
          </a:xfrm>
        </p:grpSpPr>
        <p:sp>
          <p:nvSpPr>
            <p:cNvPr id="100378" name="Rectangle 6">
              <a:extLst>
                <a:ext uri="{FF2B5EF4-FFF2-40B4-BE49-F238E27FC236}">
                  <a16:creationId xmlns:a16="http://schemas.microsoft.com/office/drawing/2014/main" id="{5FEE7C5F-46D5-454A-9602-208AC4DA7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100379" name="Rectangle 7">
              <a:extLst>
                <a:ext uri="{FF2B5EF4-FFF2-40B4-BE49-F238E27FC236}">
                  <a16:creationId xmlns:a16="http://schemas.microsoft.com/office/drawing/2014/main" id="{9D1108AD-9B36-4A57-BC58-FE538B520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solidFill>
                    <a:schemeClr val="accent2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100358" name="Line 8">
            <a:extLst>
              <a:ext uri="{FF2B5EF4-FFF2-40B4-BE49-F238E27FC236}">
                <a16:creationId xmlns:a16="http://schemas.microsoft.com/office/drawing/2014/main" id="{A7DFD7C9-FD7E-4A16-A181-719F164C94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0063" y="4764088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100359" name="Group 9">
            <a:extLst>
              <a:ext uri="{FF2B5EF4-FFF2-40B4-BE49-F238E27FC236}">
                <a16:creationId xmlns:a16="http://schemas.microsoft.com/office/drawing/2014/main" id="{1570C19E-5642-4EB6-9BD3-FA0333D1086B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568825"/>
            <a:ext cx="1506538" cy="382588"/>
            <a:chOff x="821" y="1997"/>
            <a:chExt cx="949" cy="241"/>
          </a:xfrm>
        </p:grpSpPr>
        <p:grpSp>
          <p:nvGrpSpPr>
            <p:cNvPr id="100374" name="Group 10">
              <a:extLst>
                <a:ext uri="{FF2B5EF4-FFF2-40B4-BE49-F238E27FC236}">
                  <a16:creationId xmlns:a16="http://schemas.microsoft.com/office/drawing/2014/main" id="{44400F33-CCF1-4990-9868-1DFB8604AF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100376" name="Rectangle 11">
                <a:extLst>
                  <a:ext uri="{FF2B5EF4-FFF2-40B4-BE49-F238E27FC236}">
                    <a16:creationId xmlns:a16="http://schemas.microsoft.com/office/drawing/2014/main" id="{E26DBF8C-2D3C-43A9-8903-BCB87C84F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100377" name="Rectangle 12">
                <a:extLst>
                  <a:ext uri="{FF2B5EF4-FFF2-40B4-BE49-F238E27FC236}">
                    <a16:creationId xmlns:a16="http://schemas.microsoft.com/office/drawing/2014/main" id="{4A47A632-ABA1-46F5-915B-8AA343F7E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sp>
          <p:nvSpPr>
            <p:cNvPr id="100375" name="Line 13">
              <a:extLst>
                <a:ext uri="{FF2B5EF4-FFF2-40B4-BE49-F238E27FC236}">
                  <a16:creationId xmlns:a16="http://schemas.microsoft.com/office/drawing/2014/main" id="{BCE5350C-2F86-49B8-993F-C442993D3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100360" name="Text Box 14">
            <a:extLst>
              <a:ext uri="{FF2B5EF4-FFF2-40B4-BE49-F238E27FC236}">
                <a16:creationId xmlns:a16="http://schemas.microsoft.com/office/drawing/2014/main" id="{9583C2CB-AFDF-45A6-B163-53F1ADD25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4606925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DE" altLang="de-DE" sz="1800" b="1">
                <a:latin typeface="Courier New" panose="02070309020205020404" pitchFamily="49" charset="0"/>
              </a:rPr>
              <a:t>NULL</a:t>
            </a:r>
          </a:p>
        </p:txBody>
      </p:sp>
      <p:grpSp>
        <p:nvGrpSpPr>
          <p:cNvPr id="100361" name="Group 17">
            <a:extLst>
              <a:ext uri="{FF2B5EF4-FFF2-40B4-BE49-F238E27FC236}">
                <a16:creationId xmlns:a16="http://schemas.microsoft.com/office/drawing/2014/main" id="{0DC2ADBF-8652-451A-8A06-5041651EE83D}"/>
              </a:ext>
            </a:extLst>
          </p:cNvPr>
          <p:cNvGrpSpPr>
            <a:grpSpLocks/>
          </p:cNvGrpSpPr>
          <p:nvPr/>
        </p:nvGrpSpPr>
        <p:grpSpPr bwMode="auto">
          <a:xfrm>
            <a:off x="3921125" y="5394325"/>
            <a:ext cx="1163638" cy="382588"/>
            <a:chOff x="912" y="2052"/>
            <a:chExt cx="733" cy="241"/>
          </a:xfrm>
        </p:grpSpPr>
        <p:sp>
          <p:nvSpPr>
            <p:cNvPr id="100372" name="Rectangle 18">
              <a:extLst>
                <a:ext uri="{FF2B5EF4-FFF2-40B4-BE49-F238E27FC236}">
                  <a16:creationId xmlns:a16="http://schemas.microsoft.com/office/drawing/2014/main" id="{A8D0E599-8DFF-45BC-9DE3-8B20BA36A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052"/>
              <a:ext cx="71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de-DE" sz="1800"/>
            </a:p>
          </p:txBody>
        </p:sp>
        <p:sp>
          <p:nvSpPr>
            <p:cNvPr id="100373" name="Rectangle 19">
              <a:extLst>
                <a:ext uri="{FF2B5EF4-FFF2-40B4-BE49-F238E27FC236}">
                  <a16:creationId xmlns:a16="http://schemas.microsoft.com/office/drawing/2014/main" id="{A66CAAD7-B4CE-473C-9E83-2B49E567A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52"/>
              <a:ext cx="536" cy="241"/>
            </a:xfrm>
            <a:prstGeom prst="rect">
              <a:avLst/>
            </a:prstGeom>
            <a:solidFill>
              <a:srgbClr val="FFCC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19</a:t>
              </a:r>
            </a:p>
          </p:txBody>
        </p:sp>
      </p:grpSp>
      <p:sp>
        <p:nvSpPr>
          <p:cNvPr id="100362" name="Line 20">
            <a:extLst>
              <a:ext uri="{FF2B5EF4-FFF2-40B4-BE49-F238E27FC236}">
                <a16:creationId xmlns:a16="http://schemas.microsoft.com/office/drawing/2014/main" id="{91E07DF0-2C6C-4EB0-8FC2-9CD25AF105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7125" y="4954588"/>
            <a:ext cx="0" cy="63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0363" name="Line 21">
            <a:extLst>
              <a:ext uri="{FF2B5EF4-FFF2-40B4-BE49-F238E27FC236}">
                <a16:creationId xmlns:a16="http://schemas.microsoft.com/office/drawing/2014/main" id="{BAEB2CA5-852B-44F4-A36A-DBE422880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7775" y="4756150"/>
            <a:ext cx="490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grpSp>
        <p:nvGrpSpPr>
          <p:cNvPr id="100364" name="Group 22">
            <a:extLst>
              <a:ext uri="{FF2B5EF4-FFF2-40B4-BE49-F238E27FC236}">
                <a16:creationId xmlns:a16="http://schemas.microsoft.com/office/drawing/2014/main" id="{58ED0C8F-BB7D-4B66-9B69-E594815B0DC8}"/>
              </a:ext>
            </a:extLst>
          </p:cNvPr>
          <p:cNvGrpSpPr>
            <a:grpSpLocks/>
          </p:cNvGrpSpPr>
          <p:nvPr/>
        </p:nvGrpSpPr>
        <p:grpSpPr bwMode="auto">
          <a:xfrm>
            <a:off x="1765300" y="4578350"/>
            <a:ext cx="1506538" cy="382588"/>
            <a:chOff x="821" y="1997"/>
            <a:chExt cx="949" cy="241"/>
          </a:xfrm>
        </p:grpSpPr>
        <p:grpSp>
          <p:nvGrpSpPr>
            <p:cNvPr id="100368" name="Group 23">
              <a:extLst>
                <a:ext uri="{FF2B5EF4-FFF2-40B4-BE49-F238E27FC236}">
                  <a16:creationId xmlns:a16="http://schemas.microsoft.com/office/drawing/2014/main" id="{F844BA86-049A-42CF-9142-4DD2B6CC5F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997"/>
              <a:ext cx="733" cy="241"/>
              <a:chOff x="912" y="2052"/>
              <a:chExt cx="733" cy="241"/>
            </a:xfrm>
          </p:grpSpPr>
          <p:sp>
            <p:nvSpPr>
              <p:cNvPr id="100370" name="Rectangle 24">
                <a:extLst>
                  <a:ext uri="{FF2B5EF4-FFF2-40B4-BE49-F238E27FC236}">
                    <a16:creationId xmlns:a16="http://schemas.microsoft.com/office/drawing/2014/main" id="{EFC94D65-84F4-415A-8157-C7336518A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100371" name="Rectangle 25">
                <a:extLst>
                  <a:ext uri="{FF2B5EF4-FFF2-40B4-BE49-F238E27FC236}">
                    <a16:creationId xmlns:a16="http://schemas.microsoft.com/office/drawing/2014/main" id="{44419934-2D39-4E72-9235-D6AC364B1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100369" name="Line 26">
              <a:extLst>
                <a:ext uri="{FF2B5EF4-FFF2-40B4-BE49-F238E27FC236}">
                  <a16:creationId xmlns:a16="http://schemas.microsoft.com/office/drawing/2014/main" id="{CDD4AF92-59DA-41F5-BEDE-8498AC599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2120"/>
              <a:ext cx="3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8" name="Text Box 29">
            <a:extLst>
              <a:ext uri="{FF2B5EF4-FFF2-40B4-BE49-F238E27FC236}">
                <a16:creationId xmlns:a16="http://schemas.microsoft.com/office/drawing/2014/main" id="{F94F28DD-B1E0-4664-AC13-6C74343A2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8" y="5836920"/>
            <a:ext cx="64828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einfuegenDavorInListe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(zahlenliste,2,19)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B7C53D6-4066-4146-8B45-90A0D4C16218}"/>
              </a:ext>
            </a:extLst>
          </p:cNvPr>
          <p:cNvSpPr txBox="1"/>
          <p:nvPr/>
        </p:nvSpPr>
        <p:spPr>
          <a:xfrm>
            <a:off x="249835" y="4230767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  <p:extLst>
      <p:ext uri="{BB962C8B-B14F-4D97-AF65-F5344CB8AC3E}">
        <p14:creationId xmlns:p14="http://schemas.microsoft.com/office/powerpoint/2010/main" val="38186580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liennummernplatzhalter 3">
            <a:extLst>
              <a:ext uri="{FF2B5EF4-FFF2-40B4-BE49-F238E27FC236}">
                <a16:creationId xmlns:a16="http://schemas.microsoft.com/office/drawing/2014/main" id="{6E506748-845F-4F75-B2BB-2E198288F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310883-45D6-42F0-BF97-699855952F5F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de-DE" altLang="de-DE" sz="1400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9A0F8118-C59E-4041-ABA8-52D67F64D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442960" cy="633413"/>
          </a:xfrm>
        </p:spPr>
        <p:txBody>
          <a:bodyPr/>
          <a:lstStyle/>
          <a:p>
            <a:pPr eaLnBrk="1" hangingPunct="1"/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Funktion fürs Löschen </a:t>
            </a:r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eines Listenelements</a:t>
            </a:r>
            <a:endParaRPr lang="de-DE" altLang="de-DE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F5394A64-1C92-40EF-AC37-6845EACCD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338" y="903288"/>
            <a:ext cx="7335837" cy="1828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/>
          </a:p>
        </p:txBody>
      </p:sp>
      <p:sp>
        <p:nvSpPr>
          <p:cNvPr id="102405" name="Text Box 4">
            <a:extLst>
              <a:ext uri="{FF2B5EF4-FFF2-40B4-BE49-F238E27FC236}">
                <a16:creationId xmlns:a16="http://schemas.microsoft.com/office/drawing/2014/main" id="{9FC2174F-10E1-4820-843F-DF3F3FF92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34332"/>
            <a:ext cx="75453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400" b="1" dirty="0">
                <a:latin typeface="Courier New" panose="02070309020205020404" pitchFamily="49" charset="0"/>
              </a:rPr>
              <a:t>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loeschenInListe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struct</a:t>
            </a:r>
            <a:r>
              <a:rPr lang="de-DE" altLang="de-DE" sz="1400" b="1" dirty="0">
                <a:latin typeface="Courier New" panose="02070309020205020404" pitchFamily="49" charset="0"/>
              </a:rPr>
              <a:t> Listenelement *liste,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02406" name="Text Box 5">
            <a:extLst>
              <a:ext uri="{FF2B5EF4-FFF2-40B4-BE49-F238E27FC236}">
                <a16:creationId xmlns:a16="http://schemas.microsoft.com/office/drawing/2014/main" id="{3F0B5700-91E5-4582-8E85-A4D7B88A6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18733"/>
            <a:ext cx="62324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Das Listenelement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mit der Position </a:t>
            </a:r>
            <a:r>
              <a:rPr lang="de-DE" altLang="de-DE" sz="2000" dirty="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wird gelöscht: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liennummernplatzhalter 3">
            <a:extLst>
              <a:ext uri="{FF2B5EF4-FFF2-40B4-BE49-F238E27FC236}">
                <a16:creationId xmlns:a16="http://schemas.microsoft.com/office/drawing/2014/main" id="{94A57856-542A-4318-AA3B-B87516213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7265C9-6F53-4282-B766-A8FB26AC9F0B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de-DE" altLang="de-DE" sz="140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BB1CD789-434A-41A9-93B6-B34968F90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" y="260350"/>
            <a:ext cx="8895612" cy="633413"/>
          </a:xfrm>
        </p:spPr>
        <p:txBody>
          <a:bodyPr/>
          <a:lstStyle/>
          <a:p>
            <a:pPr eaLnBrk="1" hangingPunct="1"/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200" dirty="0">
                <a:latin typeface="Calibri" panose="020F0502020204030204" pitchFamily="34" charset="0"/>
                <a:cs typeface="Calibri" panose="020F0502020204030204" pitchFamily="34" charset="0"/>
              </a:rPr>
              <a:t>Löschen - Suche nach </a:t>
            </a:r>
            <a:r>
              <a:rPr lang="de-DE" altLang="de-DE" sz="3200">
                <a:latin typeface="Calibri" panose="020F0502020204030204" pitchFamily="34" charset="0"/>
                <a:cs typeface="Calibri" panose="020F0502020204030204" pitchFamily="34" charset="0"/>
              </a:rPr>
              <a:t>dem Listenelement</a:t>
            </a:r>
            <a:endParaRPr lang="de-DE" altLang="de-DE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452" name="Text Box 4">
            <a:extLst>
              <a:ext uri="{FF2B5EF4-FFF2-40B4-BE49-F238E27FC236}">
                <a16:creationId xmlns:a16="http://schemas.microsoft.com/office/drawing/2014/main" id="{E950B318-5784-4872-9329-EA660D8A9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965200"/>
            <a:ext cx="7737475" cy="353943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400" b="1" dirty="0">
                <a:latin typeface="Courier New" panose="02070309020205020404" pitchFamily="49" charset="0"/>
              </a:rPr>
              <a:t>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loeschenInListe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struct</a:t>
            </a:r>
            <a:r>
              <a:rPr lang="de-DE" altLang="de-DE" sz="1400" b="1" dirty="0">
                <a:latin typeface="Courier New" panose="02070309020205020404" pitchFamily="49" charset="0"/>
              </a:rPr>
              <a:t> Listenelement *liste,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</a:rPr>
              <a:t> i=1;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struct</a:t>
            </a:r>
            <a:r>
              <a:rPr lang="de-DE" altLang="de-DE" sz="1400" b="1" dirty="0">
                <a:latin typeface="Courier New" panose="02070309020205020404" pitchFamily="49" charset="0"/>
              </a:rPr>
              <a:t> Listenelement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*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hilfszeiger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solidFill>
                <a:srgbClr val="FF0066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400" b="1" dirty="0">
                <a:latin typeface="Courier New" panose="02070309020205020404" pitchFamily="49" charset="0"/>
              </a:rPr>
              <a:t>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if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(i ==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position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    //Suche nach dem zu löschenden Listenelement und merken,      </a:t>
            </a:r>
            <a:b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</a:b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    //wo es stand (also Adresse speichern)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hilfszeiger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=liste-&gt;</a:t>
            </a:r>
            <a:r>
              <a:rPr lang="de-DE" altLang="de-DE" sz="14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=liste-&gt;nachfolger-&gt;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  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free</a:t>
            </a:r>
            <a:r>
              <a:rPr lang="de-DE" altLang="de-DE" sz="1400" b="1" dirty="0">
                <a:latin typeface="Courier New" panose="02070309020205020404" pitchFamily="49" charset="0"/>
              </a:rPr>
              <a:t>(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hilfszeiger</a:t>
            </a:r>
            <a:r>
              <a:rPr lang="de-DE" altLang="de-DE" sz="14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liste=liste-&gt;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4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47BBE77-4F34-41F6-86B4-3CC42CB78BFE}"/>
              </a:ext>
            </a:extLst>
          </p:cNvPr>
          <p:cNvGrpSpPr/>
          <p:nvPr/>
        </p:nvGrpSpPr>
        <p:grpSpPr>
          <a:xfrm>
            <a:off x="642938" y="5090280"/>
            <a:ext cx="7402513" cy="565150"/>
            <a:chOff x="850900" y="5345113"/>
            <a:chExt cx="7402513" cy="565150"/>
          </a:xfrm>
        </p:grpSpPr>
        <p:grpSp>
          <p:nvGrpSpPr>
            <p:cNvPr id="104453" name="Group 5">
              <a:extLst>
                <a:ext uri="{FF2B5EF4-FFF2-40B4-BE49-F238E27FC236}">
                  <a16:creationId xmlns:a16="http://schemas.microsoft.com/office/drawing/2014/main" id="{3E5F4F57-089F-431D-BE73-A83C6DB751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9563" y="5519738"/>
              <a:ext cx="1163637" cy="382587"/>
              <a:chOff x="912" y="2052"/>
              <a:chExt cx="733" cy="241"/>
            </a:xfrm>
          </p:grpSpPr>
          <p:sp>
            <p:nvSpPr>
              <p:cNvPr id="104475" name="Rectangle 6">
                <a:extLst>
                  <a:ext uri="{FF2B5EF4-FFF2-40B4-BE49-F238E27FC236}">
                    <a16:creationId xmlns:a16="http://schemas.microsoft.com/office/drawing/2014/main" id="{7F4A8938-7923-490D-AF7E-73C71B5C4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104476" name="Rectangle 7">
                <a:extLst>
                  <a:ext uri="{FF2B5EF4-FFF2-40B4-BE49-F238E27FC236}">
                    <a16:creationId xmlns:a16="http://schemas.microsoft.com/office/drawing/2014/main" id="{43DB4100-3418-49DC-816E-903F69F4D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1</a:t>
                </a:r>
              </a:p>
            </p:txBody>
          </p:sp>
        </p:grpSp>
        <p:grpSp>
          <p:nvGrpSpPr>
            <p:cNvPr id="104454" name="Group 9">
              <a:extLst>
                <a:ext uri="{FF2B5EF4-FFF2-40B4-BE49-F238E27FC236}">
                  <a16:creationId xmlns:a16="http://schemas.microsoft.com/office/drawing/2014/main" id="{8D03BE7F-386A-4399-9507-1CEEE56E62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3925" y="5508625"/>
              <a:ext cx="1506538" cy="382588"/>
              <a:chOff x="821" y="1997"/>
              <a:chExt cx="949" cy="241"/>
            </a:xfrm>
          </p:grpSpPr>
          <p:grpSp>
            <p:nvGrpSpPr>
              <p:cNvPr id="104471" name="Group 10">
                <a:extLst>
                  <a:ext uri="{FF2B5EF4-FFF2-40B4-BE49-F238E27FC236}">
                    <a16:creationId xmlns:a16="http://schemas.microsoft.com/office/drawing/2014/main" id="{11AC98B9-8515-420E-B2CA-0791F6FD92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104473" name="Rectangle 11">
                  <a:extLst>
                    <a:ext uri="{FF2B5EF4-FFF2-40B4-BE49-F238E27FC236}">
                      <a16:creationId xmlns:a16="http://schemas.microsoft.com/office/drawing/2014/main" id="{B8575B3E-1C64-4401-874E-97104F2CD1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104474" name="Rectangle 12">
                  <a:extLst>
                    <a:ext uri="{FF2B5EF4-FFF2-40B4-BE49-F238E27FC236}">
                      <a16:creationId xmlns:a16="http://schemas.microsoft.com/office/drawing/2014/main" id="{1B1302BE-4490-4B23-A88E-3F0B80E88C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</p:grpSp>
          <p:sp>
            <p:nvSpPr>
              <p:cNvPr id="104472" name="Line 13">
                <a:extLst>
                  <a:ext uri="{FF2B5EF4-FFF2-40B4-BE49-F238E27FC236}">
                    <a16:creationId xmlns:a16="http://schemas.microsoft.com/office/drawing/2014/main" id="{80004A41-302F-4830-8A7D-053A9D806D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104455" name="Text Box 14">
              <a:extLst>
                <a:ext uri="{FF2B5EF4-FFF2-40B4-BE49-F238E27FC236}">
                  <a16:creationId xmlns:a16="http://schemas.microsoft.com/office/drawing/2014/main" id="{18A18DAB-C296-4D79-B15A-89E277499A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3163" y="5521325"/>
              <a:ext cx="730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latin typeface="Courier New" panose="02070309020205020404" pitchFamily="49" charset="0"/>
                </a:rPr>
                <a:t>NULL</a:t>
              </a:r>
            </a:p>
          </p:txBody>
        </p:sp>
        <p:grpSp>
          <p:nvGrpSpPr>
            <p:cNvPr id="104456" name="Group 17">
              <a:extLst>
                <a:ext uri="{FF2B5EF4-FFF2-40B4-BE49-F238E27FC236}">
                  <a16:creationId xmlns:a16="http://schemas.microsoft.com/office/drawing/2014/main" id="{FF17A88C-CF81-4AC6-B7DF-EBC28B210F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3400" y="5527675"/>
              <a:ext cx="1163638" cy="382588"/>
              <a:chOff x="912" y="2052"/>
              <a:chExt cx="733" cy="241"/>
            </a:xfrm>
          </p:grpSpPr>
          <p:sp>
            <p:nvSpPr>
              <p:cNvPr id="104469" name="Rectangle 18">
                <a:extLst>
                  <a:ext uri="{FF2B5EF4-FFF2-40B4-BE49-F238E27FC236}">
                    <a16:creationId xmlns:a16="http://schemas.microsoft.com/office/drawing/2014/main" id="{6F7C3F68-8FCD-4DF2-AABA-3B39CF322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104470" name="Rectangle 19">
                <a:extLst>
                  <a:ext uri="{FF2B5EF4-FFF2-40B4-BE49-F238E27FC236}">
                    <a16:creationId xmlns:a16="http://schemas.microsoft.com/office/drawing/2014/main" id="{77D5E223-6509-4705-8761-CB632CAC9E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solidFill>
                      <a:schemeClr val="hlink"/>
                    </a:solidFill>
                    <a:latin typeface="Courier New" panose="02070309020205020404" pitchFamily="49" charset="0"/>
                  </a:rPr>
                  <a:t>17</a:t>
                </a:r>
              </a:p>
            </p:txBody>
          </p:sp>
        </p:grpSp>
        <p:sp>
          <p:nvSpPr>
            <p:cNvPr id="104457" name="Line 23">
              <a:extLst>
                <a:ext uri="{FF2B5EF4-FFF2-40B4-BE49-F238E27FC236}">
                  <a16:creationId xmlns:a16="http://schemas.microsoft.com/office/drawing/2014/main" id="{DBB290AF-81BE-48D9-AD8E-7FBF9D28E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9388" y="5729288"/>
              <a:ext cx="371475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4458" name="Line 24">
              <a:extLst>
                <a:ext uri="{FF2B5EF4-FFF2-40B4-BE49-F238E27FC236}">
                  <a16:creationId xmlns:a16="http://schemas.microsoft.com/office/drawing/2014/main" id="{1106486F-28C1-4F4A-BCCB-DD6DE3EED5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38788" y="5726113"/>
              <a:ext cx="466725" cy="1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4459" name="Line 29">
              <a:extLst>
                <a:ext uri="{FF2B5EF4-FFF2-40B4-BE49-F238E27FC236}">
                  <a16:creationId xmlns:a16="http://schemas.microsoft.com/office/drawing/2014/main" id="{C8145742-FF15-4577-B04B-9B27F5CCDF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813" y="5345113"/>
              <a:ext cx="466725" cy="11112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4460" name="Line 33">
              <a:extLst>
                <a:ext uri="{FF2B5EF4-FFF2-40B4-BE49-F238E27FC236}">
                  <a16:creationId xmlns:a16="http://schemas.microsoft.com/office/drawing/2014/main" id="{FADDE424-9C55-4737-95AD-40E99D6E8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900" y="5737225"/>
              <a:ext cx="49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grpSp>
          <p:nvGrpSpPr>
            <p:cNvPr id="104461" name="Group 34">
              <a:extLst>
                <a:ext uri="{FF2B5EF4-FFF2-40B4-BE49-F238E27FC236}">
                  <a16:creationId xmlns:a16="http://schemas.microsoft.com/office/drawing/2014/main" id="{3CADD1C2-B6E2-4F28-9019-A0A128CB70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3025" y="5521325"/>
              <a:ext cx="1506538" cy="382588"/>
              <a:chOff x="821" y="1997"/>
              <a:chExt cx="949" cy="241"/>
            </a:xfrm>
          </p:grpSpPr>
          <p:grpSp>
            <p:nvGrpSpPr>
              <p:cNvPr id="104465" name="Group 35">
                <a:extLst>
                  <a:ext uri="{FF2B5EF4-FFF2-40B4-BE49-F238E27FC236}">
                    <a16:creationId xmlns:a16="http://schemas.microsoft.com/office/drawing/2014/main" id="{43449115-C097-49EE-B7B6-FB9E514270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104467" name="Rectangle 36">
                  <a:extLst>
                    <a:ext uri="{FF2B5EF4-FFF2-40B4-BE49-F238E27FC236}">
                      <a16:creationId xmlns:a16="http://schemas.microsoft.com/office/drawing/2014/main" id="{2A7FE69F-625F-4E9A-BEF9-D19714373D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104468" name="Rectangle 37">
                  <a:extLst>
                    <a:ext uri="{FF2B5EF4-FFF2-40B4-BE49-F238E27FC236}">
                      <a16:creationId xmlns:a16="http://schemas.microsoft.com/office/drawing/2014/main" id="{AC488228-4059-438C-B07C-1900C9C10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>
                      <a:latin typeface="Courier New" panose="02070309020205020404" pitchFamily="49" charset="0"/>
                    </a:rPr>
                    <a:t>0</a:t>
                  </a:r>
                </a:p>
              </p:txBody>
            </p:sp>
          </p:grpSp>
          <p:sp>
            <p:nvSpPr>
              <p:cNvPr id="104466" name="Line 38">
                <a:extLst>
                  <a:ext uri="{FF2B5EF4-FFF2-40B4-BE49-F238E27FC236}">
                    <a16:creationId xmlns:a16="http://schemas.microsoft.com/office/drawing/2014/main" id="{DEC8FDD2-53C6-4803-BB64-963600152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</p:grpSp>
      <p:sp>
        <p:nvSpPr>
          <p:cNvPr id="104462" name="Text Box 39">
            <a:extLst>
              <a:ext uri="{FF2B5EF4-FFF2-40B4-BE49-F238E27FC236}">
                <a16:creationId xmlns:a16="http://schemas.microsoft.com/office/drawing/2014/main" id="{F2CA63F4-8F72-42EA-9203-D9AA2322B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79" y="5647492"/>
            <a:ext cx="51924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</a:rPr>
              <a:t>loeschenInListe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5DBAE36-3524-4CD0-9FC9-7DC4EA8D9558}"/>
              </a:ext>
            </a:extLst>
          </p:cNvPr>
          <p:cNvSpPr txBox="1"/>
          <p:nvPr/>
        </p:nvSpPr>
        <p:spPr>
          <a:xfrm>
            <a:off x="391917" y="464935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liennummernplatzhalter 3">
            <a:extLst>
              <a:ext uri="{FF2B5EF4-FFF2-40B4-BE49-F238E27FC236}">
                <a16:creationId xmlns:a16="http://schemas.microsoft.com/office/drawing/2014/main" id="{A0308A20-AF98-4CF9-97F8-19F855DA7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FC399A-EC7B-45A6-AE42-4471190035F7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de-DE" altLang="de-DE" sz="1400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748A25E-794A-4B1E-9B55-00D698B38C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Löschen - Überspringen des Elements</a:t>
            </a:r>
          </a:p>
        </p:txBody>
      </p:sp>
      <p:sp>
        <p:nvSpPr>
          <p:cNvPr id="106500" name="Text Box 4">
            <a:extLst>
              <a:ext uri="{FF2B5EF4-FFF2-40B4-BE49-F238E27FC236}">
                <a16:creationId xmlns:a16="http://schemas.microsoft.com/office/drawing/2014/main" id="{C3957FA0-D9F9-48BA-A992-AB702C18B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944563"/>
            <a:ext cx="8229600" cy="378565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600" b="1" dirty="0">
                <a:latin typeface="Courier New" panose="02070309020205020404" pitchFamily="49" charset="0"/>
              </a:rPr>
              <a:t>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loeschenInListe</a:t>
            </a:r>
            <a:r>
              <a:rPr lang="de-DE" altLang="de-DE" sz="1600" b="1" dirty="0"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struct</a:t>
            </a:r>
            <a:r>
              <a:rPr lang="de-DE" altLang="de-DE" sz="1600" b="1" dirty="0">
                <a:latin typeface="Courier New" panose="02070309020205020404" pitchFamily="49" charset="0"/>
              </a:rPr>
              <a:t> Listenelement *liste,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600" b="1" dirty="0">
                <a:latin typeface="Courier New" panose="02070309020205020404" pitchFamily="49" charset="0"/>
              </a:rPr>
              <a:t>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6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600" b="1" dirty="0">
                <a:latin typeface="Courier New" panose="02070309020205020404" pitchFamily="49" charset="0"/>
              </a:rPr>
              <a:t> i=1;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struct</a:t>
            </a:r>
            <a:r>
              <a:rPr lang="de-DE" altLang="de-DE" sz="1600" b="1" dirty="0">
                <a:latin typeface="Courier New" panose="02070309020205020404" pitchFamily="49" charset="0"/>
              </a:rPr>
              <a:t> Listenelement *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hilfszeiger</a:t>
            </a:r>
            <a:r>
              <a:rPr lang="de-DE" altLang="de-DE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6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600" b="1" dirty="0">
                <a:latin typeface="Courier New" panose="02070309020205020404" pitchFamily="49" charset="0"/>
              </a:rPr>
              <a:t>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600" b="1" dirty="0">
                <a:latin typeface="Courier New" panose="02070309020205020404" pitchFamily="49" charset="0"/>
              </a:rPr>
              <a:t>(i ==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6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hilfszeiger</a:t>
            </a:r>
            <a:r>
              <a:rPr lang="de-DE" altLang="de-DE" sz="1600" b="1" dirty="0">
                <a:latin typeface="Courier New" panose="02070309020205020404" pitchFamily="49" charset="0"/>
              </a:rPr>
              <a:t>=liste-&gt;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//Überspringen des Elementes, das man löschen will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liste-&gt;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=liste-&gt;nachfolger-&gt;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nachfolger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free</a:t>
            </a:r>
            <a:r>
              <a:rPr lang="de-DE" altLang="de-DE" sz="1600" b="1" dirty="0"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hilfszeiger</a:t>
            </a:r>
            <a:r>
              <a:rPr lang="de-DE" altLang="de-DE" sz="16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liste=liste-&gt;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6510" name="Text Box 31">
            <a:extLst>
              <a:ext uri="{FF2B5EF4-FFF2-40B4-BE49-F238E27FC236}">
                <a16:creationId xmlns:a16="http://schemas.microsoft.com/office/drawing/2014/main" id="{3A94CD8F-B3E2-4776-951C-A762EF341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27" y="5744160"/>
            <a:ext cx="51924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</a:rPr>
              <a:t>loeschenInListe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(zahlenliste,2)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6FF22CA-3309-45D3-813D-825FD0F010C1}"/>
              </a:ext>
            </a:extLst>
          </p:cNvPr>
          <p:cNvGrpSpPr/>
          <p:nvPr/>
        </p:nvGrpSpPr>
        <p:grpSpPr>
          <a:xfrm>
            <a:off x="784860" y="4219575"/>
            <a:ext cx="7375525" cy="1106488"/>
            <a:chOff x="876300" y="4778375"/>
            <a:chExt cx="7375525" cy="1106488"/>
          </a:xfrm>
        </p:grpSpPr>
        <p:grpSp>
          <p:nvGrpSpPr>
            <p:cNvPr id="106501" name="Group 5">
              <a:extLst>
                <a:ext uri="{FF2B5EF4-FFF2-40B4-BE49-F238E27FC236}">
                  <a16:creationId xmlns:a16="http://schemas.microsoft.com/office/drawing/2014/main" id="{73E2F17F-AA10-4E57-AE42-55D7F82705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7975" y="5494338"/>
              <a:ext cx="1163638" cy="382587"/>
              <a:chOff x="912" y="2052"/>
              <a:chExt cx="733" cy="241"/>
            </a:xfrm>
          </p:grpSpPr>
          <p:sp>
            <p:nvSpPr>
              <p:cNvPr id="106526" name="Rectangle 6">
                <a:extLst>
                  <a:ext uri="{FF2B5EF4-FFF2-40B4-BE49-F238E27FC236}">
                    <a16:creationId xmlns:a16="http://schemas.microsoft.com/office/drawing/2014/main" id="{B66C450D-FBC8-4185-9081-B2671B07F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106527" name="Rectangle 7">
                <a:extLst>
                  <a:ext uri="{FF2B5EF4-FFF2-40B4-BE49-F238E27FC236}">
                    <a16:creationId xmlns:a16="http://schemas.microsoft.com/office/drawing/2014/main" id="{6CC7815D-0198-456E-9646-F423FF45E0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1</a:t>
                </a:r>
              </a:p>
            </p:txBody>
          </p:sp>
        </p:grpSp>
        <p:grpSp>
          <p:nvGrpSpPr>
            <p:cNvPr id="106502" name="Group 8">
              <a:extLst>
                <a:ext uri="{FF2B5EF4-FFF2-40B4-BE49-F238E27FC236}">
                  <a16:creationId xmlns:a16="http://schemas.microsoft.com/office/drawing/2014/main" id="{29BBE6F0-E908-4C88-945D-58F565394B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2338" y="5483225"/>
              <a:ext cx="1506537" cy="382588"/>
              <a:chOff x="821" y="1997"/>
              <a:chExt cx="949" cy="241"/>
            </a:xfrm>
          </p:grpSpPr>
          <p:grpSp>
            <p:nvGrpSpPr>
              <p:cNvPr id="106522" name="Group 9">
                <a:extLst>
                  <a:ext uri="{FF2B5EF4-FFF2-40B4-BE49-F238E27FC236}">
                    <a16:creationId xmlns:a16="http://schemas.microsoft.com/office/drawing/2014/main" id="{DE684519-90D0-444D-843B-F0803995CB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106524" name="Rectangle 10">
                  <a:extLst>
                    <a:ext uri="{FF2B5EF4-FFF2-40B4-BE49-F238E27FC236}">
                      <a16:creationId xmlns:a16="http://schemas.microsoft.com/office/drawing/2014/main" id="{33958F15-2462-4B08-851B-0D269FD031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106525" name="Rectangle 11">
                  <a:extLst>
                    <a:ext uri="{FF2B5EF4-FFF2-40B4-BE49-F238E27FC236}">
                      <a16:creationId xmlns:a16="http://schemas.microsoft.com/office/drawing/2014/main" id="{E3726A41-EC19-4B30-BE88-19FB6074E9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</p:grpSp>
          <p:sp>
            <p:nvSpPr>
              <p:cNvPr id="106523" name="Line 12">
                <a:extLst>
                  <a:ext uri="{FF2B5EF4-FFF2-40B4-BE49-F238E27FC236}">
                    <a16:creationId xmlns:a16="http://schemas.microsoft.com/office/drawing/2014/main" id="{5F80FFF1-F65C-47C8-A50F-6F279769C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106503" name="Text Box 13">
              <a:extLst>
                <a:ext uri="{FF2B5EF4-FFF2-40B4-BE49-F238E27FC236}">
                  <a16:creationId xmlns:a16="http://schemas.microsoft.com/office/drawing/2014/main" id="{1D5352E1-51A0-42E2-AE5E-0BC9AC168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1575" y="5495925"/>
              <a:ext cx="730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latin typeface="Courier New" panose="02070309020205020404" pitchFamily="49" charset="0"/>
                </a:rPr>
                <a:t>NULL</a:t>
              </a:r>
            </a:p>
          </p:txBody>
        </p:sp>
        <p:grpSp>
          <p:nvGrpSpPr>
            <p:cNvPr id="106504" name="Group 16">
              <a:extLst>
                <a:ext uri="{FF2B5EF4-FFF2-40B4-BE49-F238E27FC236}">
                  <a16:creationId xmlns:a16="http://schemas.microsoft.com/office/drawing/2014/main" id="{5B5302DA-74A8-4186-8D62-2EDC64D800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1813" y="5502275"/>
              <a:ext cx="1163637" cy="382588"/>
              <a:chOff x="912" y="2052"/>
              <a:chExt cx="733" cy="241"/>
            </a:xfrm>
          </p:grpSpPr>
          <p:sp>
            <p:nvSpPr>
              <p:cNvPr id="106520" name="Rectangle 17">
                <a:extLst>
                  <a:ext uri="{FF2B5EF4-FFF2-40B4-BE49-F238E27FC236}">
                    <a16:creationId xmlns:a16="http://schemas.microsoft.com/office/drawing/2014/main" id="{D43D36F8-9E0F-427C-B40D-473826C39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106521" name="Rectangle 18">
                <a:extLst>
                  <a:ext uri="{FF2B5EF4-FFF2-40B4-BE49-F238E27FC236}">
                    <a16:creationId xmlns:a16="http://schemas.microsoft.com/office/drawing/2014/main" id="{EC92E799-9308-4062-A944-CE996AE4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solidFill>
                      <a:schemeClr val="hlink"/>
                    </a:solidFill>
                    <a:latin typeface="Courier New" panose="02070309020205020404" pitchFamily="49" charset="0"/>
                  </a:rPr>
                  <a:t>17</a:t>
                </a:r>
              </a:p>
            </p:txBody>
          </p:sp>
        </p:grpSp>
        <p:sp>
          <p:nvSpPr>
            <p:cNvPr id="106505" name="Line 19">
              <a:extLst>
                <a:ext uri="{FF2B5EF4-FFF2-40B4-BE49-F238E27FC236}">
                  <a16:creationId xmlns:a16="http://schemas.microsoft.com/office/drawing/2014/main" id="{A6740D01-A1CB-4B6C-BE01-B90F1058F0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563" y="4794250"/>
              <a:ext cx="1128712" cy="89058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6506" name="Line 20">
              <a:extLst>
                <a:ext uri="{FF2B5EF4-FFF2-40B4-BE49-F238E27FC236}">
                  <a16:creationId xmlns:a16="http://schemas.microsoft.com/office/drawing/2014/main" id="{6063D873-4E97-4018-8835-077FB358B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7625" y="4778375"/>
              <a:ext cx="1065213" cy="94773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grpSp>
          <p:nvGrpSpPr>
            <p:cNvPr id="106507" name="Group 22">
              <a:extLst>
                <a:ext uri="{FF2B5EF4-FFF2-40B4-BE49-F238E27FC236}">
                  <a16:creationId xmlns:a16="http://schemas.microsoft.com/office/drawing/2014/main" id="{859E4624-D5B9-4C57-9738-9719F62663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1813" y="5502275"/>
              <a:ext cx="1163637" cy="382588"/>
              <a:chOff x="912" y="2052"/>
              <a:chExt cx="733" cy="241"/>
            </a:xfrm>
          </p:grpSpPr>
          <p:sp>
            <p:nvSpPr>
              <p:cNvPr id="106518" name="Rectangle 23">
                <a:extLst>
                  <a:ext uri="{FF2B5EF4-FFF2-40B4-BE49-F238E27FC236}">
                    <a16:creationId xmlns:a16="http://schemas.microsoft.com/office/drawing/2014/main" id="{0D27B896-CBF7-40E4-B62F-33BDCAFD8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106519" name="Rectangle 24">
                <a:extLst>
                  <a:ext uri="{FF2B5EF4-FFF2-40B4-BE49-F238E27FC236}">
                    <a16:creationId xmlns:a16="http://schemas.microsoft.com/office/drawing/2014/main" id="{23556FA7-5C21-4F92-ADF5-A6C9162CF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solidFill>
                      <a:schemeClr val="hlink"/>
                    </a:solidFill>
                    <a:latin typeface="Courier New" panose="02070309020205020404" pitchFamily="49" charset="0"/>
                  </a:rPr>
                  <a:t>17</a:t>
                </a:r>
              </a:p>
            </p:txBody>
          </p:sp>
        </p:grpSp>
        <p:sp>
          <p:nvSpPr>
            <p:cNvPr id="106508" name="Line 25">
              <a:extLst>
                <a:ext uri="{FF2B5EF4-FFF2-40B4-BE49-F238E27FC236}">
                  <a16:creationId xmlns:a16="http://schemas.microsoft.com/office/drawing/2014/main" id="{0BEEE520-2817-4C58-8E7C-2AC6339C4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6300" y="5686425"/>
              <a:ext cx="49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grpSp>
          <p:nvGrpSpPr>
            <p:cNvPr id="106509" name="Group 26">
              <a:extLst>
                <a:ext uri="{FF2B5EF4-FFF2-40B4-BE49-F238E27FC236}">
                  <a16:creationId xmlns:a16="http://schemas.microsoft.com/office/drawing/2014/main" id="{3D65F0A0-80CB-4011-BECD-BCCBABCDC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5725" y="5495925"/>
              <a:ext cx="1506538" cy="382588"/>
              <a:chOff x="821" y="1997"/>
              <a:chExt cx="949" cy="241"/>
            </a:xfrm>
          </p:grpSpPr>
          <p:grpSp>
            <p:nvGrpSpPr>
              <p:cNvPr id="106514" name="Group 27">
                <a:extLst>
                  <a:ext uri="{FF2B5EF4-FFF2-40B4-BE49-F238E27FC236}">
                    <a16:creationId xmlns:a16="http://schemas.microsoft.com/office/drawing/2014/main" id="{00237DA4-988A-442C-B50A-19D46F698B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106516" name="Rectangle 28">
                  <a:extLst>
                    <a:ext uri="{FF2B5EF4-FFF2-40B4-BE49-F238E27FC236}">
                      <a16:creationId xmlns:a16="http://schemas.microsoft.com/office/drawing/2014/main" id="{D0F8AA15-504F-4183-BEC7-6F071A7AB4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106517" name="Rectangle 29">
                  <a:extLst>
                    <a:ext uri="{FF2B5EF4-FFF2-40B4-BE49-F238E27FC236}">
                      <a16:creationId xmlns:a16="http://schemas.microsoft.com/office/drawing/2014/main" id="{58279A12-BE75-40E1-9121-A108247828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>
                      <a:latin typeface="Courier New" panose="02070309020205020404" pitchFamily="49" charset="0"/>
                    </a:rPr>
                    <a:t>0</a:t>
                  </a:r>
                </a:p>
              </p:txBody>
            </p:sp>
          </p:grpSp>
          <p:sp>
            <p:nvSpPr>
              <p:cNvPr id="106515" name="Line 30">
                <a:extLst>
                  <a:ext uri="{FF2B5EF4-FFF2-40B4-BE49-F238E27FC236}">
                    <a16:creationId xmlns:a16="http://schemas.microsoft.com/office/drawing/2014/main" id="{B3AEF83A-0137-4921-9F8B-070E6F70C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106513" name="Line 21">
              <a:extLst>
                <a:ext uri="{FF2B5EF4-FFF2-40B4-BE49-F238E27FC236}">
                  <a16:creationId xmlns:a16="http://schemas.microsoft.com/office/drawing/2014/main" id="{808204E7-5C01-4E51-BE3F-088A7EEB9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8438" y="5726113"/>
              <a:ext cx="7270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31" name="Textfeld 30">
            <a:extLst>
              <a:ext uri="{FF2B5EF4-FFF2-40B4-BE49-F238E27FC236}">
                <a16:creationId xmlns:a16="http://schemas.microsoft.com/office/drawing/2014/main" id="{C57773F8-D425-4FC2-9A2D-108686D06399}"/>
              </a:ext>
            </a:extLst>
          </p:cNvPr>
          <p:cNvSpPr txBox="1"/>
          <p:nvPr/>
        </p:nvSpPr>
        <p:spPr>
          <a:xfrm>
            <a:off x="184785" y="464821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liennummernplatzhalter 3">
            <a:extLst>
              <a:ext uri="{FF2B5EF4-FFF2-40B4-BE49-F238E27FC236}">
                <a16:creationId xmlns:a16="http://schemas.microsoft.com/office/drawing/2014/main" id="{D55BC312-9311-47F8-B4B4-514CB0BB2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87DEFD-5687-4124-9B6E-83CDF5FAE01C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de-DE" altLang="de-DE" sz="140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20E93549-0EFA-4EA0-9131-A6C737E7A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Liste: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Löschen - Freigabe des Speichers</a:t>
            </a:r>
          </a:p>
        </p:txBody>
      </p:sp>
      <p:sp>
        <p:nvSpPr>
          <p:cNvPr id="108548" name="Text Box 4">
            <a:extLst>
              <a:ext uri="{FF2B5EF4-FFF2-40B4-BE49-F238E27FC236}">
                <a16:creationId xmlns:a16="http://schemas.microsoft.com/office/drawing/2014/main" id="{27A1E23C-2102-475B-BA05-E4AA4918A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869950"/>
            <a:ext cx="8455025" cy="378565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600" b="1" dirty="0">
                <a:latin typeface="Courier New" panose="02070309020205020404" pitchFamily="49" charset="0"/>
              </a:rPr>
              <a:t>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loeschenInListe</a:t>
            </a:r>
            <a:r>
              <a:rPr lang="de-DE" altLang="de-DE" sz="1600" b="1" dirty="0">
                <a:latin typeface="Courier New" panose="02070309020205020404" pitchFamily="49" charset="0"/>
              </a:rPr>
              <a:t>(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struct</a:t>
            </a:r>
            <a:r>
              <a:rPr lang="de-DE" altLang="de-DE" sz="1600" b="1" dirty="0">
                <a:latin typeface="Courier New" panose="02070309020205020404" pitchFamily="49" charset="0"/>
              </a:rPr>
              <a:t> Listenelement *liste,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600" b="1" dirty="0">
                <a:latin typeface="Courier New" panose="02070309020205020404" pitchFamily="49" charset="0"/>
              </a:rPr>
              <a:t>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6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600" b="1" dirty="0">
                <a:latin typeface="Courier New" panose="02070309020205020404" pitchFamily="49" charset="0"/>
              </a:rPr>
              <a:t> i=1;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struct</a:t>
            </a:r>
            <a:r>
              <a:rPr lang="de-DE" altLang="de-DE" sz="1600" b="1" dirty="0">
                <a:latin typeface="Courier New" panose="02070309020205020404" pitchFamily="49" charset="0"/>
              </a:rPr>
              <a:t> Listenelement *hilf;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600" b="1" dirty="0">
                <a:latin typeface="Courier New" panose="02070309020205020404" pitchFamily="49" charset="0"/>
              </a:rPr>
              <a:t>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600" b="1" dirty="0">
                <a:latin typeface="Courier New" panose="02070309020205020404" pitchFamily="49" charset="0"/>
              </a:rPr>
              <a:t>(i == 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position</a:t>
            </a:r>
            <a:r>
              <a:rPr lang="de-DE" altLang="de-DE" sz="1600" b="1" dirty="0"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  hilf=liste-&gt;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  liste-&gt;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600" b="1" dirty="0">
                <a:latin typeface="Courier New" panose="02070309020205020404" pitchFamily="49" charset="0"/>
              </a:rPr>
              <a:t>=liste-&gt;nachfolger-&gt;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  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//Freigabe des Speichers des Elementes, dass man </a:t>
            </a:r>
            <a:b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</a:b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      //aus der Liste löschen will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  </a:t>
            </a:r>
            <a:r>
              <a:rPr lang="de-DE" altLang="de-DE" sz="16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free</a:t>
            </a: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(hilf);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solidFill>
                  <a:srgbClr val="FF0066"/>
                </a:solidFill>
                <a:latin typeface="Courier New" panose="02070309020205020404" pitchFamily="49" charset="0"/>
              </a:rPr>
              <a:t>       </a:t>
            </a:r>
            <a:r>
              <a:rPr lang="de-DE" altLang="de-DE" sz="16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liste=liste-&gt;</a:t>
            </a:r>
            <a:r>
              <a:rPr lang="de-DE" altLang="de-DE" sz="16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    i=i+1;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5D3C2B3-C0D6-451B-94B4-5D97A69E8447}"/>
              </a:ext>
            </a:extLst>
          </p:cNvPr>
          <p:cNvGrpSpPr/>
          <p:nvPr/>
        </p:nvGrpSpPr>
        <p:grpSpPr>
          <a:xfrm>
            <a:off x="581660" y="4508947"/>
            <a:ext cx="7410450" cy="1075155"/>
            <a:chOff x="673100" y="5109745"/>
            <a:chExt cx="7410450" cy="1075155"/>
          </a:xfrm>
        </p:grpSpPr>
        <p:grpSp>
          <p:nvGrpSpPr>
            <p:cNvPr id="108549" name="Group 5">
              <a:extLst>
                <a:ext uri="{FF2B5EF4-FFF2-40B4-BE49-F238E27FC236}">
                  <a16:creationId xmlns:a16="http://schemas.microsoft.com/office/drawing/2014/main" id="{D55DCA34-14D0-4111-9A68-A900A13FAF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9700" y="5649913"/>
              <a:ext cx="1163638" cy="382587"/>
              <a:chOff x="912" y="2052"/>
              <a:chExt cx="733" cy="241"/>
            </a:xfrm>
          </p:grpSpPr>
          <p:sp>
            <p:nvSpPr>
              <p:cNvPr id="108573" name="Rectangle 6">
                <a:extLst>
                  <a:ext uri="{FF2B5EF4-FFF2-40B4-BE49-F238E27FC236}">
                    <a16:creationId xmlns:a16="http://schemas.microsoft.com/office/drawing/2014/main" id="{1AB36F27-BE37-49D2-A474-DD7C883DA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108574" name="Rectangle 7">
                <a:extLst>
                  <a:ext uri="{FF2B5EF4-FFF2-40B4-BE49-F238E27FC236}">
                    <a16:creationId xmlns:a16="http://schemas.microsoft.com/office/drawing/2014/main" id="{3BC67091-440A-4F54-8B89-3FBE0E833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1</a:t>
                </a:r>
              </a:p>
            </p:txBody>
          </p:sp>
        </p:grpSp>
        <p:grpSp>
          <p:nvGrpSpPr>
            <p:cNvPr id="108550" name="Group 8">
              <a:extLst>
                <a:ext uri="{FF2B5EF4-FFF2-40B4-BE49-F238E27FC236}">
                  <a16:creationId xmlns:a16="http://schemas.microsoft.com/office/drawing/2014/main" id="{3E96410F-76EC-454C-9E93-0B01E95DC5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34063" y="5638800"/>
              <a:ext cx="1506537" cy="382588"/>
              <a:chOff x="821" y="1997"/>
              <a:chExt cx="949" cy="241"/>
            </a:xfrm>
          </p:grpSpPr>
          <p:grpSp>
            <p:nvGrpSpPr>
              <p:cNvPr id="108569" name="Group 9">
                <a:extLst>
                  <a:ext uri="{FF2B5EF4-FFF2-40B4-BE49-F238E27FC236}">
                    <a16:creationId xmlns:a16="http://schemas.microsoft.com/office/drawing/2014/main" id="{91236AFF-7DF9-4425-97B5-DFDCF6340C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108571" name="Rectangle 10">
                  <a:extLst>
                    <a:ext uri="{FF2B5EF4-FFF2-40B4-BE49-F238E27FC236}">
                      <a16:creationId xmlns:a16="http://schemas.microsoft.com/office/drawing/2014/main" id="{2B7E3DAB-2947-4707-AD2D-3A3D518E82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108572" name="Rectangle 11">
                  <a:extLst>
                    <a:ext uri="{FF2B5EF4-FFF2-40B4-BE49-F238E27FC236}">
                      <a16:creationId xmlns:a16="http://schemas.microsoft.com/office/drawing/2014/main" id="{0933DCA8-9116-4FB2-9970-2BB990588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</p:grpSp>
          <p:sp>
            <p:nvSpPr>
              <p:cNvPr id="108570" name="Line 12">
                <a:extLst>
                  <a:ext uri="{FF2B5EF4-FFF2-40B4-BE49-F238E27FC236}">
                    <a16:creationId xmlns:a16="http://schemas.microsoft.com/office/drawing/2014/main" id="{871C592D-E903-4937-BCD4-8E4B93A81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108551" name="Text Box 13">
              <a:extLst>
                <a:ext uri="{FF2B5EF4-FFF2-40B4-BE49-F238E27FC236}">
                  <a16:creationId xmlns:a16="http://schemas.microsoft.com/office/drawing/2014/main" id="{984A48C3-9B62-4559-9253-F99ACD348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3300" y="5651500"/>
              <a:ext cx="730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de-DE" altLang="de-DE" sz="1800" b="1">
                  <a:latin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108552" name="Line 19">
              <a:extLst>
                <a:ext uri="{FF2B5EF4-FFF2-40B4-BE49-F238E27FC236}">
                  <a16:creationId xmlns:a16="http://schemas.microsoft.com/office/drawing/2014/main" id="{BCFB4B7D-996A-45E4-A5E3-4425E6D9E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3125" y="5109745"/>
              <a:ext cx="1158875" cy="7306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8553" name="Line 20">
              <a:extLst>
                <a:ext uri="{FF2B5EF4-FFF2-40B4-BE49-F238E27FC236}">
                  <a16:creationId xmlns:a16="http://schemas.microsoft.com/office/drawing/2014/main" id="{1FEED417-D9D6-4421-AA89-D0541FED8A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9525" y="5109745"/>
              <a:ext cx="850900" cy="7497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grpSp>
          <p:nvGrpSpPr>
            <p:cNvPr id="108554" name="Group 22">
              <a:extLst>
                <a:ext uri="{FF2B5EF4-FFF2-40B4-BE49-F238E27FC236}">
                  <a16:creationId xmlns:a16="http://schemas.microsoft.com/office/drawing/2014/main" id="{FE5D1D7A-B648-4B39-A86C-C30CB449CC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7513" y="5641975"/>
              <a:ext cx="1163637" cy="382588"/>
              <a:chOff x="912" y="2052"/>
              <a:chExt cx="733" cy="241"/>
            </a:xfrm>
          </p:grpSpPr>
          <p:sp>
            <p:nvSpPr>
              <p:cNvPr id="108567" name="Rectangle 23">
                <a:extLst>
                  <a:ext uri="{FF2B5EF4-FFF2-40B4-BE49-F238E27FC236}">
                    <a16:creationId xmlns:a16="http://schemas.microsoft.com/office/drawing/2014/main" id="{F8F41C47-80E5-40FD-AE28-B88B01039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052"/>
                <a:ext cx="71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e-DE" altLang="de-DE" sz="1800"/>
              </a:p>
            </p:txBody>
          </p:sp>
          <p:sp>
            <p:nvSpPr>
              <p:cNvPr id="108568" name="Rectangle 24">
                <a:extLst>
                  <a:ext uri="{FF2B5EF4-FFF2-40B4-BE49-F238E27FC236}">
                    <a16:creationId xmlns:a16="http://schemas.microsoft.com/office/drawing/2014/main" id="{222F9664-6D38-43B1-9E5C-B76837260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052"/>
                <a:ext cx="536" cy="241"/>
              </a:xfrm>
              <a:prstGeom prst="rect">
                <a:avLst/>
              </a:prstGeom>
              <a:solidFill>
                <a:srgbClr val="FFCC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de-DE" altLang="de-DE" sz="1800" b="1">
                    <a:solidFill>
                      <a:schemeClr val="hlink"/>
                    </a:solidFill>
                    <a:latin typeface="Courier New" panose="02070309020205020404" pitchFamily="49" charset="0"/>
                  </a:rPr>
                  <a:t>17</a:t>
                </a:r>
              </a:p>
            </p:txBody>
          </p:sp>
        </p:grpSp>
        <p:sp>
          <p:nvSpPr>
            <p:cNvPr id="108555" name="Line 25">
              <a:extLst>
                <a:ext uri="{FF2B5EF4-FFF2-40B4-BE49-F238E27FC236}">
                  <a16:creationId xmlns:a16="http://schemas.microsoft.com/office/drawing/2014/main" id="{DC10C1F2-2C5D-4389-8A14-CBAF89FE1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100" y="5851525"/>
              <a:ext cx="49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grpSp>
          <p:nvGrpSpPr>
            <p:cNvPr id="108556" name="Group 26">
              <a:extLst>
                <a:ext uri="{FF2B5EF4-FFF2-40B4-BE49-F238E27FC236}">
                  <a16:creationId xmlns:a16="http://schemas.microsoft.com/office/drawing/2014/main" id="{0F86B6B1-1528-4AEF-AD44-C87E27EEB4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7925" y="5661025"/>
              <a:ext cx="1506538" cy="382588"/>
              <a:chOff x="821" y="1997"/>
              <a:chExt cx="949" cy="241"/>
            </a:xfrm>
          </p:grpSpPr>
          <p:grpSp>
            <p:nvGrpSpPr>
              <p:cNvPr id="108563" name="Group 27">
                <a:extLst>
                  <a:ext uri="{FF2B5EF4-FFF2-40B4-BE49-F238E27FC236}">
                    <a16:creationId xmlns:a16="http://schemas.microsoft.com/office/drawing/2014/main" id="{75D8E2AB-0884-4AF9-938B-B2BF8A53EB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997"/>
                <a:ext cx="733" cy="241"/>
                <a:chOff x="912" y="2052"/>
                <a:chExt cx="733" cy="241"/>
              </a:xfrm>
            </p:grpSpPr>
            <p:sp>
              <p:nvSpPr>
                <p:cNvPr id="108565" name="Rectangle 28">
                  <a:extLst>
                    <a:ext uri="{FF2B5EF4-FFF2-40B4-BE49-F238E27FC236}">
                      <a16:creationId xmlns:a16="http://schemas.microsoft.com/office/drawing/2014/main" id="{D4C69594-2DFC-4A0E-8905-47EC1EFC06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9" y="2052"/>
                  <a:ext cx="71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de-DE" altLang="de-DE" sz="1800"/>
                </a:p>
              </p:txBody>
            </p:sp>
            <p:sp>
              <p:nvSpPr>
                <p:cNvPr id="108566" name="Rectangle 29">
                  <a:extLst>
                    <a:ext uri="{FF2B5EF4-FFF2-40B4-BE49-F238E27FC236}">
                      <a16:creationId xmlns:a16="http://schemas.microsoft.com/office/drawing/2014/main" id="{08F30D41-12D6-4134-8A4B-7F81131239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052"/>
                  <a:ext cx="536" cy="241"/>
                </a:xfrm>
                <a:prstGeom prst="rect">
                  <a:avLst/>
                </a:prstGeom>
                <a:solidFill>
                  <a:srgbClr val="FFCC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de-DE" sz="1800" b="1">
                      <a:latin typeface="Courier New" panose="02070309020205020404" pitchFamily="49" charset="0"/>
                    </a:rPr>
                    <a:t>0</a:t>
                  </a:r>
                </a:p>
              </p:txBody>
            </p:sp>
          </p:grpSp>
          <p:sp>
            <p:nvSpPr>
              <p:cNvPr id="108564" name="Line 30">
                <a:extLst>
                  <a:ext uri="{FF2B5EF4-FFF2-40B4-BE49-F238E27FC236}">
                    <a16:creationId xmlns:a16="http://schemas.microsoft.com/office/drawing/2014/main" id="{C1041F6B-CACD-4755-BACA-8BF74569A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1" y="2120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108560" name="Line 34">
              <a:extLst>
                <a:ext uri="{FF2B5EF4-FFF2-40B4-BE49-F238E27FC236}">
                  <a16:creationId xmlns:a16="http://schemas.microsoft.com/office/drawing/2014/main" id="{2DF20B0B-F8B0-47DC-AFB6-BE8D82A16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8500" y="5448300"/>
              <a:ext cx="546100" cy="736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8561" name="Line 35">
              <a:extLst>
                <a:ext uri="{FF2B5EF4-FFF2-40B4-BE49-F238E27FC236}">
                  <a16:creationId xmlns:a16="http://schemas.microsoft.com/office/drawing/2014/main" id="{398C7406-3312-4CBA-8FE0-08114BF42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0400" y="5334000"/>
              <a:ext cx="533400" cy="812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32" name="Text Box 31">
            <a:extLst>
              <a:ext uri="{FF2B5EF4-FFF2-40B4-BE49-F238E27FC236}">
                <a16:creationId xmlns:a16="http://schemas.microsoft.com/office/drawing/2014/main" id="{2466BAF5-52C5-4F04-90B5-561BD78B8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02" y="5465039"/>
            <a:ext cx="52437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Beispielaufruf</a:t>
            </a:r>
            <a:r>
              <a:rPr lang="de-DE" altLang="de-DE" sz="1600" dirty="0"/>
              <a:t>: </a:t>
            </a:r>
            <a:r>
              <a:rPr lang="de-DE" altLang="de-DE" sz="1600" dirty="0" err="1">
                <a:latin typeface="Courier New" panose="02070309020205020404" pitchFamily="49" charset="0"/>
              </a:rPr>
              <a:t>loeschenInListe</a:t>
            </a:r>
            <a:r>
              <a:rPr lang="de-DE" alt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(zahlenliste,2)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F13351F-6D43-4C27-8A73-8B5837BB131C}"/>
              </a:ext>
            </a:extLst>
          </p:cNvPr>
          <p:cNvSpPr txBox="1"/>
          <p:nvPr/>
        </p:nvSpPr>
        <p:spPr>
          <a:xfrm>
            <a:off x="191102" y="5858847"/>
            <a:ext cx="76345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Bemerkung: wenn die </a:t>
            </a:r>
            <a:r>
              <a:rPr lang="de-DE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  <a:r>
              <a:rPr 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 größer ist, als die Liste lang, passiert leider nichts. Das müsste man noch programmieren.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AD68FDD-D689-4986-B4A6-3BD5677F2E71}"/>
              </a:ext>
            </a:extLst>
          </p:cNvPr>
          <p:cNvSpPr txBox="1"/>
          <p:nvPr/>
        </p:nvSpPr>
        <p:spPr>
          <a:xfrm>
            <a:off x="166967" y="464681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Beispiel: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liennummernplatzhalter 3">
            <a:extLst>
              <a:ext uri="{FF2B5EF4-FFF2-40B4-BE49-F238E27FC236}">
                <a16:creationId xmlns:a16="http://schemas.microsoft.com/office/drawing/2014/main" id="{A762E360-FB02-4A53-94B1-41761835BA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CDAA01-6F76-4A0C-809C-F1677509F756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de-DE" altLang="de-DE" sz="14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D80DE872-B099-40C4-A918-2CF167566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2" y="109431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Liste: Beispiel für einen Test</a:t>
            </a:r>
          </a:p>
        </p:txBody>
      </p:sp>
      <p:sp>
        <p:nvSpPr>
          <p:cNvPr id="110596" name="Text Box 4">
            <a:extLst>
              <a:ext uri="{FF2B5EF4-FFF2-40B4-BE49-F238E27FC236}">
                <a16:creationId xmlns:a16="http://schemas.microsoft.com/office/drawing/2014/main" id="{0DC009B9-BA37-4AEE-BFF7-301A3B9F7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" y="668244"/>
            <a:ext cx="8372475" cy="461664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//Test: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//Ausgabe der ganzen Liste: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Einfuegen</a:t>
            </a:r>
            <a:r>
              <a:rPr lang="de-DE" altLang="de-DE" sz="1400" b="1" dirty="0">
                <a:latin typeface="Courier New" panose="02070309020205020404" pitchFamily="49" charset="0"/>
              </a:rPr>
              <a:t> von 2 nach dem 1.Listenelement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Einfuegen</a:t>
            </a:r>
            <a:r>
              <a:rPr lang="de-DE" altLang="de-DE" sz="1400" b="1" dirty="0">
                <a:latin typeface="Courier New" panose="02070309020205020404" pitchFamily="49" charset="0"/>
              </a:rPr>
              <a:t> von 17 nach dem 2.Listenelement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//17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Einfuegen</a:t>
            </a:r>
            <a:r>
              <a:rPr lang="de-DE" altLang="de-DE" sz="1400" b="1" dirty="0">
                <a:latin typeface="Courier New" panose="02070309020205020404" pitchFamily="49" charset="0"/>
              </a:rPr>
              <a:t> von 19 vor dem 2.Listenelement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//19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//17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</a:t>
            </a:r>
            <a:r>
              <a:rPr lang="de-DE" altLang="de-DE" sz="1400" b="1" dirty="0" err="1">
                <a:latin typeface="Courier New" panose="02070309020205020404" pitchFamily="49" charset="0"/>
              </a:rPr>
              <a:t>Loeschen</a:t>
            </a:r>
            <a:r>
              <a:rPr lang="de-DE" altLang="de-DE" sz="1400" b="1" dirty="0">
                <a:latin typeface="Courier New" panose="02070309020205020404" pitchFamily="49" charset="0"/>
              </a:rPr>
              <a:t> des 2.Elements: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</a:rPr>
              <a:t>//17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4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liennummernplatzhalter 3">
            <a:extLst>
              <a:ext uri="{FF2B5EF4-FFF2-40B4-BE49-F238E27FC236}">
                <a16:creationId xmlns:a16="http://schemas.microsoft.com/office/drawing/2014/main" id="{A762E360-FB02-4A53-94B1-41761835BA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CDAA01-6F76-4A0C-809C-F1677509F756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de-DE" altLang="de-DE" sz="14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D80DE872-B099-40C4-A918-2CF167566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2" y="34831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Liste: Beispiel für ein Hauptprogramm</a:t>
            </a:r>
          </a:p>
        </p:txBody>
      </p:sp>
      <p:sp>
        <p:nvSpPr>
          <p:cNvPr id="110596" name="Text Box 4">
            <a:extLst>
              <a:ext uri="{FF2B5EF4-FFF2-40B4-BE49-F238E27FC236}">
                <a16:creationId xmlns:a16="http://schemas.microsoft.com/office/drawing/2014/main" id="{0DC009B9-BA37-4AEE-BFF7-301A3B9F7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" y="589761"/>
            <a:ext cx="8372475" cy="58169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#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include</a:t>
            </a:r>
            <a:r>
              <a:rPr lang="de-DE" altLang="de-DE" sz="1200" b="1" dirty="0">
                <a:latin typeface="Courier New" panose="02070309020205020404" pitchFamily="49" charset="0"/>
              </a:rPr>
              <a:t>&lt;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stdlib.h</a:t>
            </a:r>
            <a:r>
              <a:rPr lang="de-DE" altLang="de-DE" sz="12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#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include</a:t>
            </a:r>
            <a:r>
              <a:rPr lang="de-DE" altLang="de-DE" sz="1200" b="1" dirty="0">
                <a:latin typeface="Courier New" panose="02070309020205020404" pitchFamily="49" charset="0"/>
              </a:rPr>
              <a:t>&lt;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stdio.h</a:t>
            </a:r>
            <a:r>
              <a:rPr lang="de-DE" altLang="de-DE" sz="12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//Definition der Liste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200" b="1" dirty="0">
                <a:latin typeface="Courier New" panose="02070309020205020404" pitchFamily="49" charset="0"/>
              </a:rPr>
              <a:t>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en-US" altLang="de-DE" sz="1200" b="1" dirty="0">
                <a:latin typeface="Courier New" panose="02070309020205020404" pitchFamily="49" charset="0"/>
              </a:rPr>
              <a:t> {</a:t>
            </a:r>
            <a:endParaRPr lang="en-US" alt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None/>
            </a:pPr>
            <a:r>
              <a:rPr lang="en-US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int wert;</a:t>
            </a:r>
          </a:p>
          <a:p>
            <a:pPr eaLnBrk="1" hangingPunct="1">
              <a:buNone/>
            </a:pPr>
            <a:r>
              <a:rPr lang="en-US" altLang="de-DE" sz="1200" b="1" dirty="0">
                <a:latin typeface="Courier New" panose="02070309020205020404" pitchFamily="49" charset="0"/>
              </a:rPr>
              <a:t>   struct 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Listenelement</a:t>
            </a:r>
            <a:r>
              <a:rPr lang="en-US" altLang="de-DE" sz="1200" b="1" dirty="0">
                <a:latin typeface="Courier New" panose="02070309020205020404" pitchFamily="49" charset="0"/>
              </a:rPr>
              <a:t> *</a:t>
            </a:r>
            <a:r>
              <a:rPr lang="en-US" altLang="de-DE" sz="1200" b="1" dirty="0" err="1">
                <a:latin typeface="Courier New" panose="02070309020205020404" pitchFamily="49" charset="0"/>
              </a:rPr>
              <a:t>nachfolger</a:t>
            </a:r>
            <a:r>
              <a:rPr lang="en-US" altLang="de-DE" sz="12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None/>
            </a:pPr>
            <a:r>
              <a:rPr lang="en-US" altLang="de-DE" sz="1200" b="1" dirty="0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buNone/>
            </a:pPr>
            <a:r>
              <a:rPr lang="en-US" altLang="de-DE" sz="1200" b="1" dirty="0">
                <a:latin typeface="Courier New" panose="02070309020205020404" pitchFamily="49" charset="0"/>
                <a:cs typeface="Calibri" panose="020F0502020204030204" pitchFamily="34" charset="0"/>
              </a:rPr>
              <a:t>//</a:t>
            </a:r>
            <a:r>
              <a:rPr lang="de-DE" altLang="de-DE" sz="1200" b="1" dirty="0">
                <a:latin typeface="Courier New" panose="02070309020205020404" pitchFamily="49" charset="0"/>
              </a:rPr>
              <a:t>Definition der Funktionen: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anlegenListe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einfuegenDavorInListe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loeschenInListe</a:t>
            </a:r>
            <a:r>
              <a:rPr lang="de-DE" altLang="de-DE" sz="1200" b="1" dirty="0">
                <a:latin typeface="Courier New" panose="02070309020205020404" pitchFamily="49" charset="0"/>
              </a:rPr>
              <a:t>,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ausgebenListe</a:t>
            </a:r>
            <a:endParaRPr lang="de-DE" altLang="de-DE" sz="1200" b="1" dirty="0">
              <a:latin typeface="Courier New" panose="02070309020205020404" pitchFamily="49" charset="0"/>
            </a:endParaRPr>
          </a:p>
          <a:p>
            <a:pPr eaLnBrk="1" hangingPunct="1">
              <a:buNone/>
            </a:pPr>
            <a:r>
              <a:rPr lang="de-DE" altLang="de-DE" sz="12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 err="1">
                <a:latin typeface="Courier New" panose="02070309020205020404" pitchFamily="49" charset="0"/>
              </a:rPr>
              <a:t>int</a:t>
            </a:r>
            <a:r>
              <a:rPr lang="de-DE" altLang="de-DE" sz="1200" b="1" dirty="0">
                <a:latin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main</a:t>
            </a:r>
            <a:r>
              <a:rPr lang="de-DE" altLang="de-DE" sz="1200" b="1" dirty="0">
                <a:latin typeface="Courier New" panose="02070309020205020404" pitchFamily="49" charset="0"/>
              </a:rPr>
              <a:t>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struct</a:t>
            </a:r>
            <a:r>
              <a:rPr lang="de-DE" altLang="de-DE" sz="1200" b="1" dirty="0">
                <a:latin typeface="Courier New" panose="02070309020205020404" pitchFamily="49" charset="0"/>
              </a:rPr>
              <a:t> Listenelement *zahlenliste;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2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//Erzeugen der Liste zahlenliste mit einem Listenelement;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zahlenliste = </a:t>
            </a:r>
            <a:r>
              <a:rPr lang="de-DE" altLang="de-DE" sz="1200" b="1" dirty="0" err="1">
                <a:solidFill>
                  <a:srgbClr val="FF00FF"/>
                </a:solidFill>
                <a:latin typeface="Courier New" panose="02070309020205020404" pitchFamily="49" charset="0"/>
              </a:rPr>
              <a:t>anlegenListe</a:t>
            </a:r>
            <a:r>
              <a:rPr lang="de-DE" altLang="de-DE" sz="1200" b="1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solidFill>
                  <a:srgbClr val="FF00FF"/>
                </a:solidFill>
                <a:latin typeface="Courier New" panose="02070309020205020404" pitchFamily="49" charset="0"/>
              </a:rPr>
              <a:t>ausgebenListe</a:t>
            </a:r>
            <a:r>
              <a:rPr lang="de-DE" altLang="de-DE" sz="1200" b="1" dirty="0">
                <a:latin typeface="Courier New" panose="02070309020205020404" pitchFamily="49" charset="0"/>
              </a:rPr>
              <a:t>(zahlenliste);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printf</a:t>
            </a:r>
            <a:r>
              <a:rPr lang="de-DE" altLang="de-DE" sz="1200" b="1" dirty="0">
                <a:latin typeface="Courier New" panose="02070309020205020404" pitchFamily="49" charset="0"/>
              </a:rPr>
              <a:t>("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Einfuegen</a:t>
            </a:r>
            <a:r>
              <a:rPr lang="de-DE" altLang="de-DE" sz="1200" b="1" dirty="0">
                <a:latin typeface="Courier New" panose="02070309020205020404" pitchFamily="49" charset="0"/>
              </a:rPr>
              <a:t> von 42 vor dem 1.Listenelement:\n");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solidFill>
                  <a:srgbClr val="FF00FF"/>
                </a:solidFill>
                <a:latin typeface="Courier New" panose="02070309020205020404" pitchFamily="49" charset="0"/>
              </a:rPr>
              <a:t>einfuegenDavorInListe</a:t>
            </a:r>
            <a:r>
              <a:rPr lang="de-DE" altLang="de-DE" sz="1200" b="1" dirty="0">
                <a:latin typeface="Courier New" panose="02070309020205020404" pitchFamily="49" charset="0"/>
              </a:rPr>
              <a:t>(zahlenliste,1,42);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ausgebenListe</a:t>
            </a:r>
            <a:r>
              <a:rPr lang="de-DE" altLang="de-DE" sz="1200" b="1" dirty="0">
                <a:latin typeface="Courier New" panose="02070309020205020404" pitchFamily="49" charset="0"/>
              </a:rPr>
              <a:t>(zahlenliste);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printf</a:t>
            </a:r>
            <a:r>
              <a:rPr lang="de-DE" altLang="de-DE" sz="1200" b="1" dirty="0">
                <a:latin typeface="Courier New" panose="02070309020205020404" pitchFamily="49" charset="0"/>
              </a:rPr>
              <a:t>("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Einfuegen</a:t>
            </a:r>
            <a:r>
              <a:rPr lang="de-DE" altLang="de-DE" sz="1200" b="1" dirty="0">
                <a:latin typeface="Courier New" panose="02070309020205020404" pitchFamily="49" charset="0"/>
              </a:rPr>
              <a:t> von 33 vor dem 1.Listenelement:\n");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solidFill>
                  <a:srgbClr val="FF00FF"/>
                </a:solidFill>
                <a:latin typeface="Courier New" panose="02070309020205020404" pitchFamily="49" charset="0"/>
              </a:rPr>
              <a:t>einfuegenDavorInListe</a:t>
            </a:r>
            <a:r>
              <a:rPr lang="de-DE" altLang="de-DE" sz="1200" b="1" dirty="0">
                <a:latin typeface="Courier New" panose="02070309020205020404" pitchFamily="49" charset="0"/>
              </a:rPr>
              <a:t>(zahlenliste,1,33);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ausgebenListe</a:t>
            </a:r>
            <a:r>
              <a:rPr lang="de-DE" altLang="de-DE" sz="1200" b="1" dirty="0">
                <a:latin typeface="Courier New" panose="02070309020205020404" pitchFamily="49" charset="0"/>
              </a:rPr>
              <a:t>(zahlenliste);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printf</a:t>
            </a:r>
            <a:r>
              <a:rPr lang="de-DE" altLang="de-DE" sz="1200" b="1" dirty="0">
                <a:latin typeface="Courier New" panose="02070309020205020404" pitchFamily="49" charset="0"/>
              </a:rPr>
              <a:t>("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Einfuegen</a:t>
            </a:r>
            <a:r>
              <a:rPr lang="de-DE" altLang="de-DE" sz="1200" b="1" dirty="0">
                <a:latin typeface="Courier New" panose="02070309020205020404" pitchFamily="49" charset="0"/>
              </a:rPr>
              <a:t> von 66 vor dem 2.Listenelement:\n");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solidFill>
                  <a:srgbClr val="FF00FF"/>
                </a:solidFill>
                <a:latin typeface="Courier New" panose="02070309020205020404" pitchFamily="49" charset="0"/>
              </a:rPr>
              <a:t>einfuegenDavorInListe</a:t>
            </a:r>
            <a:r>
              <a:rPr lang="de-DE" altLang="de-DE" sz="1200" b="1" dirty="0">
                <a:latin typeface="Courier New" panose="02070309020205020404" pitchFamily="49" charset="0"/>
              </a:rPr>
              <a:t>(zahlenliste,2,66);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ausgebenListe</a:t>
            </a:r>
            <a:r>
              <a:rPr lang="de-DE" altLang="de-DE" sz="1200" b="1" dirty="0">
                <a:latin typeface="Courier New" panose="02070309020205020404" pitchFamily="49" charset="0"/>
              </a:rPr>
              <a:t>(zahlenliste);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printf</a:t>
            </a:r>
            <a:r>
              <a:rPr lang="de-DE" altLang="de-DE" sz="1200" b="1" dirty="0">
                <a:latin typeface="Courier New" panose="02070309020205020404" pitchFamily="49" charset="0"/>
              </a:rPr>
              <a:t>("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Loeschen</a:t>
            </a:r>
            <a:r>
              <a:rPr lang="de-DE" altLang="de-DE" sz="1200" b="1" dirty="0">
                <a:latin typeface="Courier New" panose="02070309020205020404" pitchFamily="49" charset="0"/>
              </a:rPr>
              <a:t> des 3.Elements:\n");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solidFill>
                  <a:srgbClr val="FF00FF"/>
                </a:solidFill>
                <a:latin typeface="Courier New" panose="02070309020205020404" pitchFamily="49" charset="0"/>
              </a:rPr>
              <a:t>loeschenInListe</a:t>
            </a:r>
            <a:r>
              <a:rPr lang="de-DE" altLang="de-DE" sz="1200" b="1" dirty="0">
                <a:latin typeface="Courier New" panose="02070309020205020404" pitchFamily="49" charset="0"/>
              </a:rPr>
              <a:t>(zahlenliste,3);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ausgebenListe</a:t>
            </a:r>
            <a:r>
              <a:rPr lang="de-DE" altLang="de-DE" sz="1200" b="1" dirty="0">
                <a:latin typeface="Courier New" panose="02070309020205020404" pitchFamily="49" charset="0"/>
              </a:rPr>
              <a:t>(zahlenliste);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   </a:t>
            </a:r>
            <a:r>
              <a:rPr lang="de-DE" altLang="de-DE" sz="1200" b="1" dirty="0" err="1">
                <a:latin typeface="Courier New" panose="02070309020205020404" pitchFamily="49" charset="0"/>
              </a:rPr>
              <a:t>return</a:t>
            </a:r>
            <a:r>
              <a:rPr lang="de-DE" altLang="de-DE" sz="1200" b="1" dirty="0">
                <a:latin typeface="Courier New" panose="02070309020205020404" pitchFamily="49" charset="0"/>
              </a:rPr>
              <a:t>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 b="1" dirty="0">
                <a:latin typeface="Courier New" panose="02070309020205020404" pitchFamily="49" charset="0"/>
              </a:rPr>
              <a:t>}</a:t>
            </a:r>
            <a:endParaRPr lang="de-DE" altLang="de-DE" sz="1050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0000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liennummernplatzhalter 3">
            <a:extLst>
              <a:ext uri="{FF2B5EF4-FFF2-40B4-BE49-F238E27FC236}">
                <a16:creationId xmlns:a16="http://schemas.microsoft.com/office/drawing/2014/main" id="{3457F83A-F07B-4E50-BF9E-9247E49824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F8283C-1E55-4309-A958-D22B24FCBB8C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de-DE" altLang="de-DE" sz="1400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8C71066B-98A5-49F5-84A5-8F19A2163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1"/>
            <a:ext cx="8229600" cy="802906"/>
          </a:xfrm>
          <a:solidFill>
            <a:srgbClr val="FFC000"/>
          </a:solidFill>
        </p:spPr>
        <p:txBody>
          <a:bodyPr/>
          <a:lstStyle/>
          <a:p>
            <a:pPr eaLnBrk="1" hangingPunct="1"/>
            <a:r>
              <a:rPr lang="de-DE" altLang="de-DE" sz="3600"/>
              <a:t>Liste: </a:t>
            </a:r>
            <a:r>
              <a:rPr lang="de-DE" altLang="de-DE" sz="3600" dirty="0"/>
              <a:t>Übung</a:t>
            </a:r>
          </a:p>
        </p:txBody>
      </p:sp>
      <p:sp>
        <p:nvSpPr>
          <p:cNvPr id="112644" name="Text Box 4">
            <a:extLst>
              <a:ext uri="{FF2B5EF4-FFF2-40B4-BE49-F238E27FC236}">
                <a16:creationId xmlns:a16="http://schemas.microsoft.com/office/drawing/2014/main" id="{CC061B18-031E-4BE3-827D-9EA76B88B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1935163"/>
            <a:ext cx="8372475" cy="338554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Wählen Sie eine Funktion (anlegen, ausdrucken, löschen, einfügen) aus und passen Sie diese an folgende Struktur an: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Personendaten{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vorname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alter;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Studierendenliste{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matrikelnummer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studienfach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[3];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Personendaten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Studierendenliste *</a:t>
            </a:r>
            <a:r>
              <a:rPr lang="de-DE" alt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nextstudierender</a:t>
            </a: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168690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liennummernplatzhalter 3">
            <a:extLst>
              <a:ext uri="{FF2B5EF4-FFF2-40B4-BE49-F238E27FC236}">
                <a16:creationId xmlns:a16="http://schemas.microsoft.com/office/drawing/2014/main" id="{3457F83A-F07B-4E50-BF9E-9247E49824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F8283C-1E55-4309-A958-D22B24FCBB8C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de-DE" altLang="de-DE" sz="1400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8C71066B-98A5-49F5-84A5-8F19A2163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1"/>
            <a:ext cx="8229600" cy="802906"/>
          </a:xfrm>
          <a:solidFill>
            <a:srgbClr val="FFC000"/>
          </a:solidFill>
        </p:spPr>
        <p:txBody>
          <a:bodyPr/>
          <a:lstStyle/>
          <a:p>
            <a:pPr eaLnBrk="1" hangingPunct="1"/>
            <a:r>
              <a:rPr lang="de-DE" altLang="de-DE" sz="3600" dirty="0"/>
              <a:t>Liste: Übung</a:t>
            </a:r>
          </a:p>
        </p:txBody>
      </p:sp>
      <p:sp>
        <p:nvSpPr>
          <p:cNvPr id="112644" name="Text Box 4">
            <a:extLst>
              <a:ext uri="{FF2B5EF4-FFF2-40B4-BE49-F238E27FC236}">
                <a16:creationId xmlns:a16="http://schemas.microsoft.com/office/drawing/2014/main" id="{CC061B18-031E-4BE3-827D-9EA76B88B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1935163"/>
            <a:ext cx="8372475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Wie könnte eine doppelt verkettete Liste aussehen?</a:t>
            </a:r>
            <a:endParaRPr lang="de-DE" altLang="de-D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Foliennummernplatzhalter 3">
            <a:extLst>
              <a:ext uri="{FF2B5EF4-FFF2-40B4-BE49-F238E27FC236}">
                <a16:creationId xmlns:a16="http://schemas.microsoft.com/office/drawing/2014/main" id="{606626E4-A6A1-4D39-82FA-CAF9865304D8}"/>
              </a:ext>
            </a:extLst>
          </p:cNvPr>
          <p:cNvSpPr txBox="1">
            <a:spLocks noGrp="1"/>
          </p:cNvSpPr>
          <p:nvPr/>
        </p:nvSpPr>
        <p:spPr bwMode="auto">
          <a:xfrm>
            <a:off x="6659563" y="6210300"/>
            <a:ext cx="20018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D857483-7673-48D9-AA7C-CC9D8129434A}" type="slidenum">
              <a:rPr lang="de-DE" altLang="de-DE" sz="1400"/>
              <a:pPr algn="r" eaLnBrk="1" hangingPunct="1">
                <a:spcBef>
                  <a:spcPct val="0"/>
                </a:spcBef>
                <a:buFontTx/>
                <a:buNone/>
              </a:pPr>
              <a:t>64</a:t>
            </a:fld>
            <a:endParaRPr lang="de-DE" altLang="de-DE" sz="140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38569CF6-56AF-4E75-90D2-404C6B9A88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solidFill>
            <a:srgbClr val="FFC000"/>
          </a:solidFill>
        </p:spPr>
        <p:txBody>
          <a:bodyPr/>
          <a:lstStyle/>
          <a:p>
            <a:pPr eaLnBrk="1" hangingPunct="1"/>
            <a:r>
              <a:rPr lang="de-DE" altLang="de-DE" sz="3600"/>
              <a:t>Liste: </a:t>
            </a:r>
            <a:r>
              <a:rPr lang="de-DE" altLang="de-DE" sz="3600" dirty="0"/>
              <a:t>Übung</a:t>
            </a:r>
          </a:p>
        </p:txBody>
      </p:sp>
      <p:sp>
        <p:nvSpPr>
          <p:cNvPr id="116740" name="Text Box 4">
            <a:extLst>
              <a:ext uri="{FF2B5EF4-FFF2-40B4-BE49-F238E27FC236}">
                <a16:creationId xmlns:a16="http://schemas.microsoft.com/office/drawing/2014/main" id="{71825AA8-8D14-4D5D-BF52-8F01A7B7B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2" y="1824177"/>
            <a:ext cx="8486775" cy="25860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 err="1">
                <a:latin typeface="Courier New" panose="02070309020205020404" pitchFamily="49" charset="0"/>
              </a:rPr>
              <a:t>void</a:t>
            </a:r>
            <a:r>
              <a:rPr lang="de-DE" altLang="de-DE" sz="1800" b="1" dirty="0">
                <a:latin typeface="Courier New" panose="02070309020205020404" pitchFamily="49" charset="0"/>
              </a:rPr>
              <a:t>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ausgebenVorletztesElement</a:t>
            </a:r>
            <a:r>
              <a:rPr lang="de-DE" altLang="de-DE" sz="1800" b="1" dirty="0">
                <a:latin typeface="Courier New" panose="02070309020205020404" pitchFamily="49" charset="0"/>
              </a:rPr>
              <a:t>(Liste *liste){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while</a:t>
            </a:r>
            <a:r>
              <a:rPr lang="de-DE" altLang="de-DE" sz="1800" b="1" dirty="0">
                <a:latin typeface="Courier New" panose="02070309020205020404" pitchFamily="49" charset="0"/>
              </a:rPr>
              <a:t>(liste !=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 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if</a:t>
            </a:r>
            <a:r>
              <a:rPr lang="de-DE" altLang="de-DE" sz="1800" b="1" dirty="0">
                <a:latin typeface="Courier New" panose="02070309020205020404" pitchFamily="49" charset="0"/>
              </a:rPr>
              <a:t>(liste -&gt;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800" b="1" dirty="0">
                <a:latin typeface="Courier New" panose="02070309020205020404" pitchFamily="49" charset="0"/>
              </a:rPr>
              <a:t> -&gt; 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800" b="1" dirty="0">
                <a:latin typeface="Courier New" panose="02070309020205020404" pitchFamily="49" charset="0"/>
              </a:rPr>
              <a:t> == NULL){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     </a:t>
            </a:r>
            <a:r>
              <a:rPr lang="de-DE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de-DE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("vorletztes Element: %i \</a:t>
            </a:r>
            <a:r>
              <a:rPr lang="de-DE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n",liste</a:t>
            </a:r>
            <a:r>
              <a:rPr lang="de-DE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-&gt;wert);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   liste = liste-&gt;</a:t>
            </a:r>
            <a:r>
              <a:rPr lang="de-DE" altLang="de-DE" sz="1800" b="1" dirty="0" err="1">
                <a:latin typeface="Courier New" panose="02070309020205020404" pitchFamily="49" charset="0"/>
              </a:rPr>
              <a:t>nachfolger</a:t>
            </a:r>
            <a:r>
              <a:rPr lang="de-DE" altLang="de-DE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8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altLang="de-DE" sz="1800" b="1" dirty="0">
              <a:latin typeface="Courier New" panose="02070309020205020404" pitchFamily="49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13BD58C-EEE4-4766-8B66-A28F4D0BE737}"/>
              </a:ext>
            </a:extLst>
          </p:cNvPr>
          <p:cNvSpPr txBox="1"/>
          <p:nvPr/>
        </p:nvSpPr>
        <p:spPr>
          <a:xfrm>
            <a:off x="372140" y="1158915"/>
            <a:ext cx="2517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Wo liegt das Problem?</a:t>
            </a:r>
            <a:endParaRPr 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Foliennummernplatzhalter 3">
            <a:extLst>
              <a:ext uri="{FF2B5EF4-FFF2-40B4-BE49-F238E27FC236}">
                <a16:creationId xmlns:a16="http://schemas.microsoft.com/office/drawing/2014/main" id="{39614764-F70D-41CC-ABC0-7522EADC27FB}"/>
              </a:ext>
            </a:extLst>
          </p:cNvPr>
          <p:cNvSpPr txBox="1">
            <a:spLocks noGrp="1"/>
          </p:cNvSpPr>
          <p:nvPr/>
        </p:nvSpPr>
        <p:spPr bwMode="auto">
          <a:xfrm>
            <a:off x="6659563" y="6210300"/>
            <a:ext cx="20018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B313158-0C12-4CBD-A3BA-3CB98AC05BF5}" type="slidenum">
              <a:rPr lang="de-DE" altLang="de-DE" sz="1400"/>
              <a:pPr algn="r" eaLnBrk="1" hangingPunct="1">
                <a:spcBef>
                  <a:spcPct val="0"/>
                </a:spcBef>
                <a:buFontTx/>
                <a:buNone/>
              </a:pPr>
              <a:t>65</a:t>
            </a:fld>
            <a:endParaRPr lang="de-DE" altLang="de-DE" sz="1400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D69CB454-E6F8-47C5-A949-325A41B666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2750" y="485775"/>
            <a:ext cx="8229600" cy="633413"/>
          </a:xfrm>
        </p:spPr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: Wichtig</a:t>
            </a:r>
          </a:p>
        </p:txBody>
      </p:sp>
      <p:sp>
        <p:nvSpPr>
          <p:cNvPr id="118788" name="Text Box 4">
            <a:extLst>
              <a:ext uri="{FF2B5EF4-FFF2-40B4-BE49-F238E27FC236}">
                <a16:creationId xmlns:a16="http://schemas.microsoft.com/office/drawing/2014/main" id="{B7A7E660-D759-4F86-BEB7-D51CAE938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51000"/>
            <a:ext cx="8486775" cy="264687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ct val="0"/>
              </a:spcBef>
              <a:defRPr/>
            </a:pP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Man weiß nie, wie lang </a:t>
            </a:r>
            <a:r>
              <a:rPr lang="de-DE" altLang="de-DE" sz="2000">
                <a:latin typeface="Calibri" panose="020F0502020204030204" pitchFamily="34" charset="0"/>
                <a:cs typeface="Calibri" panose="020F0502020204030204" pitchFamily="34" charset="0"/>
              </a:rPr>
              <a:t>eine Liste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ist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deshalb i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mmer mit </a:t>
            </a:r>
            <a:r>
              <a:rPr lang="de-DE" alt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altLang="de-DE" sz="2000" b="1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Schleife und Test auf Ende (NULL) programmieren</a:t>
            </a:r>
          </a:p>
          <a:p>
            <a:pPr>
              <a:defRPr/>
            </a:pPr>
            <a:r>
              <a:rPr 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  wie immer: wenn Zeiger benutzt werden, dürfen diese nicht auf unerlaubten   </a:t>
            </a:r>
            <a:br>
              <a:rPr lang="de-D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    Speicherplatz zeigen</a:t>
            </a:r>
          </a:p>
          <a:p>
            <a:pPr>
              <a:defRPr/>
            </a:pPr>
            <a:r>
              <a:rPr lang="de-DE" sz="2000">
                <a:latin typeface="Calibri" panose="020F0502020204030204" pitchFamily="34" charset="0"/>
                <a:cs typeface="Calibri" panose="020F0502020204030204" pitchFamily="34" charset="0"/>
              </a:rPr>
              <a:t>  Listen </a:t>
            </a:r>
            <a:r>
              <a:rPr 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liegen nicht unbedingt hinter einander im Speicher, in der Regel nicht. Die </a:t>
            </a:r>
            <a:r>
              <a:rPr lang="de-DE" sz="2000">
                <a:latin typeface="Calibri" panose="020F0502020204030204" pitchFamily="34" charset="0"/>
                <a:cs typeface="Calibri" panose="020F0502020204030204" pitchFamily="34" charset="0"/>
              </a:rPr>
              <a:t>einzelnen Listenelemente </a:t>
            </a:r>
            <a:r>
              <a:rPr 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sind als quer über den ganzen Speicher des Rechners verteilt. </a:t>
            </a:r>
          </a:p>
          <a:p>
            <a:pPr marL="285750" indent="-285750" eaLnBrk="1" hangingPunct="1">
              <a:spcBef>
                <a:spcPct val="0"/>
              </a:spcBef>
              <a:defRPr/>
            </a:pPr>
            <a:endParaRPr lang="de-DE" altLang="de-DE" sz="180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20837" name="Textfeld 1">
            <a:extLst>
              <a:ext uri="{FF2B5EF4-FFF2-40B4-BE49-F238E27FC236}">
                <a16:creationId xmlns:a16="http://schemas.microsoft.com/office/drawing/2014/main" id="{F4E1FE3F-627F-41C2-B4A6-070CA63EB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5743575"/>
            <a:ext cx="16081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de-DE" sz="1400"/>
              <a:t>Siehe Liste_</a:t>
            </a:r>
            <a:r>
              <a:rPr lang="de-DE" altLang="de-DE" sz="1400" dirty="0" err="1"/>
              <a:t>neu.c</a:t>
            </a:r>
            <a:endParaRPr lang="de-DE" altLang="de-DE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Foliennummernplatzhalter 3">
            <a:extLst>
              <a:ext uri="{FF2B5EF4-FFF2-40B4-BE49-F238E27FC236}">
                <a16:creationId xmlns:a16="http://schemas.microsoft.com/office/drawing/2014/main" id="{BF6D283C-17A3-4CF0-9514-8059E787F9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A76CD6-4A94-4A2B-8AE8-E6091C3FE553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de-DE" altLang="de-DE" sz="1400"/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63648FE9-877A-43F8-8349-EF4883959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>
                <a:latin typeface="Calibri" panose="020F0502020204030204" pitchFamily="34" charset="0"/>
                <a:cs typeface="Calibri" panose="020F0502020204030204" pitchFamily="34" charset="0"/>
              </a:rPr>
              <a:t>Listen </a:t>
            </a:r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und Felder: Unterschied</a:t>
            </a:r>
          </a:p>
        </p:txBody>
      </p:sp>
      <p:graphicFrame>
        <p:nvGraphicFramePr>
          <p:cNvPr id="51250" name="Group 50">
            <a:extLst>
              <a:ext uri="{FF2B5EF4-FFF2-40B4-BE49-F238E27FC236}">
                <a16:creationId xmlns:a16="http://schemas.microsoft.com/office/drawing/2014/main" id="{0E2FE4E5-657D-44CC-9E8F-A3E8D3D90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613093"/>
              </p:ext>
            </p:extLst>
          </p:nvPr>
        </p:nvGraphicFramePr>
        <p:xfrm>
          <a:off x="400594" y="1058863"/>
          <a:ext cx="8305256" cy="4179847"/>
        </p:xfrm>
        <a:graphic>
          <a:graphicData uri="http://schemas.openxmlformats.org/drawingml/2006/table">
            <a:tbl>
              <a:tblPr/>
              <a:tblGrid>
                <a:gridCol w="2788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Felder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Listen</a:t>
                      </a:r>
                      <a:endParaRPr kumimoji="0" lang="de-DE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Flexibilität des Speichers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statisch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dynamisch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Art der Speicherbelegung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zusammenhängend </a:t>
                      </a: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(auf dem Stack)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nicht notwendig zusammenhängend </a:t>
                      </a:r>
                      <a:r>
                        <a:rPr kumimoji="0" lang="de-DE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(finden dadurch eher Platz im Speicher, speziell Heap)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6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Zugriffszeit auf das i-te Element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konstant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Erreichbar nur durch Durchlauf der </a:t>
                      </a: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ganzen Liste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Löschen und Einfügen eines Elements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aufwändig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einfach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2914" name="Grafik 1">
            <a:extLst>
              <a:ext uri="{FF2B5EF4-FFF2-40B4-BE49-F238E27FC236}">
                <a16:creationId xmlns:a16="http://schemas.microsoft.com/office/drawing/2014/main" id="{D28171EE-68C0-4E9A-97A9-20D81A92A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776" y="1721531"/>
            <a:ext cx="1001712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5" name="Grafik 1">
            <a:extLst>
              <a:ext uri="{FF2B5EF4-FFF2-40B4-BE49-F238E27FC236}">
                <a16:creationId xmlns:a16="http://schemas.microsoft.com/office/drawing/2014/main" id="{DA1DDB7A-3211-4ED1-9570-6FC392409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08990"/>
            <a:ext cx="10398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6" name="Grafik 1">
            <a:extLst>
              <a:ext uri="{FF2B5EF4-FFF2-40B4-BE49-F238E27FC236}">
                <a16:creationId xmlns:a16="http://schemas.microsoft.com/office/drawing/2014/main" id="{74BB2AB0-051B-4833-A9F3-D515C1FE95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481" y="4572908"/>
            <a:ext cx="96202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Foliennummernplatzhalter 3">
            <a:extLst>
              <a:ext uri="{FF2B5EF4-FFF2-40B4-BE49-F238E27FC236}">
                <a16:creationId xmlns:a16="http://schemas.microsoft.com/office/drawing/2014/main" id="{2BBC37DE-3FD6-4C1F-941C-8E47CAE4C4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2CA85E-E8A2-45EA-B4A4-78E91E489A76}" type="slidenum">
              <a:rPr lang="de-DE" altLang="de-DE" sz="1400" smtClean="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de-DE" altLang="de-DE" sz="1400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477833C2-75B0-488B-BFDD-6B5D4A0A3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3600" dirty="0">
                <a:latin typeface="Calibri" panose="020F0502020204030204" pitchFamily="34" charset="0"/>
                <a:cs typeface="Calibri" panose="020F0502020204030204" pitchFamily="34" charset="0"/>
              </a:rPr>
              <a:t>Literatur:</a:t>
            </a:r>
          </a:p>
        </p:txBody>
      </p:sp>
      <p:sp>
        <p:nvSpPr>
          <p:cNvPr id="124932" name="Text Box 33">
            <a:extLst>
              <a:ext uri="{FF2B5EF4-FFF2-40B4-BE49-F238E27FC236}">
                <a16:creationId xmlns:a16="http://schemas.microsoft.com/office/drawing/2014/main" id="{7B35196D-840F-41BE-9CDD-C1791ACE5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1463675"/>
            <a:ext cx="6315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de-DE" altLang="de-DE" sz="1800"/>
              <a:t> Jürgen Wolf: „C-Programmierung“, Markt + Technik Verlag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5187</Words>
  <Application>Microsoft Office PowerPoint</Application>
  <PresentationFormat>Bildschirmpräsentation (4:3)</PresentationFormat>
  <Paragraphs>1003</Paragraphs>
  <Slides>67</Slides>
  <Notes>67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67</vt:i4>
      </vt:variant>
    </vt:vector>
  </HeadingPairs>
  <TitlesOfParts>
    <vt:vector size="76" baseType="lpstr">
      <vt:lpstr>Arial</vt:lpstr>
      <vt:lpstr>Arial Unicode MS</vt:lpstr>
      <vt:lpstr>Calibri</vt:lpstr>
      <vt:lpstr>Courier New</vt:lpstr>
      <vt:lpstr>Frutiger 45 Light</vt:lpstr>
      <vt:lpstr>Roboto</vt:lpstr>
      <vt:lpstr>Times New Roman</vt:lpstr>
      <vt:lpstr>Wingdings</vt:lpstr>
      <vt:lpstr>Standarddesign</vt:lpstr>
      <vt:lpstr>Informatik II</vt:lpstr>
      <vt:lpstr>Ungeplante Software ist ein Zufallsprodukt.</vt:lpstr>
      <vt:lpstr>Das Marie Kondo Prinzip</vt:lpstr>
      <vt:lpstr>Informatik: 2 Semester für Ingenieure </vt:lpstr>
      <vt:lpstr>Design der Folien</vt:lpstr>
      <vt:lpstr>PowerPoint-Präsentation</vt:lpstr>
      <vt:lpstr>PowerPoint-Präsentation</vt:lpstr>
      <vt:lpstr>Speicher und Listen: Motivation</vt:lpstr>
      <vt:lpstr>Dynamischer Speicher: Motivation</vt:lpstr>
      <vt:lpstr>Dynamischen Speicher: Hauptproblem</vt:lpstr>
      <vt:lpstr>PowerPoint-Präsentation</vt:lpstr>
      <vt:lpstr>Dynamischer Speicher: Anfordern</vt:lpstr>
      <vt:lpstr>Dynamischer Speicher: Beispiel - Feld</vt:lpstr>
      <vt:lpstr>Speicher anfordern, noch besser</vt:lpstr>
      <vt:lpstr>Speichergröße verändern</vt:lpstr>
      <vt:lpstr>Dynamischen Speicher wieder freigeben</vt:lpstr>
      <vt:lpstr>Dynamischer Speicher: Feld (eindimensional)</vt:lpstr>
      <vt:lpstr>Dynamischer Speicher: Feld (2-dim.)</vt:lpstr>
      <vt:lpstr>Dynamischer Speicher: Flexible Eingabe</vt:lpstr>
      <vt:lpstr>Extrapunkte für Klausur: Beispiel aus dem täglichen Leben für flexible Eingabe</vt:lpstr>
      <vt:lpstr>Achtung: Dynamischer Speicher: Freigeben Fehlerquelle</vt:lpstr>
      <vt:lpstr>Dynamischer Speicher: Übung</vt:lpstr>
      <vt:lpstr>Bemerkungen: Speichermüllbeseitigung</vt:lpstr>
      <vt:lpstr>Dynamische Speicheranforderung</vt:lpstr>
      <vt:lpstr>Speicheranforderung</vt:lpstr>
      <vt:lpstr>PowerPoint-Präsentation</vt:lpstr>
      <vt:lpstr>Listen: Motivationsbeispiele</vt:lpstr>
      <vt:lpstr>Listen: Motivation – Felder können zu wenig</vt:lpstr>
      <vt:lpstr>Listen: Warum und wofür</vt:lpstr>
      <vt:lpstr>Listen: Begriffe und Beispiel</vt:lpstr>
      <vt:lpstr>Listen: Bestandteile – Datenteil und Nachfolger</vt:lpstr>
      <vt:lpstr>Listen: Definition eines Listenelementes</vt:lpstr>
      <vt:lpstr>Listen: Beispiel - Definition der Datenstruktur</vt:lpstr>
      <vt:lpstr>Liste: Funktionsbeispiele für die Arbeit mit Listen – Teil 1</vt:lpstr>
      <vt:lpstr>Liste: Funktionsbeispiele für Listen – Teil 2</vt:lpstr>
      <vt:lpstr>Liste: Funktionsbeispiele für Listen – Teil 3</vt:lpstr>
      <vt:lpstr>Liste: Beispiel – Funktion fürs Anlegen einer Liste</vt:lpstr>
      <vt:lpstr>Liste: Anlegen – Speicher für Elemente anfordern </vt:lpstr>
      <vt:lpstr>Liste: Anlegen – Datenteile der Elemente füllen</vt:lpstr>
      <vt:lpstr>Liste: Anlegen – Aneinanderketten der Elemente</vt:lpstr>
      <vt:lpstr>Liste: Anlegen - Ende festlegen</vt:lpstr>
      <vt:lpstr>Liste: Anlegen – Funktionsrückgabe: Adresse, wo die Liste beginnt</vt:lpstr>
      <vt:lpstr>Liste: Ausgabe einer Liste</vt:lpstr>
      <vt:lpstr>Liste: Ausgabe einer Liste</vt:lpstr>
      <vt:lpstr>Liste: Ausgabe - in der Liste voranschreiten</vt:lpstr>
      <vt:lpstr>Liste: Einfügen eines Elements in eine Liste nach einem anderen Element </vt:lpstr>
      <vt:lpstr>Liste: Einfügen (danach) - Speicher anfordern</vt:lpstr>
      <vt:lpstr>Liste: Einfügen (danach) - Datenteil füllen</vt:lpstr>
      <vt:lpstr>Liste: Einfügen (danach) - Zeiger auf Nachfolger</vt:lpstr>
      <vt:lpstr>Liste: Einfügen (danach) - Setzen des neuen Nachfolgers</vt:lpstr>
      <vt:lpstr>Liste: Einfügen eines Elements in eine Liste vor ein anderes Element </vt:lpstr>
      <vt:lpstr>Liste: Einfügen (davor) - Speicher anfordern</vt:lpstr>
      <vt:lpstr>Liste: Einfügen (davor) - Datenteil füllen</vt:lpstr>
      <vt:lpstr>Liste: Einfügen (davor)  - Zeiger auf Nachfolger</vt:lpstr>
      <vt:lpstr>Liste: Einfügen (davor) - Setzen des neuen Nachfolgers</vt:lpstr>
      <vt:lpstr>Liste: Funktion fürs Löschen eines Listenelements</vt:lpstr>
      <vt:lpstr>Liste: Löschen - Suche nach dem Listenelement</vt:lpstr>
      <vt:lpstr>Liste: Löschen - Überspringen des Elements</vt:lpstr>
      <vt:lpstr>Liste: Löschen - Freigabe des Speichers</vt:lpstr>
      <vt:lpstr>Liste: Beispiel für einen Test</vt:lpstr>
      <vt:lpstr>Liste: Beispiel für ein Hauptprogramm</vt:lpstr>
      <vt:lpstr>Liste: Übung</vt:lpstr>
      <vt:lpstr>Liste: Übung</vt:lpstr>
      <vt:lpstr>Liste: Übung</vt:lpstr>
      <vt:lpstr>Listen: Wichtig</vt:lpstr>
      <vt:lpstr>Listen und Felder: Unterschied</vt:lpstr>
      <vt:lpstr>Literatur:</vt:lpstr>
    </vt:vector>
  </TitlesOfParts>
  <Company>FH Bonn-Rhein-Sieg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mlob3m</dc:creator>
  <cp:lastModifiedBy>Irene</cp:lastModifiedBy>
  <cp:revision>675</cp:revision>
  <dcterms:created xsi:type="dcterms:W3CDTF">2006-10-02T14:27:44Z</dcterms:created>
  <dcterms:modified xsi:type="dcterms:W3CDTF">2025-07-03T07:29:07Z</dcterms:modified>
</cp:coreProperties>
</file>